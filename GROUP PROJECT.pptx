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Bicubik" charset="1" panose="02000503020000020004"/>
      <p:regular r:id="rId19"/>
    </p:embeddedFont>
    <p:embeddedFont>
      <p:font typeface="Space Mono Bold" charset="1" panose="02000809030000020004"/>
      <p:regular r:id="rId20"/>
    </p:embeddedFont>
    <p:embeddedFont>
      <p:font typeface="Space Mono" charset="1" panose="02000509040000020004"/>
      <p:regular r:id="rId21"/>
    </p:embeddedFont>
    <p:embeddedFont>
      <p:font typeface="Glacial Indifference Bold" charset="1" panose="00000800000000000000"/>
      <p:regular r:id="rId22"/>
    </p:embeddedFont>
    <p:embeddedFont>
      <p:font typeface="Canva Sans Bold" charset="1" panose="020B0803030501040103"/>
      <p:regular r:id="rId23"/>
    </p:embeddedFont>
    <p:embeddedFont>
      <p:font typeface="Space Mono Italics" charset="1" panose="02000509090000090004"/>
      <p:regular r:id="rId24"/>
    </p:embeddedFont>
    <p:embeddedFont>
      <p:font typeface="Space Mono Bold Italics" charset="1" panose="020008090400000900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4.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4.pn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4.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1694792" y="7352582"/>
            <a:ext cx="7386033" cy="543609"/>
            <a:chOff x="0" y="0"/>
            <a:chExt cx="4676970" cy="344223"/>
          </a:xfrm>
        </p:grpSpPr>
        <p:sp>
          <p:nvSpPr>
            <p:cNvPr name="Freeform 5" id="5"/>
            <p:cNvSpPr/>
            <p:nvPr/>
          </p:nvSpPr>
          <p:spPr>
            <a:xfrm flipH="false" flipV="false" rot="0">
              <a:off x="0" y="0"/>
              <a:ext cx="4676970" cy="344223"/>
            </a:xfrm>
            <a:custGeom>
              <a:avLst/>
              <a:gdLst/>
              <a:ahLst/>
              <a:cxnLst/>
              <a:rect r="r" b="b" t="t" l="l"/>
              <a:pathLst>
                <a:path h="344223" w="4676970">
                  <a:moveTo>
                    <a:pt x="4676970" y="172112"/>
                  </a:moveTo>
                  <a:lnTo>
                    <a:pt x="4473770" y="344223"/>
                  </a:lnTo>
                  <a:lnTo>
                    <a:pt x="203200" y="344223"/>
                  </a:lnTo>
                  <a:lnTo>
                    <a:pt x="0" y="172112"/>
                  </a:lnTo>
                  <a:lnTo>
                    <a:pt x="203200" y="0"/>
                  </a:lnTo>
                  <a:lnTo>
                    <a:pt x="4473770" y="0"/>
                  </a:lnTo>
                  <a:lnTo>
                    <a:pt x="4676970" y="172112"/>
                  </a:lnTo>
                  <a:close/>
                </a:path>
              </a:pathLst>
            </a:custGeom>
            <a:ln w="9525" cap="sq">
              <a:solidFill>
                <a:srgbClr val="FFDE59"/>
              </a:solidFill>
              <a:prstDash val="solid"/>
              <a:miter/>
            </a:ln>
          </p:spPr>
        </p:sp>
        <p:sp>
          <p:nvSpPr>
            <p:cNvPr name="TextBox 6" id="6"/>
            <p:cNvSpPr txBox="true"/>
            <p:nvPr/>
          </p:nvSpPr>
          <p:spPr>
            <a:xfrm>
              <a:off x="114300" y="9525"/>
              <a:ext cx="4448370" cy="334698"/>
            </a:xfrm>
            <a:prstGeom prst="rect">
              <a:avLst/>
            </a:prstGeom>
          </p:spPr>
          <p:txBody>
            <a:bodyPr anchor="ctr" rtlCol="false" tIns="50800" lIns="50800" bIns="50800" rIns="50800"/>
            <a:lstStyle/>
            <a:p>
              <a:pPr algn="ctr">
                <a:lnSpc>
                  <a:spcPts val="1760"/>
                </a:lnSpc>
              </a:pPr>
            </a:p>
          </p:txBody>
        </p:sp>
      </p:grpSp>
      <p:sp>
        <p:nvSpPr>
          <p:cNvPr name="Freeform 7" id="7"/>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5"/>
            <a:stretch>
              <a:fillRect l="0" t="0" r="0" b="0"/>
            </a:stretch>
          </a:blipFill>
        </p:spPr>
      </p:sp>
      <p:sp>
        <p:nvSpPr>
          <p:cNvPr name="TextBox 8" id="8"/>
          <p:cNvSpPr txBox="true"/>
          <p:nvPr/>
        </p:nvSpPr>
        <p:spPr>
          <a:xfrm rot="0">
            <a:off x="19050" y="3110652"/>
            <a:ext cx="18288000" cy="2153841"/>
          </a:xfrm>
          <a:prstGeom prst="rect">
            <a:avLst/>
          </a:prstGeom>
        </p:spPr>
        <p:txBody>
          <a:bodyPr anchor="t" rtlCol="false" tIns="0" lIns="0" bIns="0" rIns="0">
            <a:spAutoFit/>
          </a:bodyPr>
          <a:lstStyle/>
          <a:p>
            <a:pPr algn="ctr">
              <a:lnSpc>
                <a:spcPts val="17483"/>
              </a:lnSpc>
              <a:spcBef>
                <a:spcPct val="0"/>
              </a:spcBef>
            </a:pPr>
            <a:r>
              <a:rPr lang="en-US" sz="12487">
                <a:solidFill>
                  <a:srgbClr val="FFDE59"/>
                </a:solidFill>
                <a:latin typeface="Bicubik"/>
                <a:ea typeface="Bicubik"/>
                <a:cs typeface="Bicubik"/>
                <a:sym typeface="Bicubik"/>
              </a:rPr>
              <a:t>RAPID FIRE</a:t>
            </a:r>
          </a:p>
        </p:txBody>
      </p:sp>
      <p:sp>
        <p:nvSpPr>
          <p:cNvPr name="TextBox 9" id="9"/>
          <p:cNvSpPr txBox="true"/>
          <p:nvPr/>
        </p:nvSpPr>
        <p:spPr>
          <a:xfrm rot="0">
            <a:off x="12153309" y="7516841"/>
            <a:ext cx="4533058" cy="229894"/>
          </a:xfrm>
          <a:prstGeom prst="rect">
            <a:avLst/>
          </a:prstGeom>
        </p:spPr>
        <p:txBody>
          <a:bodyPr anchor="t" rtlCol="false" tIns="0" lIns="0" bIns="0" rIns="0">
            <a:spAutoFit/>
          </a:bodyPr>
          <a:lstStyle/>
          <a:p>
            <a:pPr algn="ctr">
              <a:lnSpc>
                <a:spcPts val="1760"/>
              </a:lnSpc>
            </a:pPr>
            <a:r>
              <a:rPr lang="en-US" b="true" sz="1600" spc="668">
                <a:solidFill>
                  <a:srgbClr val="FFFFFF"/>
                </a:solidFill>
                <a:latin typeface="Space Mono Bold"/>
                <a:ea typeface="Space Mono Bold"/>
                <a:cs typeface="Space Mono Bold"/>
                <a:sym typeface="Space Mono Bold"/>
              </a:rPr>
              <a:t>CLASS-2A 2ND-YEAR</a:t>
            </a:r>
          </a:p>
        </p:txBody>
      </p:sp>
      <p:sp>
        <p:nvSpPr>
          <p:cNvPr name="TextBox 10" id="10"/>
          <p:cNvSpPr txBox="true"/>
          <p:nvPr/>
        </p:nvSpPr>
        <p:spPr>
          <a:xfrm rot="0">
            <a:off x="524240" y="7219906"/>
            <a:ext cx="4474331" cy="537052"/>
          </a:xfrm>
          <a:prstGeom prst="rect">
            <a:avLst/>
          </a:prstGeom>
        </p:spPr>
        <p:txBody>
          <a:bodyPr anchor="t" rtlCol="false" tIns="0" lIns="0" bIns="0" rIns="0">
            <a:spAutoFit/>
          </a:bodyPr>
          <a:lstStyle/>
          <a:p>
            <a:pPr algn="ctr">
              <a:lnSpc>
                <a:spcPts val="4335"/>
              </a:lnSpc>
              <a:spcBef>
                <a:spcPct val="0"/>
              </a:spcBef>
            </a:pPr>
            <a:r>
              <a:rPr lang="en-US" sz="3097">
                <a:solidFill>
                  <a:srgbClr val="FFDE59"/>
                </a:solidFill>
                <a:latin typeface="Bicubik"/>
                <a:ea typeface="Bicubik"/>
                <a:cs typeface="Bicubik"/>
                <a:sym typeface="Bicubik"/>
              </a:rPr>
              <a:t>PRESENTED BY:</a:t>
            </a:r>
          </a:p>
        </p:txBody>
      </p:sp>
      <p:sp>
        <p:nvSpPr>
          <p:cNvPr name="TextBox 11" id="11"/>
          <p:cNvSpPr txBox="true"/>
          <p:nvPr/>
        </p:nvSpPr>
        <p:spPr>
          <a:xfrm rot="0">
            <a:off x="2997829" y="8014303"/>
            <a:ext cx="5266157" cy="229870"/>
          </a:xfrm>
          <a:prstGeom prst="rect">
            <a:avLst/>
          </a:prstGeom>
        </p:spPr>
        <p:txBody>
          <a:bodyPr anchor="t" rtlCol="false" tIns="0" lIns="0" bIns="0" rIns="0">
            <a:spAutoFit/>
          </a:bodyPr>
          <a:lstStyle/>
          <a:p>
            <a:pPr algn="ctr">
              <a:lnSpc>
                <a:spcPts val="1760"/>
              </a:lnSpc>
            </a:pPr>
            <a:r>
              <a:rPr lang="en-US" b="true" sz="1600" spc="668">
                <a:solidFill>
                  <a:srgbClr val="FFFFFF"/>
                </a:solidFill>
                <a:latin typeface="Space Mono Bold"/>
                <a:ea typeface="Space Mono Bold"/>
                <a:cs typeface="Space Mono Bold"/>
                <a:sym typeface="Space Mono Bold"/>
              </a:rPr>
              <a:t>VEDANSH SHRIVASTAVA-321</a:t>
            </a:r>
          </a:p>
        </p:txBody>
      </p:sp>
      <p:sp>
        <p:nvSpPr>
          <p:cNvPr name="TextBox 12" id="12"/>
          <p:cNvSpPr txBox="true"/>
          <p:nvPr/>
        </p:nvSpPr>
        <p:spPr>
          <a:xfrm rot="0">
            <a:off x="2842800" y="8356525"/>
            <a:ext cx="4533058" cy="229870"/>
          </a:xfrm>
          <a:prstGeom prst="rect">
            <a:avLst/>
          </a:prstGeom>
        </p:spPr>
        <p:txBody>
          <a:bodyPr anchor="t" rtlCol="false" tIns="0" lIns="0" bIns="0" rIns="0">
            <a:spAutoFit/>
          </a:bodyPr>
          <a:lstStyle/>
          <a:p>
            <a:pPr algn="ctr">
              <a:lnSpc>
                <a:spcPts val="1760"/>
              </a:lnSpc>
            </a:pPr>
            <a:r>
              <a:rPr lang="en-US" b="true" sz="1600" spc="668">
                <a:solidFill>
                  <a:srgbClr val="FFFFFF"/>
                </a:solidFill>
                <a:latin typeface="Space Mono Bold"/>
                <a:ea typeface="Space Mono Bold"/>
                <a:cs typeface="Space Mono Bold"/>
                <a:sym typeface="Space Mono Bold"/>
              </a:rPr>
              <a:t>VAISHNAVI SAHU-319</a:t>
            </a:r>
          </a:p>
        </p:txBody>
      </p:sp>
      <p:sp>
        <p:nvSpPr>
          <p:cNvPr name="TextBox 13" id="13"/>
          <p:cNvSpPr txBox="true"/>
          <p:nvPr/>
        </p:nvSpPr>
        <p:spPr>
          <a:xfrm rot="0">
            <a:off x="2534058" y="8719745"/>
            <a:ext cx="4533058" cy="229894"/>
          </a:xfrm>
          <a:prstGeom prst="rect">
            <a:avLst/>
          </a:prstGeom>
        </p:spPr>
        <p:txBody>
          <a:bodyPr anchor="t" rtlCol="false" tIns="0" lIns="0" bIns="0" rIns="0">
            <a:spAutoFit/>
          </a:bodyPr>
          <a:lstStyle/>
          <a:p>
            <a:pPr algn="ctr">
              <a:lnSpc>
                <a:spcPts val="1760"/>
              </a:lnSpc>
            </a:pPr>
            <a:r>
              <a:rPr lang="en-US" b="true" sz="1600" spc="668">
                <a:solidFill>
                  <a:srgbClr val="FFFFFF"/>
                </a:solidFill>
                <a:latin typeface="Space Mono Bold"/>
                <a:ea typeface="Space Mono Bold"/>
                <a:cs typeface="Space Mono Bold"/>
                <a:sym typeface="Space Mono Bold"/>
              </a:rPr>
              <a:t>TANWI GUPTA-311</a:t>
            </a:r>
          </a:p>
        </p:txBody>
      </p:sp>
      <p:sp>
        <p:nvSpPr>
          <p:cNvPr name="TextBox 14" id="14"/>
          <p:cNvSpPr txBox="true"/>
          <p:nvPr/>
        </p:nvSpPr>
        <p:spPr>
          <a:xfrm rot="0">
            <a:off x="2755690" y="9081017"/>
            <a:ext cx="4533058" cy="229870"/>
          </a:xfrm>
          <a:prstGeom prst="rect">
            <a:avLst/>
          </a:prstGeom>
        </p:spPr>
        <p:txBody>
          <a:bodyPr anchor="t" rtlCol="false" tIns="0" lIns="0" bIns="0" rIns="0">
            <a:spAutoFit/>
          </a:bodyPr>
          <a:lstStyle/>
          <a:p>
            <a:pPr algn="ctr">
              <a:lnSpc>
                <a:spcPts val="1760"/>
              </a:lnSpc>
            </a:pPr>
            <a:r>
              <a:rPr lang="en-US" b="true" sz="1600" spc="668">
                <a:solidFill>
                  <a:srgbClr val="FFFFFF"/>
                </a:solidFill>
                <a:latin typeface="Space Mono Bold"/>
                <a:ea typeface="Space Mono Bold"/>
                <a:cs typeface="Space Mono Bold"/>
                <a:sym typeface="Space Mono Bold"/>
              </a:rPr>
              <a:t>TANMAY MITTAL-309</a:t>
            </a:r>
          </a:p>
        </p:txBody>
      </p:sp>
      <p:grpSp>
        <p:nvGrpSpPr>
          <p:cNvPr name="Group 15" id="15"/>
          <p:cNvGrpSpPr/>
          <p:nvPr/>
        </p:nvGrpSpPr>
        <p:grpSpPr>
          <a:xfrm rot="0">
            <a:off x="9107640" y="5533860"/>
            <a:ext cx="10345664" cy="496502"/>
            <a:chOff x="0" y="0"/>
            <a:chExt cx="6549462" cy="314317"/>
          </a:xfrm>
        </p:grpSpPr>
        <p:sp>
          <p:nvSpPr>
            <p:cNvPr name="Freeform 16" id="16"/>
            <p:cNvSpPr/>
            <p:nvPr/>
          </p:nvSpPr>
          <p:spPr>
            <a:xfrm flipH="false" flipV="false" rot="0">
              <a:off x="0" y="0"/>
              <a:ext cx="6549461" cy="314317"/>
            </a:xfrm>
            <a:custGeom>
              <a:avLst/>
              <a:gdLst/>
              <a:ahLst/>
              <a:cxnLst/>
              <a:rect r="r" b="b" t="t" l="l"/>
              <a:pathLst>
                <a:path h="314317" w="6549461">
                  <a:moveTo>
                    <a:pt x="6549461" y="157158"/>
                  </a:moveTo>
                  <a:lnTo>
                    <a:pt x="6346261" y="314317"/>
                  </a:lnTo>
                  <a:lnTo>
                    <a:pt x="203200" y="314317"/>
                  </a:lnTo>
                  <a:lnTo>
                    <a:pt x="0" y="157158"/>
                  </a:lnTo>
                  <a:lnTo>
                    <a:pt x="203200" y="0"/>
                  </a:lnTo>
                  <a:lnTo>
                    <a:pt x="6346261" y="0"/>
                  </a:lnTo>
                  <a:lnTo>
                    <a:pt x="6549461" y="157158"/>
                  </a:lnTo>
                  <a:close/>
                </a:path>
              </a:pathLst>
            </a:custGeom>
            <a:ln w="9525" cap="sq">
              <a:solidFill>
                <a:srgbClr val="FFDE59"/>
              </a:solidFill>
              <a:prstDash val="solid"/>
              <a:miter/>
            </a:ln>
          </p:spPr>
        </p:sp>
        <p:sp>
          <p:nvSpPr>
            <p:cNvPr name="TextBox 17" id="17"/>
            <p:cNvSpPr txBox="true"/>
            <p:nvPr/>
          </p:nvSpPr>
          <p:spPr>
            <a:xfrm>
              <a:off x="114300" y="9525"/>
              <a:ext cx="6320862" cy="304792"/>
            </a:xfrm>
            <a:prstGeom prst="rect">
              <a:avLst/>
            </a:prstGeom>
          </p:spPr>
          <p:txBody>
            <a:bodyPr anchor="ctr" rtlCol="false" tIns="50800" lIns="50800" bIns="50800" rIns="50800"/>
            <a:lstStyle/>
            <a:p>
              <a:pPr algn="ctr">
                <a:lnSpc>
                  <a:spcPts val="1760"/>
                </a:lnSpc>
              </a:pPr>
            </a:p>
          </p:txBody>
        </p:sp>
      </p:grpSp>
      <p:sp>
        <p:nvSpPr>
          <p:cNvPr name="TextBox 18" id="18"/>
          <p:cNvSpPr txBox="true"/>
          <p:nvPr/>
        </p:nvSpPr>
        <p:spPr>
          <a:xfrm rot="0">
            <a:off x="8263986" y="5681105"/>
            <a:ext cx="9263824" cy="229929"/>
          </a:xfrm>
          <a:prstGeom prst="rect">
            <a:avLst/>
          </a:prstGeom>
        </p:spPr>
        <p:txBody>
          <a:bodyPr anchor="t" rtlCol="false" tIns="0" lIns="0" bIns="0" rIns="0">
            <a:spAutoFit/>
          </a:bodyPr>
          <a:lstStyle/>
          <a:p>
            <a:pPr algn="ctr">
              <a:lnSpc>
                <a:spcPts val="1760"/>
              </a:lnSpc>
            </a:pPr>
            <a:r>
              <a:rPr lang="en-US" b="true" sz="1600" spc="668">
                <a:solidFill>
                  <a:srgbClr val="FFFFFF"/>
                </a:solidFill>
                <a:latin typeface="Space Mono Bold"/>
                <a:ea typeface="Space Mono Bold"/>
                <a:cs typeface="Space Mono Bold"/>
                <a:sym typeface="Space Mono Bold"/>
              </a:rPr>
              <a:t>COLLEGE MINI-PROJECT PRESENTATION</a:t>
            </a:r>
          </a:p>
        </p:txBody>
      </p:sp>
      <p:sp>
        <p:nvSpPr>
          <p:cNvPr name="TextBox 19" id="19"/>
          <p:cNvSpPr txBox="true"/>
          <p:nvPr/>
        </p:nvSpPr>
        <p:spPr>
          <a:xfrm rot="0">
            <a:off x="16779613" y="77608"/>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grpSp>
        <p:nvGrpSpPr>
          <p:cNvPr name="Group 20" id="20"/>
          <p:cNvGrpSpPr/>
          <p:nvPr/>
        </p:nvGrpSpPr>
        <p:grpSpPr>
          <a:xfrm rot="0">
            <a:off x="-2338831" y="7286581"/>
            <a:ext cx="7551572" cy="470377"/>
            <a:chOff x="0" y="0"/>
            <a:chExt cx="4781792" cy="297851"/>
          </a:xfrm>
        </p:grpSpPr>
        <p:sp>
          <p:nvSpPr>
            <p:cNvPr name="Freeform 21" id="21"/>
            <p:cNvSpPr/>
            <p:nvPr/>
          </p:nvSpPr>
          <p:spPr>
            <a:xfrm flipH="false" flipV="false" rot="0">
              <a:off x="0" y="0"/>
              <a:ext cx="4781792" cy="297851"/>
            </a:xfrm>
            <a:custGeom>
              <a:avLst/>
              <a:gdLst/>
              <a:ahLst/>
              <a:cxnLst/>
              <a:rect r="r" b="b" t="t" l="l"/>
              <a:pathLst>
                <a:path h="297851" w="4781792">
                  <a:moveTo>
                    <a:pt x="4781792" y="148926"/>
                  </a:moveTo>
                  <a:lnTo>
                    <a:pt x="4578592" y="297851"/>
                  </a:lnTo>
                  <a:lnTo>
                    <a:pt x="203200" y="297851"/>
                  </a:lnTo>
                  <a:lnTo>
                    <a:pt x="0" y="148926"/>
                  </a:lnTo>
                  <a:lnTo>
                    <a:pt x="203200" y="0"/>
                  </a:lnTo>
                  <a:lnTo>
                    <a:pt x="4578592" y="0"/>
                  </a:lnTo>
                  <a:lnTo>
                    <a:pt x="4781792" y="148926"/>
                  </a:lnTo>
                  <a:close/>
                </a:path>
              </a:pathLst>
            </a:custGeom>
            <a:ln w="9525" cap="sq">
              <a:solidFill>
                <a:srgbClr val="FFDE59"/>
              </a:solidFill>
              <a:prstDash val="solid"/>
              <a:miter/>
            </a:ln>
          </p:spPr>
        </p:sp>
        <p:sp>
          <p:nvSpPr>
            <p:cNvPr name="TextBox 22" id="22"/>
            <p:cNvSpPr txBox="true"/>
            <p:nvPr/>
          </p:nvSpPr>
          <p:spPr>
            <a:xfrm>
              <a:off x="114300" y="9525"/>
              <a:ext cx="4553192" cy="288326"/>
            </a:xfrm>
            <a:prstGeom prst="rect">
              <a:avLst/>
            </a:prstGeom>
          </p:spPr>
          <p:txBody>
            <a:bodyPr anchor="ctr" rtlCol="false" tIns="50800" lIns="50800" bIns="50800" rIns="50800"/>
            <a:lstStyle/>
            <a:p>
              <a:pPr algn="ctr">
                <a:lnSpc>
                  <a:spcPts val="1760"/>
                </a:lnSpc>
              </a:pPr>
            </a:p>
          </p:txBody>
        </p:sp>
      </p:grpSp>
      <p:grpSp>
        <p:nvGrpSpPr>
          <p:cNvPr name="Group 23" id="23"/>
          <p:cNvGrpSpPr/>
          <p:nvPr/>
        </p:nvGrpSpPr>
        <p:grpSpPr>
          <a:xfrm rot="0">
            <a:off x="10308223" y="6439937"/>
            <a:ext cx="10345664" cy="503070"/>
            <a:chOff x="0" y="0"/>
            <a:chExt cx="6549462" cy="318475"/>
          </a:xfrm>
        </p:grpSpPr>
        <p:sp>
          <p:nvSpPr>
            <p:cNvPr name="Freeform 24" id="24"/>
            <p:cNvSpPr/>
            <p:nvPr/>
          </p:nvSpPr>
          <p:spPr>
            <a:xfrm flipH="false" flipV="false" rot="0">
              <a:off x="0" y="0"/>
              <a:ext cx="6549461" cy="318475"/>
            </a:xfrm>
            <a:custGeom>
              <a:avLst/>
              <a:gdLst/>
              <a:ahLst/>
              <a:cxnLst/>
              <a:rect r="r" b="b" t="t" l="l"/>
              <a:pathLst>
                <a:path h="318475" w="6549461">
                  <a:moveTo>
                    <a:pt x="6549461" y="159238"/>
                  </a:moveTo>
                  <a:lnTo>
                    <a:pt x="6346261" y="318475"/>
                  </a:lnTo>
                  <a:lnTo>
                    <a:pt x="203200" y="318475"/>
                  </a:lnTo>
                  <a:lnTo>
                    <a:pt x="0" y="159238"/>
                  </a:lnTo>
                  <a:lnTo>
                    <a:pt x="203200" y="0"/>
                  </a:lnTo>
                  <a:lnTo>
                    <a:pt x="6346261" y="0"/>
                  </a:lnTo>
                  <a:lnTo>
                    <a:pt x="6549461" y="159238"/>
                  </a:lnTo>
                  <a:close/>
                </a:path>
              </a:pathLst>
            </a:custGeom>
            <a:ln w="9525" cap="sq">
              <a:solidFill>
                <a:srgbClr val="FFDE59"/>
              </a:solidFill>
              <a:prstDash val="solid"/>
              <a:miter/>
            </a:ln>
          </p:spPr>
        </p:sp>
        <p:sp>
          <p:nvSpPr>
            <p:cNvPr name="TextBox 25" id="25"/>
            <p:cNvSpPr txBox="true"/>
            <p:nvPr/>
          </p:nvSpPr>
          <p:spPr>
            <a:xfrm>
              <a:off x="114300" y="9525"/>
              <a:ext cx="6320862" cy="308950"/>
            </a:xfrm>
            <a:prstGeom prst="rect">
              <a:avLst/>
            </a:prstGeom>
          </p:spPr>
          <p:txBody>
            <a:bodyPr anchor="ctr" rtlCol="false" tIns="50800" lIns="50800" bIns="50800" rIns="50800"/>
            <a:lstStyle/>
            <a:p>
              <a:pPr algn="ctr">
                <a:lnSpc>
                  <a:spcPts val="1760"/>
                </a:lnSpc>
              </a:pPr>
            </a:p>
          </p:txBody>
        </p:sp>
      </p:grpSp>
      <p:sp>
        <p:nvSpPr>
          <p:cNvPr name="TextBox 26" id="26"/>
          <p:cNvSpPr txBox="true"/>
          <p:nvPr/>
        </p:nvSpPr>
        <p:spPr>
          <a:xfrm rot="0">
            <a:off x="10680808" y="6599006"/>
            <a:ext cx="9263824" cy="229915"/>
          </a:xfrm>
          <a:prstGeom prst="rect">
            <a:avLst/>
          </a:prstGeom>
        </p:spPr>
        <p:txBody>
          <a:bodyPr anchor="t" rtlCol="false" tIns="0" lIns="0" bIns="0" rIns="0">
            <a:spAutoFit/>
          </a:bodyPr>
          <a:lstStyle/>
          <a:p>
            <a:pPr algn="l">
              <a:lnSpc>
                <a:spcPts val="1760"/>
              </a:lnSpc>
            </a:pPr>
            <a:r>
              <a:rPr lang="en-US" b="true" sz="1600" spc="668">
                <a:solidFill>
                  <a:srgbClr val="FFFFFF"/>
                </a:solidFill>
                <a:latin typeface="Space Mono Bold"/>
                <a:ea typeface="Space Mono Bold"/>
                <a:cs typeface="Space Mono Bold"/>
                <a:sym typeface="Space Mono Bold"/>
              </a:rPr>
              <a:t>SUPERVISIOR:MISS RUCHIKA</a:t>
            </a:r>
          </a:p>
        </p:txBody>
      </p:sp>
      <p:grpSp>
        <p:nvGrpSpPr>
          <p:cNvPr name="Group 27" id="27"/>
          <p:cNvGrpSpPr/>
          <p:nvPr/>
        </p:nvGrpSpPr>
        <p:grpSpPr>
          <a:xfrm rot="0">
            <a:off x="12895898" y="8244173"/>
            <a:ext cx="7386033" cy="585744"/>
            <a:chOff x="0" y="0"/>
            <a:chExt cx="4676970" cy="370904"/>
          </a:xfrm>
        </p:grpSpPr>
        <p:sp>
          <p:nvSpPr>
            <p:cNvPr name="Freeform 28" id="28"/>
            <p:cNvSpPr/>
            <p:nvPr/>
          </p:nvSpPr>
          <p:spPr>
            <a:xfrm flipH="false" flipV="false" rot="0">
              <a:off x="0" y="0"/>
              <a:ext cx="4676970" cy="370904"/>
            </a:xfrm>
            <a:custGeom>
              <a:avLst/>
              <a:gdLst/>
              <a:ahLst/>
              <a:cxnLst/>
              <a:rect r="r" b="b" t="t" l="l"/>
              <a:pathLst>
                <a:path h="370904" w="4676970">
                  <a:moveTo>
                    <a:pt x="4676970" y="185452"/>
                  </a:moveTo>
                  <a:lnTo>
                    <a:pt x="4473770" y="370904"/>
                  </a:lnTo>
                  <a:lnTo>
                    <a:pt x="203200" y="370904"/>
                  </a:lnTo>
                  <a:lnTo>
                    <a:pt x="0" y="185452"/>
                  </a:lnTo>
                  <a:lnTo>
                    <a:pt x="203200" y="0"/>
                  </a:lnTo>
                  <a:lnTo>
                    <a:pt x="4473770" y="0"/>
                  </a:lnTo>
                  <a:lnTo>
                    <a:pt x="4676970" y="185452"/>
                  </a:lnTo>
                  <a:close/>
                </a:path>
              </a:pathLst>
            </a:custGeom>
            <a:ln w="9525" cap="sq">
              <a:solidFill>
                <a:srgbClr val="FFDE59"/>
              </a:solidFill>
              <a:prstDash val="solid"/>
              <a:miter/>
            </a:ln>
          </p:spPr>
        </p:sp>
        <p:sp>
          <p:nvSpPr>
            <p:cNvPr name="TextBox 29" id="29"/>
            <p:cNvSpPr txBox="true"/>
            <p:nvPr/>
          </p:nvSpPr>
          <p:spPr>
            <a:xfrm>
              <a:off x="114300" y="9525"/>
              <a:ext cx="4448370" cy="361379"/>
            </a:xfrm>
            <a:prstGeom prst="rect">
              <a:avLst/>
            </a:prstGeom>
          </p:spPr>
          <p:txBody>
            <a:bodyPr anchor="ctr" rtlCol="false" tIns="50800" lIns="50800" bIns="50800" rIns="50800"/>
            <a:lstStyle/>
            <a:p>
              <a:pPr algn="ctr">
                <a:lnSpc>
                  <a:spcPts val="1760"/>
                </a:lnSpc>
              </a:pPr>
            </a:p>
          </p:txBody>
        </p:sp>
      </p:grpSp>
      <p:sp>
        <p:nvSpPr>
          <p:cNvPr name="TextBox 30" id="30"/>
          <p:cNvSpPr txBox="true"/>
          <p:nvPr/>
        </p:nvSpPr>
        <p:spPr>
          <a:xfrm rot="0">
            <a:off x="13275946" y="8434553"/>
            <a:ext cx="5384399" cy="229870"/>
          </a:xfrm>
          <a:prstGeom prst="rect">
            <a:avLst/>
          </a:prstGeom>
        </p:spPr>
        <p:txBody>
          <a:bodyPr anchor="t" rtlCol="false" tIns="0" lIns="0" bIns="0" rIns="0">
            <a:spAutoFit/>
          </a:bodyPr>
          <a:lstStyle/>
          <a:p>
            <a:pPr algn="l">
              <a:lnSpc>
                <a:spcPts val="1760"/>
              </a:lnSpc>
            </a:pPr>
            <a:r>
              <a:rPr lang="en-US" b="true" sz="1600" spc="668">
                <a:solidFill>
                  <a:srgbClr val="FFFFFF"/>
                </a:solidFill>
                <a:latin typeface="Space Mono Bold"/>
                <a:ea typeface="Space Mono Bold"/>
                <a:cs typeface="Space Mono Bold"/>
                <a:sym typeface="Space Mono Bold"/>
              </a:rPr>
              <a:t>DEPARTMENT OF CSE|GNIOT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288529" y="1208420"/>
            <a:ext cx="17796121" cy="8416429"/>
            <a:chOff x="0" y="0"/>
            <a:chExt cx="4687044" cy="2216673"/>
          </a:xfrm>
        </p:grpSpPr>
        <p:sp>
          <p:nvSpPr>
            <p:cNvPr name="Freeform 5" id="5"/>
            <p:cNvSpPr/>
            <p:nvPr/>
          </p:nvSpPr>
          <p:spPr>
            <a:xfrm flipH="false" flipV="false" rot="0">
              <a:off x="0" y="0"/>
              <a:ext cx="4687044" cy="2216673"/>
            </a:xfrm>
            <a:custGeom>
              <a:avLst/>
              <a:gdLst/>
              <a:ahLst/>
              <a:cxnLst/>
              <a:rect r="r" b="b" t="t" l="l"/>
              <a:pathLst>
                <a:path h="2216673" w="4687044">
                  <a:moveTo>
                    <a:pt x="21752" y="0"/>
                  </a:moveTo>
                  <a:lnTo>
                    <a:pt x="4665292" y="0"/>
                  </a:lnTo>
                  <a:cubicBezTo>
                    <a:pt x="4671061" y="0"/>
                    <a:pt x="4676594" y="2292"/>
                    <a:pt x="4680673" y="6371"/>
                  </a:cubicBezTo>
                  <a:cubicBezTo>
                    <a:pt x="4684752" y="10450"/>
                    <a:pt x="4687044" y="15983"/>
                    <a:pt x="4687044" y="21752"/>
                  </a:cubicBezTo>
                  <a:lnTo>
                    <a:pt x="4687044" y="2194921"/>
                  </a:lnTo>
                  <a:cubicBezTo>
                    <a:pt x="4687044" y="2206934"/>
                    <a:pt x="4677306" y="2216673"/>
                    <a:pt x="4665292" y="2216673"/>
                  </a:cubicBezTo>
                  <a:lnTo>
                    <a:pt x="21752" y="2216673"/>
                  </a:lnTo>
                  <a:cubicBezTo>
                    <a:pt x="15983" y="2216673"/>
                    <a:pt x="10450" y="2214381"/>
                    <a:pt x="6371" y="2210302"/>
                  </a:cubicBezTo>
                  <a:cubicBezTo>
                    <a:pt x="2292" y="2206223"/>
                    <a:pt x="0" y="2200690"/>
                    <a:pt x="0" y="2194921"/>
                  </a:cubicBezTo>
                  <a:lnTo>
                    <a:pt x="0" y="21752"/>
                  </a:lnTo>
                  <a:cubicBezTo>
                    <a:pt x="0" y="15983"/>
                    <a:pt x="2292" y="10450"/>
                    <a:pt x="6371" y="6371"/>
                  </a:cubicBezTo>
                  <a:cubicBezTo>
                    <a:pt x="10450" y="2292"/>
                    <a:pt x="15983" y="0"/>
                    <a:pt x="21752" y="0"/>
                  </a:cubicBezTo>
                  <a:close/>
                </a:path>
              </a:pathLst>
            </a:custGeom>
            <a:ln w="9525" cap="rnd">
              <a:solidFill>
                <a:srgbClr val="FFDE59"/>
              </a:solidFill>
              <a:prstDash val="solid"/>
              <a:round/>
            </a:ln>
          </p:spPr>
        </p:sp>
        <p:sp>
          <p:nvSpPr>
            <p:cNvPr name="TextBox 6" id="6"/>
            <p:cNvSpPr txBox="true"/>
            <p:nvPr/>
          </p:nvSpPr>
          <p:spPr>
            <a:xfrm>
              <a:off x="0" y="9525"/>
              <a:ext cx="4687044" cy="2207148"/>
            </a:xfrm>
            <a:prstGeom prst="rect">
              <a:avLst/>
            </a:prstGeom>
          </p:spPr>
          <p:txBody>
            <a:bodyPr anchor="ctr" rtlCol="false" tIns="50800" lIns="50800" bIns="50800" rIns="50800"/>
            <a:lstStyle/>
            <a:p>
              <a:pPr algn="ctr">
                <a:lnSpc>
                  <a:spcPts val="1760"/>
                </a:lnSpc>
              </a:pPr>
            </a:p>
          </p:txBody>
        </p:sp>
      </p:grpSp>
      <p:grpSp>
        <p:nvGrpSpPr>
          <p:cNvPr name="Group 7" id="7"/>
          <p:cNvGrpSpPr/>
          <p:nvPr/>
        </p:nvGrpSpPr>
        <p:grpSpPr>
          <a:xfrm rot="0">
            <a:off x="-1052267" y="1930995"/>
            <a:ext cx="20477711" cy="401955"/>
            <a:chOff x="0" y="0"/>
            <a:chExt cx="5393307" cy="105865"/>
          </a:xfrm>
        </p:grpSpPr>
        <p:sp>
          <p:nvSpPr>
            <p:cNvPr name="Freeform 8" id="8"/>
            <p:cNvSpPr/>
            <p:nvPr/>
          </p:nvSpPr>
          <p:spPr>
            <a:xfrm flipH="false" flipV="false" rot="0">
              <a:off x="0" y="0"/>
              <a:ext cx="5393306" cy="105865"/>
            </a:xfrm>
            <a:custGeom>
              <a:avLst/>
              <a:gdLst/>
              <a:ahLst/>
              <a:cxnLst/>
              <a:rect r="r" b="b" t="t" l="l"/>
              <a:pathLst>
                <a:path h="105865" w="5393306">
                  <a:moveTo>
                    <a:pt x="18903" y="0"/>
                  </a:moveTo>
                  <a:lnTo>
                    <a:pt x="5374403" y="0"/>
                  </a:lnTo>
                  <a:cubicBezTo>
                    <a:pt x="5384843" y="0"/>
                    <a:pt x="5393306" y="8463"/>
                    <a:pt x="5393306" y="18903"/>
                  </a:cubicBezTo>
                  <a:lnTo>
                    <a:pt x="5393306" y="86961"/>
                  </a:lnTo>
                  <a:cubicBezTo>
                    <a:pt x="5393306" y="91975"/>
                    <a:pt x="5391315" y="96783"/>
                    <a:pt x="5387770" y="100328"/>
                  </a:cubicBezTo>
                  <a:cubicBezTo>
                    <a:pt x="5384225" y="103873"/>
                    <a:pt x="5379417" y="105865"/>
                    <a:pt x="5374403" y="105865"/>
                  </a:cubicBezTo>
                  <a:lnTo>
                    <a:pt x="18903" y="105865"/>
                  </a:lnTo>
                  <a:cubicBezTo>
                    <a:pt x="13890" y="105865"/>
                    <a:pt x="9082" y="103873"/>
                    <a:pt x="5537" y="100328"/>
                  </a:cubicBezTo>
                  <a:cubicBezTo>
                    <a:pt x="1992" y="96783"/>
                    <a:pt x="0" y="91975"/>
                    <a:pt x="0" y="86961"/>
                  </a:cubicBezTo>
                  <a:lnTo>
                    <a:pt x="0" y="18903"/>
                  </a:lnTo>
                  <a:cubicBezTo>
                    <a:pt x="0" y="13890"/>
                    <a:pt x="1992" y="9082"/>
                    <a:pt x="5537" y="5537"/>
                  </a:cubicBezTo>
                  <a:cubicBezTo>
                    <a:pt x="9082" y="1992"/>
                    <a:pt x="13890" y="0"/>
                    <a:pt x="18903" y="0"/>
                  </a:cubicBezTo>
                  <a:close/>
                </a:path>
              </a:pathLst>
            </a:custGeom>
            <a:solidFill>
              <a:srgbClr val="FFDE59"/>
            </a:solidFill>
          </p:spPr>
        </p:sp>
        <p:sp>
          <p:nvSpPr>
            <p:cNvPr name="TextBox 9" id="9"/>
            <p:cNvSpPr txBox="true"/>
            <p:nvPr/>
          </p:nvSpPr>
          <p:spPr>
            <a:xfrm>
              <a:off x="0" y="9525"/>
              <a:ext cx="5393307" cy="96340"/>
            </a:xfrm>
            <a:prstGeom prst="rect">
              <a:avLst/>
            </a:prstGeom>
          </p:spPr>
          <p:txBody>
            <a:bodyPr anchor="ctr" rtlCol="false" tIns="50800" lIns="50800" bIns="50800" rIns="50800"/>
            <a:lstStyle/>
            <a:p>
              <a:pPr algn="ctr">
                <a:lnSpc>
                  <a:spcPts val="1760"/>
                </a:lnSpc>
              </a:pPr>
            </a:p>
          </p:txBody>
        </p:sp>
      </p:grpSp>
      <p:grpSp>
        <p:nvGrpSpPr>
          <p:cNvPr name="Group 10" id="10"/>
          <p:cNvGrpSpPr/>
          <p:nvPr/>
        </p:nvGrpSpPr>
        <p:grpSpPr>
          <a:xfrm rot="0">
            <a:off x="-1052267" y="1806960"/>
            <a:ext cx="19765939" cy="644771"/>
            <a:chOff x="0" y="0"/>
            <a:chExt cx="12516151" cy="408280"/>
          </a:xfrm>
        </p:grpSpPr>
        <p:sp>
          <p:nvSpPr>
            <p:cNvPr name="Freeform 11" id="11"/>
            <p:cNvSpPr/>
            <p:nvPr/>
          </p:nvSpPr>
          <p:spPr>
            <a:xfrm flipH="false" flipV="false" rot="0">
              <a:off x="0" y="0"/>
              <a:ext cx="12516151" cy="408280"/>
            </a:xfrm>
            <a:custGeom>
              <a:avLst/>
              <a:gdLst/>
              <a:ahLst/>
              <a:cxnLst/>
              <a:rect r="r" b="b" t="t" l="l"/>
              <a:pathLst>
                <a:path h="408280" w="12516151">
                  <a:moveTo>
                    <a:pt x="12516151" y="204140"/>
                  </a:moveTo>
                  <a:lnTo>
                    <a:pt x="12312951" y="408280"/>
                  </a:lnTo>
                  <a:lnTo>
                    <a:pt x="203200" y="408280"/>
                  </a:lnTo>
                  <a:lnTo>
                    <a:pt x="0" y="204140"/>
                  </a:lnTo>
                  <a:lnTo>
                    <a:pt x="203200" y="0"/>
                  </a:lnTo>
                  <a:lnTo>
                    <a:pt x="12312951" y="0"/>
                  </a:lnTo>
                  <a:lnTo>
                    <a:pt x="12516151" y="204140"/>
                  </a:lnTo>
                  <a:close/>
                </a:path>
              </a:pathLst>
            </a:custGeom>
            <a:ln w="9525" cap="sq">
              <a:solidFill>
                <a:srgbClr val="FFDE59"/>
              </a:solidFill>
              <a:prstDash val="solid"/>
              <a:miter/>
            </a:ln>
          </p:spPr>
        </p:sp>
        <p:sp>
          <p:nvSpPr>
            <p:cNvPr name="TextBox 12" id="12"/>
            <p:cNvSpPr txBox="true"/>
            <p:nvPr/>
          </p:nvSpPr>
          <p:spPr>
            <a:xfrm>
              <a:off x="114300" y="9525"/>
              <a:ext cx="12287551" cy="398755"/>
            </a:xfrm>
            <a:prstGeom prst="rect">
              <a:avLst/>
            </a:prstGeom>
          </p:spPr>
          <p:txBody>
            <a:bodyPr anchor="ctr" rtlCol="false" tIns="50800" lIns="50800" bIns="50800" rIns="50800"/>
            <a:lstStyle/>
            <a:p>
              <a:pPr algn="ctr">
                <a:lnSpc>
                  <a:spcPts val="1760"/>
                </a:lnSpc>
              </a:pPr>
            </a:p>
          </p:txBody>
        </p:sp>
      </p:grpSp>
      <p:sp>
        <p:nvSpPr>
          <p:cNvPr name="Freeform 13" id="13"/>
          <p:cNvSpPr/>
          <p:nvPr/>
        </p:nvSpPr>
        <p:spPr>
          <a:xfrm flipH="false" flipV="false" rot="0">
            <a:off x="17481043" y="9707618"/>
            <a:ext cx="443980" cy="443980"/>
          </a:xfrm>
          <a:custGeom>
            <a:avLst/>
            <a:gdLst/>
            <a:ahLst/>
            <a:cxnLst/>
            <a:rect r="r" b="b" t="t" l="l"/>
            <a:pathLst>
              <a:path h="443980" w="443980">
                <a:moveTo>
                  <a:pt x="0" y="0"/>
                </a:moveTo>
                <a:lnTo>
                  <a:pt x="443980" y="0"/>
                </a:lnTo>
                <a:lnTo>
                  <a:pt x="443980" y="443980"/>
                </a:lnTo>
                <a:lnTo>
                  <a:pt x="0" y="4439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779546" y="2999370"/>
            <a:ext cx="9012456" cy="387985"/>
          </a:xfrm>
          <a:prstGeom prst="rect">
            <a:avLst/>
          </a:prstGeom>
        </p:spPr>
        <p:txBody>
          <a:bodyPr anchor="t" rtlCol="false" tIns="0" lIns="0" bIns="0" rIns="0">
            <a:spAutoFit/>
          </a:bodyPr>
          <a:lstStyle/>
          <a:p>
            <a:pPr algn="just" marL="0" indent="0" lvl="0">
              <a:lnSpc>
                <a:spcPts val="3079"/>
              </a:lnSpc>
              <a:spcBef>
                <a:spcPct val="0"/>
              </a:spcBef>
            </a:pPr>
            <a:r>
              <a:rPr lang="en-US" b="true" sz="2799">
                <a:solidFill>
                  <a:srgbClr val="FFDE59"/>
                </a:solidFill>
                <a:latin typeface="Space Mono Bold"/>
                <a:ea typeface="Space Mono Bold"/>
                <a:cs typeface="Space Mono Bold"/>
                <a:sym typeface="Space Mono Bold"/>
              </a:rPr>
              <a:t>CONTEXT</a:t>
            </a:r>
          </a:p>
        </p:txBody>
      </p:sp>
      <p:sp>
        <p:nvSpPr>
          <p:cNvPr name="TextBox 15" id="15"/>
          <p:cNvSpPr txBox="true"/>
          <p:nvPr/>
        </p:nvSpPr>
        <p:spPr>
          <a:xfrm rot="0">
            <a:off x="779546" y="4971294"/>
            <a:ext cx="9012456" cy="387985"/>
          </a:xfrm>
          <a:prstGeom prst="rect">
            <a:avLst/>
          </a:prstGeom>
        </p:spPr>
        <p:txBody>
          <a:bodyPr anchor="t" rtlCol="false" tIns="0" lIns="0" bIns="0" rIns="0">
            <a:spAutoFit/>
          </a:bodyPr>
          <a:lstStyle/>
          <a:p>
            <a:pPr algn="just" marL="0" indent="0" lvl="0">
              <a:lnSpc>
                <a:spcPts val="3079"/>
              </a:lnSpc>
              <a:spcBef>
                <a:spcPct val="0"/>
              </a:spcBef>
            </a:pPr>
            <a:r>
              <a:rPr lang="en-US" b="true" sz="2799">
                <a:solidFill>
                  <a:srgbClr val="FFDE59"/>
                </a:solidFill>
                <a:latin typeface="Space Mono Bold"/>
                <a:ea typeface="Space Mono Bold"/>
                <a:cs typeface="Space Mono Bold"/>
                <a:sym typeface="Space Mono Bold"/>
              </a:rPr>
              <a:t>IMPACT</a:t>
            </a:r>
          </a:p>
        </p:txBody>
      </p:sp>
      <p:sp>
        <p:nvSpPr>
          <p:cNvPr name="TextBox 16" id="16"/>
          <p:cNvSpPr txBox="true"/>
          <p:nvPr/>
        </p:nvSpPr>
        <p:spPr>
          <a:xfrm rot="0">
            <a:off x="779546" y="7346001"/>
            <a:ext cx="9012456" cy="387985"/>
          </a:xfrm>
          <a:prstGeom prst="rect">
            <a:avLst/>
          </a:prstGeom>
        </p:spPr>
        <p:txBody>
          <a:bodyPr anchor="t" rtlCol="false" tIns="0" lIns="0" bIns="0" rIns="0">
            <a:spAutoFit/>
          </a:bodyPr>
          <a:lstStyle/>
          <a:p>
            <a:pPr algn="just" marL="0" indent="0" lvl="0">
              <a:lnSpc>
                <a:spcPts val="3079"/>
              </a:lnSpc>
              <a:spcBef>
                <a:spcPct val="0"/>
              </a:spcBef>
            </a:pPr>
            <a:r>
              <a:rPr lang="en-US" b="true" sz="2799">
                <a:solidFill>
                  <a:srgbClr val="FFDE59"/>
                </a:solidFill>
                <a:latin typeface="Space Mono Bold"/>
                <a:ea typeface="Space Mono Bold"/>
                <a:cs typeface="Space Mono Bold"/>
                <a:sym typeface="Space Mono Bold"/>
              </a:rPr>
              <a:t>API LEAKS</a:t>
            </a:r>
          </a:p>
        </p:txBody>
      </p:sp>
      <p:sp>
        <p:nvSpPr>
          <p:cNvPr name="TextBox 17" id="17"/>
          <p:cNvSpPr txBox="true"/>
          <p:nvPr/>
        </p:nvSpPr>
        <p:spPr>
          <a:xfrm rot="0">
            <a:off x="779546" y="7917866"/>
            <a:ext cx="12135115" cy="549086"/>
          </a:xfrm>
          <a:prstGeom prst="rect">
            <a:avLst/>
          </a:prstGeom>
        </p:spPr>
        <p:txBody>
          <a:bodyPr anchor="t" rtlCol="false" tIns="0" lIns="0" bIns="0" rIns="0">
            <a:spAutoFit/>
          </a:bodyPr>
          <a:lstStyle/>
          <a:p>
            <a:pPr algn="just">
              <a:lnSpc>
                <a:spcPts val="2183"/>
              </a:lnSpc>
            </a:pPr>
            <a:r>
              <a:rPr lang="en-US" sz="1985">
                <a:solidFill>
                  <a:srgbClr val="FFFFFF"/>
                </a:solidFill>
                <a:latin typeface="Space Mono"/>
                <a:ea typeface="Space Mono"/>
                <a:cs typeface="Space Mono"/>
                <a:sym typeface="Space Mono"/>
              </a:rPr>
              <a:t>A SINGLE CARELESS PUSH CAN LEAK API KEYS INTO THE REPOSITORY, WITH NO AUTOMATIC CHECK CATCHING IT BEFORE IT GOES OUT.</a:t>
            </a:r>
          </a:p>
        </p:txBody>
      </p:sp>
      <p:sp>
        <p:nvSpPr>
          <p:cNvPr name="TextBox 18" id="18"/>
          <p:cNvSpPr txBox="true"/>
          <p:nvPr/>
        </p:nvSpPr>
        <p:spPr>
          <a:xfrm rot="0">
            <a:off x="779546" y="5540254"/>
            <a:ext cx="12333150" cy="809556"/>
          </a:xfrm>
          <a:prstGeom prst="rect">
            <a:avLst/>
          </a:prstGeom>
        </p:spPr>
        <p:txBody>
          <a:bodyPr anchor="t" rtlCol="false" tIns="0" lIns="0" bIns="0" rIns="0">
            <a:spAutoFit/>
          </a:bodyPr>
          <a:lstStyle/>
          <a:p>
            <a:pPr algn="just">
              <a:lnSpc>
                <a:spcPts val="2163"/>
              </a:lnSpc>
            </a:pPr>
            <a:r>
              <a:rPr lang="en-US" sz="1966">
                <a:solidFill>
                  <a:srgbClr val="FFFFFF"/>
                </a:solidFill>
                <a:latin typeface="Space Mono"/>
                <a:ea typeface="Space Mono"/>
                <a:cs typeface="Space Mono"/>
                <a:sym typeface="Space Mono"/>
              </a:rPr>
              <a:t>SINCE THERE IS NO STANDARD WAY TO SAVE OR REUSE ENVIRONMENT SETUPS, DEVELOPERS WASTE CRITICAL EXACT SAME MANUAL SCAFFOLDING FOR EVERY SINGLE NEW PROJECT.</a:t>
            </a:r>
          </a:p>
        </p:txBody>
      </p:sp>
      <p:sp>
        <p:nvSpPr>
          <p:cNvPr name="TextBox 19" id="19"/>
          <p:cNvSpPr txBox="true"/>
          <p:nvPr/>
        </p:nvSpPr>
        <p:spPr>
          <a:xfrm rot="0">
            <a:off x="779546" y="3568330"/>
            <a:ext cx="12333150" cy="813115"/>
          </a:xfrm>
          <a:prstGeom prst="rect">
            <a:avLst/>
          </a:prstGeom>
        </p:spPr>
        <p:txBody>
          <a:bodyPr anchor="t" rtlCol="false" tIns="0" lIns="0" bIns="0" rIns="0">
            <a:spAutoFit/>
          </a:bodyPr>
          <a:lstStyle/>
          <a:p>
            <a:pPr algn="just">
              <a:lnSpc>
                <a:spcPts val="2199"/>
              </a:lnSpc>
            </a:pPr>
            <a:r>
              <a:rPr lang="en-US" sz="1999">
                <a:solidFill>
                  <a:srgbClr val="FFFFFF"/>
                </a:solidFill>
                <a:latin typeface="Space Mono"/>
                <a:ea typeface="Space Mono"/>
                <a:cs typeface="Space Mono"/>
                <a:sym typeface="Space Mono"/>
              </a:rPr>
              <a:t>STARTING A NEW PROJECT REQUIRES CONFIGURING COMPLEX FOLDER STRUCTURES,INSTALLING DEPENDENCY AND FRAMEWORK AND LINKING REMOTE REPOSITORIES (GITHUB), AND PROVISIONING BACKEND AND DATABASE.</a:t>
            </a:r>
          </a:p>
        </p:txBody>
      </p:sp>
      <p:grpSp>
        <p:nvGrpSpPr>
          <p:cNvPr name="Group 20" id="20"/>
          <p:cNvGrpSpPr/>
          <p:nvPr/>
        </p:nvGrpSpPr>
        <p:grpSpPr>
          <a:xfrm rot="0">
            <a:off x="13125571" y="5408060"/>
            <a:ext cx="6077559" cy="3731797"/>
            <a:chOff x="0" y="0"/>
            <a:chExt cx="8103412" cy="4975729"/>
          </a:xfrm>
        </p:grpSpPr>
        <p:sp>
          <p:nvSpPr>
            <p:cNvPr name="Freeform 21" id="21"/>
            <p:cNvSpPr/>
            <p:nvPr/>
          </p:nvSpPr>
          <p:spPr>
            <a:xfrm flipH="false" flipV="false" rot="0">
              <a:off x="112531" y="0"/>
              <a:ext cx="5105692" cy="4975729"/>
            </a:xfrm>
            <a:custGeom>
              <a:avLst/>
              <a:gdLst/>
              <a:ahLst/>
              <a:cxnLst/>
              <a:rect r="r" b="b" t="t" l="l"/>
              <a:pathLst>
                <a:path h="4975729" w="5105692">
                  <a:moveTo>
                    <a:pt x="0" y="0"/>
                  </a:moveTo>
                  <a:lnTo>
                    <a:pt x="5105692" y="0"/>
                  </a:lnTo>
                  <a:lnTo>
                    <a:pt x="5105692" y="4975729"/>
                  </a:lnTo>
                  <a:lnTo>
                    <a:pt x="0" y="49757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2" id="22"/>
            <p:cNvSpPr txBox="true"/>
            <p:nvPr/>
          </p:nvSpPr>
          <p:spPr>
            <a:xfrm rot="0">
              <a:off x="0" y="1790469"/>
              <a:ext cx="6453982" cy="789303"/>
            </a:xfrm>
            <a:prstGeom prst="rect">
              <a:avLst/>
            </a:prstGeom>
          </p:spPr>
          <p:txBody>
            <a:bodyPr anchor="t" rtlCol="false" tIns="0" lIns="0" bIns="0" rIns="0">
              <a:spAutoFit/>
            </a:bodyPr>
            <a:lstStyle/>
            <a:p>
              <a:pPr algn="l">
                <a:lnSpc>
                  <a:spcPts val="4316"/>
                </a:lnSpc>
              </a:pPr>
              <a:r>
                <a:rPr lang="en-US" sz="4150">
                  <a:solidFill>
                    <a:srgbClr val="FFDE59"/>
                  </a:solidFill>
                  <a:latin typeface="Bicubik"/>
                  <a:ea typeface="Bicubik"/>
                  <a:cs typeface="Bicubik"/>
                  <a:sym typeface="Bicubik"/>
                </a:rPr>
                <a:t>PROBLEM                    </a:t>
              </a:r>
            </a:p>
          </p:txBody>
        </p:sp>
        <p:sp>
          <p:nvSpPr>
            <p:cNvPr name="TextBox 23" id="23"/>
            <p:cNvSpPr txBox="true"/>
            <p:nvPr/>
          </p:nvSpPr>
          <p:spPr>
            <a:xfrm rot="0">
              <a:off x="1649430" y="2627397"/>
              <a:ext cx="6453982" cy="789303"/>
            </a:xfrm>
            <a:prstGeom prst="rect">
              <a:avLst/>
            </a:prstGeom>
          </p:spPr>
          <p:txBody>
            <a:bodyPr anchor="t" rtlCol="false" tIns="0" lIns="0" bIns="0" rIns="0">
              <a:spAutoFit/>
            </a:bodyPr>
            <a:lstStyle/>
            <a:p>
              <a:pPr algn="l">
                <a:lnSpc>
                  <a:spcPts val="4316"/>
                </a:lnSpc>
              </a:pPr>
              <a:r>
                <a:rPr lang="en-US" sz="4150">
                  <a:solidFill>
                    <a:srgbClr val="FFDE59"/>
                  </a:solidFill>
                  <a:latin typeface="Bicubik"/>
                  <a:ea typeface="Bicubik"/>
                  <a:cs typeface="Bicubik"/>
                  <a:sym typeface="Bicubik"/>
                </a:rPr>
                <a:t>STATEMENT</a:t>
              </a:r>
            </a:p>
          </p:txBody>
        </p:sp>
      </p:grpSp>
      <p:sp>
        <p:nvSpPr>
          <p:cNvPr name="TextBox 24" id="24"/>
          <p:cNvSpPr txBox="true"/>
          <p:nvPr/>
        </p:nvSpPr>
        <p:spPr>
          <a:xfrm rot="0">
            <a:off x="1727103" y="1959570"/>
            <a:ext cx="14833794" cy="687705"/>
          </a:xfrm>
          <a:prstGeom prst="rect">
            <a:avLst/>
          </a:prstGeom>
        </p:spPr>
        <p:txBody>
          <a:bodyPr anchor="t" rtlCol="false" tIns="0" lIns="0" bIns="0" rIns="0">
            <a:spAutoFit/>
          </a:bodyPr>
          <a:lstStyle/>
          <a:p>
            <a:pPr algn="just">
              <a:lnSpc>
                <a:spcPts val="2640"/>
              </a:lnSpc>
            </a:pPr>
            <a:r>
              <a:rPr lang="en-US" b="true" sz="2400">
                <a:solidFill>
                  <a:srgbClr val="050505"/>
                </a:solidFill>
                <a:latin typeface="Glacial Indifference Bold"/>
                <a:ea typeface="Glacial Indifference Bold"/>
                <a:cs typeface="Glacial Indifference Bold"/>
                <a:sym typeface="Glacial Indifference Bold"/>
              </a:rPr>
              <a:t>PROJECT SETUP IS SLOW, REPETITIVE, AND ROUTINELY LEADS TO LEAKED API KEYS DURING DEVELOPMENT</a:t>
            </a:r>
          </a:p>
        </p:txBody>
      </p:sp>
      <p:sp>
        <p:nvSpPr>
          <p:cNvPr name="TextBox 25" id="25"/>
          <p:cNvSpPr txBox="true"/>
          <p:nvPr/>
        </p:nvSpPr>
        <p:spPr>
          <a:xfrm rot="0">
            <a:off x="636342" y="1418975"/>
            <a:ext cx="9012456" cy="387985"/>
          </a:xfrm>
          <a:prstGeom prst="rect">
            <a:avLst/>
          </a:prstGeom>
        </p:spPr>
        <p:txBody>
          <a:bodyPr anchor="t" rtlCol="false" tIns="0" lIns="0" bIns="0" rIns="0">
            <a:spAutoFit/>
          </a:bodyPr>
          <a:lstStyle/>
          <a:p>
            <a:pPr algn="just" marL="0" indent="0" lvl="0">
              <a:lnSpc>
                <a:spcPts val="3079"/>
              </a:lnSpc>
              <a:spcBef>
                <a:spcPct val="0"/>
              </a:spcBef>
            </a:pPr>
            <a:r>
              <a:rPr lang="en-US" b="true" sz="2799">
                <a:solidFill>
                  <a:srgbClr val="FFDE59"/>
                </a:solidFill>
                <a:latin typeface="Space Mono Bold"/>
                <a:ea typeface="Space Mono Bold"/>
                <a:cs typeface="Space Mono Bold"/>
                <a:sym typeface="Space Mono Bold"/>
              </a:rPr>
              <a:t>PROBLEM STATEMENT</a:t>
            </a:r>
          </a:p>
        </p:txBody>
      </p:sp>
      <p:sp>
        <p:nvSpPr>
          <p:cNvPr name="Freeform 26" id="26"/>
          <p:cNvSpPr/>
          <p:nvPr/>
        </p:nvSpPr>
        <p:spPr>
          <a:xfrm flipH="false" flipV="false" rot="0">
            <a:off x="465119" y="147155"/>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9"/>
            <a:stretch>
              <a:fillRect l="0" t="0" r="0" b="0"/>
            </a:stretch>
          </a:blipFill>
        </p:spPr>
      </p:sp>
      <p:sp>
        <p:nvSpPr>
          <p:cNvPr name="TextBox 27" id="27"/>
          <p:cNvSpPr txBox="true"/>
          <p:nvPr/>
        </p:nvSpPr>
        <p:spPr>
          <a:xfrm rot="0">
            <a:off x="16779613" y="77608"/>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spTree>
  </p:cSld>
  <p:clrMapOvr>
    <a:masterClrMapping/>
  </p:clrMapOvr>
  <p:transition spd="fast">
    <p:cover dir="rd"/>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0485903" y="1208849"/>
            <a:ext cx="4951304" cy="713977"/>
            <a:chOff x="0" y="0"/>
            <a:chExt cx="1830519" cy="263961"/>
          </a:xfrm>
        </p:grpSpPr>
        <p:sp>
          <p:nvSpPr>
            <p:cNvPr name="Freeform 4" id="4"/>
            <p:cNvSpPr/>
            <p:nvPr/>
          </p:nvSpPr>
          <p:spPr>
            <a:xfrm flipH="false" flipV="false" rot="0">
              <a:off x="0" y="0"/>
              <a:ext cx="1830519" cy="263961"/>
            </a:xfrm>
            <a:custGeom>
              <a:avLst/>
              <a:gdLst/>
              <a:ahLst/>
              <a:cxnLst/>
              <a:rect r="r" b="b" t="t" l="l"/>
              <a:pathLst>
                <a:path h="263961" w="1830519">
                  <a:moveTo>
                    <a:pt x="78181" y="0"/>
                  </a:moveTo>
                  <a:lnTo>
                    <a:pt x="1752338" y="0"/>
                  </a:lnTo>
                  <a:cubicBezTo>
                    <a:pt x="1773073" y="0"/>
                    <a:pt x="1792958" y="8237"/>
                    <a:pt x="1807620" y="22899"/>
                  </a:cubicBezTo>
                  <a:cubicBezTo>
                    <a:pt x="1822282" y="37560"/>
                    <a:pt x="1830519" y="57446"/>
                    <a:pt x="1830519" y="78181"/>
                  </a:cubicBezTo>
                  <a:lnTo>
                    <a:pt x="1830519" y="185780"/>
                  </a:lnTo>
                  <a:cubicBezTo>
                    <a:pt x="1830519" y="206515"/>
                    <a:pt x="1822282" y="226400"/>
                    <a:pt x="1807620" y="241062"/>
                  </a:cubicBezTo>
                  <a:cubicBezTo>
                    <a:pt x="1792958" y="255724"/>
                    <a:pt x="1773073" y="263961"/>
                    <a:pt x="1752338" y="263961"/>
                  </a:cubicBezTo>
                  <a:lnTo>
                    <a:pt x="78181" y="263961"/>
                  </a:lnTo>
                  <a:cubicBezTo>
                    <a:pt x="57446" y="263961"/>
                    <a:pt x="37560" y="255724"/>
                    <a:pt x="22899" y="241062"/>
                  </a:cubicBezTo>
                  <a:cubicBezTo>
                    <a:pt x="8237" y="226400"/>
                    <a:pt x="0" y="206515"/>
                    <a:pt x="0" y="185780"/>
                  </a:cubicBezTo>
                  <a:lnTo>
                    <a:pt x="0" y="78181"/>
                  </a:lnTo>
                  <a:cubicBezTo>
                    <a:pt x="0" y="57446"/>
                    <a:pt x="8237" y="37560"/>
                    <a:pt x="22899" y="22899"/>
                  </a:cubicBezTo>
                  <a:cubicBezTo>
                    <a:pt x="37560" y="8237"/>
                    <a:pt x="57446" y="0"/>
                    <a:pt x="78181" y="0"/>
                  </a:cubicBezTo>
                  <a:close/>
                </a:path>
              </a:pathLst>
            </a:custGeom>
            <a:ln w="9525" cap="rnd">
              <a:solidFill>
                <a:srgbClr val="FFDE59"/>
              </a:solidFill>
              <a:prstDash val="solid"/>
              <a:round/>
            </a:ln>
          </p:spPr>
        </p:sp>
        <p:sp>
          <p:nvSpPr>
            <p:cNvPr name="TextBox 5" id="5"/>
            <p:cNvSpPr txBox="true"/>
            <p:nvPr/>
          </p:nvSpPr>
          <p:spPr>
            <a:xfrm>
              <a:off x="0" y="9525"/>
              <a:ext cx="1830519" cy="254436"/>
            </a:xfrm>
            <a:prstGeom prst="rect">
              <a:avLst/>
            </a:prstGeom>
          </p:spPr>
          <p:txBody>
            <a:bodyPr anchor="ctr" rtlCol="false" tIns="36190" lIns="36190" bIns="36190" rIns="36190"/>
            <a:lstStyle/>
            <a:p>
              <a:pPr algn="ctr">
                <a:lnSpc>
                  <a:spcPts val="1759"/>
                </a:lnSpc>
              </a:pPr>
            </a:p>
          </p:txBody>
        </p:sp>
      </p:grpSp>
      <p:sp>
        <p:nvSpPr>
          <p:cNvPr name="Freeform 6" id="6"/>
          <p:cNvSpPr/>
          <p:nvPr/>
        </p:nvSpPr>
        <p:spPr>
          <a:xfrm flipH="false" flipV="false" rot="0">
            <a:off x="13708304" y="703832"/>
            <a:ext cx="2501668" cy="2437989"/>
          </a:xfrm>
          <a:custGeom>
            <a:avLst/>
            <a:gdLst/>
            <a:ahLst/>
            <a:cxnLst/>
            <a:rect r="r" b="b" t="t" l="l"/>
            <a:pathLst>
              <a:path h="2437989" w="2501668">
                <a:moveTo>
                  <a:pt x="0" y="0"/>
                </a:moveTo>
                <a:lnTo>
                  <a:pt x="2501668" y="0"/>
                </a:lnTo>
                <a:lnTo>
                  <a:pt x="2501668" y="2437989"/>
                </a:lnTo>
                <a:lnTo>
                  <a:pt x="0" y="24379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6598113" y="22019"/>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grpSp>
        <p:nvGrpSpPr>
          <p:cNvPr name="Group 8" id="8"/>
          <p:cNvGrpSpPr/>
          <p:nvPr/>
        </p:nvGrpSpPr>
        <p:grpSpPr>
          <a:xfrm rot="0">
            <a:off x="13337133" y="1863794"/>
            <a:ext cx="4950867" cy="799386"/>
            <a:chOff x="0" y="0"/>
            <a:chExt cx="1690707" cy="272988"/>
          </a:xfrm>
        </p:grpSpPr>
        <p:sp>
          <p:nvSpPr>
            <p:cNvPr name="Freeform 9" id="9"/>
            <p:cNvSpPr/>
            <p:nvPr/>
          </p:nvSpPr>
          <p:spPr>
            <a:xfrm flipH="false" flipV="false" rot="0">
              <a:off x="0" y="0"/>
              <a:ext cx="1690707" cy="272988"/>
            </a:xfrm>
            <a:custGeom>
              <a:avLst/>
              <a:gdLst/>
              <a:ahLst/>
              <a:cxnLst/>
              <a:rect r="r" b="b" t="t" l="l"/>
              <a:pathLst>
                <a:path h="272988" w="1690707">
                  <a:moveTo>
                    <a:pt x="78188" y="0"/>
                  </a:moveTo>
                  <a:lnTo>
                    <a:pt x="1612520" y="0"/>
                  </a:lnTo>
                  <a:cubicBezTo>
                    <a:pt x="1633256" y="0"/>
                    <a:pt x="1653144" y="8238"/>
                    <a:pt x="1667807" y="22901"/>
                  </a:cubicBezTo>
                  <a:cubicBezTo>
                    <a:pt x="1682470" y="37564"/>
                    <a:pt x="1690707" y="57451"/>
                    <a:pt x="1690707" y="78188"/>
                  </a:cubicBezTo>
                  <a:lnTo>
                    <a:pt x="1690707" y="194800"/>
                  </a:lnTo>
                  <a:cubicBezTo>
                    <a:pt x="1690707" y="237982"/>
                    <a:pt x="1655701" y="272988"/>
                    <a:pt x="1612520" y="272988"/>
                  </a:cubicBezTo>
                  <a:lnTo>
                    <a:pt x="78188" y="272988"/>
                  </a:lnTo>
                  <a:cubicBezTo>
                    <a:pt x="35006" y="272988"/>
                    <a:pt x="0" y="237982"/>
                    <a:pt x="0" y="194800"/>
                  </a:cubicBezTo>
                  <a:lnTo>
                    <a:pt x="0" y="78188"/>
                  </a:lnTo>
                  <a:cubicBezTo>
                    <a:pt x="0" y="35006"/>
                    <a:pt x="35006" y="0"/>
                    <a:pt x="78188" y="0"/>
                  </a:cubicBezTo>
                  <a:close/>
                </a:path>
              </a:pathLst>
            </a:custGeom>
            <a:ln w="9525" cap="rnd">
              <a:solidFill>
                <a:srgbClr val="FFDE59"/>
              </a:solidFill>
              <a:prstDash val="solid"/>
              <a:round/>
            </a:ln>
          </p:spPr>
        </p:sp>
        <p:sp>
          <p:nvSpPr>
            <p:cNvPr name="TextBox 10" id="10"/>
            <p:cNvSpPr txBox="true"/>
            <p:nvPr/>
          </p:nvSpPr>
          <p:spPr>
            <a:xfrm>
              <a:off x="0" y="9525"/>
              <a:ext cx="1690707" cy="263463"/>
            </a:xfrm>
            <a:prstGeom prst="rect">
              <a:avLst/>
            </a:prstGeom>
          </p:spPr>
          <p:txBody>
            <a:bodyPr anchor="ctr" rtlCol="false" tIns="50800" lIns="50800" bIns="50800" rIns="50800"/>
            <a:lstStyle/>
            <a:p>
              <a:pPr algn="ctr">
                <a:lnSpc>
                  <a:spcPts val="1760"/>
                </a:lnSpc>
              </a:pPr>
            </a:p>
          </p:txBody>
        </p:sp>
      </p:grpSp>
      <p:sp>
        <p:nvSpPr>
          <p:cNvPr name="TextBox 11" id="11"/>
          <p:cNvSpPr txBox="true"/>
          <p:nvPr/>
        </p:nvSpPr>
        <p:spPr>
          <a:xfrm rot="0">
            <a:off x="9496409" y="1091661"/>
            <a:ext cx="5940798" cy="771346"/>
          </a:xfrm>
          <a:prstGeom prst="rect">
            <a:avLst/>
          </a:prstGeom>
        </p:spPr>
        <p:txBody>
          <a:bodyPr anchor="t" rtlCol="false" tIns="0" lIns="0" bIns="0" rIns="0">
            <a:spAutoFit/>
          </a:bodyPr>
          <a:lstStyle/>
          <a:p>
            <a:pPr algn="ctr">
              <a:lnSpc>
                <a:spcPts val="6310"/>
              </a:lnSpc>
            </a:pPr>
            <a:r>
              <a:rPr lang="en-US" sz="4507" b="true">
                <a:solidFill>
                  <a:srgbClr val="F7C215"/>
                </a:solidFill>
                <a:latin typeface="Canva Sans Bold"/>
                <a:ea typeface="Canva Sans Bold"/>
                <a:cs typeface="Canva Sans Bold"/>
                <a:sym typeface="Canva Sans Bold"/>
              </a:rPr>
              <a:t>EXISTING</a:t>
            </a:r>
          </a:p>
        </p:txBody>
      </p:sp>
      <p:sp>
        <p:nvSpPr>
          <p:cNvPr name="TextBox 12" id="12"/>
          <p:cNvSpPr txBox="true"/>
          <p:nvPr/>
        </p:nvSpPr>
        <p:spPr>
          <a:xfrm rot="0">
            <a:off x="14319380" y="1768544"/>
            <a:ext cx="3781185" cy="755937"/>
          </a:xfrm>
          <a:prstGeom prst="rect">
            <a:avLst/>
          </a:prstGeom>
        </p:spPr>
        <p:txBody>
          <a:bodyPr anchor="t" rtlCol="false" tIns="0" lIns="0" bIns="0" rIns="0">
            <a:spAutoFit/>
          </a:bodyPr>
          <a:lstStyle/>
          <a:p>
            <a:pPr algn="ctr">
              <a:lnSpc>
                <a:spcPts val="6108"/>
              </a:lnSpc>
            </a:pPr>
            <a:r>
              <a:rPr lang="en-US" sz="4362" b="true">
                <a:solidFill>
                  <a:srgbClr val="F7C215"/>
                </a:solidFill>
                <a:latin typeface="Canva Sans Bold"/>
                <a:ea typeface="Canva Sans Bold"/>
                <a:cs typeface="Canva Sans Bold"/>
                <a:sym typeface="Canva Sans Bold"/>
              </a:rPr>
              <a:t>APPROACHES</a:t>
            </a:r>
          </a:p>
        </p:txBody>
      </p:sp>
      <p:sp>
        <p:nvSpPr>
          <p:cNvPr name="Freeform 13" id="1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340257" y="239946"/>
            <a:ext cx="937440" cy="937440"/>
          </a:xfrm>
          <a:custGeom>
            <a:avLst/>
            <a:gdLst/>
            <a:ahLst/>
            <a:cxnLst/>
            <a:rect r="r" b="b" t="t" l="l"/>
            <a:pathLst>
              <a:path h="937440" w="937440">
                <a:moveTo>
                  <a:pt x="0" y="0"/>
                </a:moveTo>
                <a:lnTo>
                  <a:pt x="937441" y="0"/>
                </a:lnTo>
                <a:lnTo>
                  <a:pt x="937441" y="937440"/>
                </a:lnTo>
                <a:lnTo>
                  <a:pt x="0" y="937440"/>
                </a:lnTo>
                <a:lnTo>
                  <a:pt x="0" y="0"/>
                </a:lnTo>
                <a:close/>
              </a:path>
            </a:pathLst>
          </a:custGeom>
          <a:blipFill>
            <a:blip r:embed="rId7"/>
            <a:stretch>
              <a:fillRect l="0" t="0" r="0" b="0"/>
            </a:stretch>
          </a:blipFill>
        </p:spPr>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7528506" y="1208849"/>
            <a:ext cx="7908701" cy="752636"/>
            <a:chOff x="0" y="0"/>
            <a:chExt cx="2923881" cy="278253"/>
          </a:xfrm>
        </p:grpSpPr>
        <p:sp>
          <p:nvSpPr>
            <p:cNvPr name="Freeform 4" id="4"/>
            <p:cNvSpPr/>
            <p:nvPr/>
          </p:nvSpPr>
          <p:spPr>
            <a:xfrm flipH="false" flipV="false" rot="0">
              <a:off x="0" y="0"/>
              <a:ext cx="2923881" cy="278253"/>
            </a:xfrm>
            <a:custGeom>
              <a:avLst/>
              <a:gdLst/>
              <a:ahLst/>
              <a:cxnLst/>
              <a:rect r="r" b="b" t="t" l="l"/>
              <a:pathLst>
                <a:path h="278253" w="2923881">
                  <a:moveTo>
                    <a:pt x="48946" y="0"/>
                  </a:moveTo>
                  <a:lnTo>
                    <a:pt x="2874936" y="0"/>
                  </a:lnTo>
                  <a:cubicBezTo>
                    <a:pt x="2887917" y="0"/>
                    <a:pt x="2900366" y="5157"/>
                    <a:pt x="2909545" y="14336"/>
                  </a:cubicBezTo>
                  <a:cubicBezTo>
                    <a:pt x="2918725" y="23515"/>
                    <a:pt x="2923881" y="35964"/>
                    <a:pt x="2923881" y="48946"/>
                  </a:cubicBezTo>
                  <a:lnTo>
                    <a:pt x="2923881" y="229307"/>
                  </a:lnTo>
                  <a:cubicBezTo>
                    <a:pt x="2923881" y="256339"/>
                    <a:pt x="2901968" y="278253"/>
                    <a:pt x="2874936" y="278253"/>
                  </a:cubicBezTo>
                  <a:lnTo>
                    <a:pt x="48946" y="278253"/>
                  </a:lnTo>
                  <a:cubicBezTo>
                    <a:pt x="35964" y="278253"/>
                    <a:pt x="23515" y="273096"/>
                    <a:pt x="14336" y="263917"/>
                  </a:cubicBezTo>
                  <a:cubicBezTo>
                    <a:pt x="5157" y="254738"/>
                    <a:pt x="0" y="242288"/>
                    <a:pt x="0" y="229307"/>
                  </a:cubicBezTo>
                  <a:lnTo>
                    <a:pt x="0" y="48946"/>
                  </a:lnTo>
                  <a:cubicBezTo>
                    <a:pt x="0" y="21914"/>
                    <a:pt x="21914" y="0"/>
                    <a:pt x="48946" y="0"/>
                  </a:cubicBezTo>
                  <a:close/>
                </a:path>
              </a:pathLst>
            </a:custGeom>
            <a:ln w="9525" cap="rnd">
              <a:solidFill>
                <a:srgbClr val="FFDE59"/>
              </a:solidFill>
              <a:prstDash val="solid"/>
              <a:round/>
            </a:ln>
          </p:spPr>
        </p:sp>
        <p:sp>
          <p:nvSpPr>
            <p:cNvPr name="TextBox 5" id="5"/>
            <p:cNvSpPr txBox="true"/>
            <p:nvPr/>
          </p:nvSpPr>
          <p:spPr>
            <a:xfrm>
              <a:off x="0" y="9525"/>
              <a:ext cx="2923881" cy="268728"/>
            </a:xfrm>
            <a:prstGeom prst="rect">
              <a:avLst/>
            </a:prstGeom>
          </p:spPr>
          <p:txBody>
            <a:bodyPr anchor="ctr" rtlCol="false" tIns="36190" lIns="36190" bIns="36190" rIns="36190"/>
            <a:lstStyle/>
            <a:p>
              <a:pPr algn="ctr">
                <a:lnSpc>
                  <a:spcPts val="1759"/>
                </a:lnSpc>
              </a:pPr>
            </a:p>
          </p:txBody>
        </p:sp>
      </p:grpSp>
      <p:sp>
        <p:nvSpPr>
          <p:cNvPr name="TextBox 6" id="6"/>
          <p:cNvSpPr txBox="true"/>
          <p:nvPr/>
        </p:nvSpPr>
        <p:spPr>
          <a:xfrm rot="0">
            <a:off x="16779613" y="-76200"/>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sp>
        <p:nvSpPr>
          <p:cNvPr name="Freeform 7" id="7"/>
          <p:cNvSpPr/>
          <p:nvPr/>
        </p:nvSpPr>
        <p:spPr>
          <a:xfrm flipH="false" flipV="false" rot="0">
            <a:off x="13246419" y="720132"/>
            <a:ext cx="2605863" cy="2539532"/>
          </a:xfrm>
          <a:custGeom>
            <a:avLst/>
            <a:gdLst/>
            <a:ahLst/>
            <a:cxnLst/>
            <a:rect r="r" b="b" t="t" l="l"/>
            <a:pathLst>
              <a:path h="2539532" w="2605863">
                <a:moveTo>
                  <a:pt x="0" y="0"/>
                </a:moveTo>
                <a:lnTo>
                  <a:pt x="2605863" y="0"/>
                </a:lnTo>
                <a:lnTo>
                  <a:pt x="2605863" y="2539533"/>
                </a:lnTo>
                <a:lnTo>
                  <a:pt x="0" y="25395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3416565" y="1922826"/>
            <a:ext cx="4871435" cy="792298"/>
            <a:chOff x="0" y="0"/>
            <a:chExt cx="1663582" cy="270567"/>
          </a:xfrm>
        </p:grpSpPr>
        <p:sp>
          <p:nvSpPr>
            <p:cNvPr name="Freeform 9" id="9"/>
            <p:cNvSpPr/>
            <p:nvPr/>
          </p:nvSpPr>
          <p:spPr>
            <a:xfrm flipH="false" flipV="false" rot="0">
              <a:off x="0" y="0"/>
              <a:ext cx="1663582" cy="270567"/>
            </a:xfrm>
            <a:custGeom>
              <a:avLst/>
              <a:gdLst/>
              <a:ahLst/>
              <a:cxnLst/>
              <a:rect r="r" b="b" t="t" l="l"/>
              <a:pathLst>
                <a:path h="270567" w="1663582">
                  <a:moveTo>
                    <a:pt x="79462" y="0"/>
                  </a:moveTo>
                  <a:lnTo>
                    <a:pt x="1584119" y="0"/>
                  </a:lnTo>
                  <a:cubicBezTo>
                    <a:pt x="1628005" y="0"/>
                    <a:pt x="1663582" y="35577"/>
                    <a:pt x="1663582" y="79462"/>
                  </a:cubicBezTo>
                  <a:lnTo>
                    <a:pt x="1663582" y="191105"/>
                  </a:lnTo>
                  <a:cubicBezTo>
                    <a:pt x="1663582" y="234991"/>
                    <a:pt x="1628005" y="270567"/>
                    <a:pt x="1584119" y="270567"/>
                  </a:cubicBezTo>
                  <a:lnTo>
                    <a:pt x="79462" y="270567"/>
                  </a:lnTo>
                  <a:cubicBezTo>
                    <a:pt x="58388" y="270567"/>
                    <a:pt x="38176" y="262196"/>
                    <a:pt x="23274" y="247293"/>
                  </a:cubicBezTo>
                  <a:cubicBezTo>
                    <a:pt x="8372" y="232391"/>
                    <a:pt x="0" y="212180"/>
                    <a:pt x="0" y="191105"/>
                  </a:cubicBezTo>
                  <a:lnTo>
                    <a:pt x="0" y="79462"/>
                  </a:lnTo>
                  <a:cubicBezTo>
                    <a:pt x="0" y="35577"/>
                    <a:pt x="35577" y="0"/>
                    <a:pt x="79462" y="0"/>
                  </a:cubicBezTo>
                  <a:close/>
                </a:path>
              </a:pathLst>
            </a:custGeom>
            <a:ln w="9525" cap="rnd">
              <a:solidFill>
                <a:srgbClr val="FFDE59"/>
              </a:solidFill>
              <a:prstDash val="solid"/>
              <a:round/>
            </a:ln>
          </p:spPr>
        </p:sp>
        <p:sp>
          <p:nvSpPr>
            <p:cNvPr name="TextBox 10" id="10"/>
            <p:cNvSpPr txBox="true"/>
            <p:nvPr/>
          </p:nvSpPr>
          <p:spPr>
            <a:xfrm>
              <a:off x="0" y="9525"/>
              <a:ext cx="1663582" cy="261042"/>
            </a:xfrm>
            <a:prstGeom prst="rect">
              <a:avLst/>
            </a:prstGeom>
          </p:spPr>
          <p:txBody>
            <a:bodyPr anchor="ctr" rtlCol="false" tIns="50800" lIns="50800" bIns="50800" rIns="50800"/>
            <a:lstStyle/>
            <a:p>
              <a:pPr algn="ctr">
                <a:lnSpc>
                  <a:spcPts val="1760"/>
                </a:lnSpc>
              </a:pPr>
            </a:p>
          </p:txBody>
        </p:sp>
      </p:grpSp>
      <p:sp>
        <p:nvSpPr>
          <p:cNvPr name="Freeform 11" id="11"/>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7"/>
            <a:stretch>
              <a:fillRect l="0" t="0" r="0" b="0"/>
            </a:stretch>
          </a:blipFill>
        </p:spPr>
      </p:sp>
      <p:sp>
        <p:nvSpPr>
          <p:cNvPr name="TextBox 13" id="13"/>
          <p:cNvSpPr txBox="true"/>
          <p:nvPr/>
        </p:nvSpPr>
        <p:spPr>
          <a:xfrm rot="0">
            <a:off x="7920383" y="1123124"/>
            <a:ext cx="6653893" cy="763023"/>
          </a:xfrm>
          <a:prstGeom prst="rect">
            <a:avLst/>
          </a:prstGeom>
        </p:spPr>
        <p:txBody>
          <a:bodyPr anchor="t" rtlCol="false" tIns="0" lIns="0" bIns="0" rIns="0">
            <a:spAutoFit/>
          </a:bodyPr>
          <a:lstStyle/>
          <a:p>
            <a:pPr algn="ctr">
              <a:lnSpc>
                <a:spcPts val="6245"/>
              </a:lnSpc>
            </a:pPr>
            <a:r>
              <a:rPr lang="en-US" sz="4461" b="true">
                <a:solidFill>
                  <a:srgbClr val="F7C215"/>
                </a:solidFill>
                <a:latin typeface="Canva Sans Bold"/>
                <a:ea typeface="Canva Sans Bold"/>
                <a:cs typeface="Canva Sans Bold"/>
                <a:sym typeface="Canva Sans Bold"/>
              </a:rPr>
              <a:t>PROBLEMS IN EXISTING</a:t>
            </a:r>
          </a:p>
        </p:txBody>
      </p:sp>
      <p:sp>
        <p:nvSpPr>
          <p:cNvPr name="TextBox 14" id="14"/>
          <p:cNvSpPr txBox="true"/>
          <p:nvPr/>
        </p:nvSpPr>
        <p:spPr>
          <a:xfrm rot="0">
            <a:off x="14289011" y="1804763"/>
            <a:ext cx="3943231" cy="757120"/>
          </a:xfrm>
          <a:prstGeom prst="rect">
            <a:avLst/>
          </a:prstGeom>
        </p:spPr>
        <p:txBody>
          <a:bodyPr anchor="t" rtlCol="false" tIns="0" lIns="0" bIns="0" rIns="0">
            <a:spAutoFit/>
          </a:bodyPr>
          <a:lstStyle/>
          <a:p>
            <a:pPr algn="ctr">
              <a:lnSpc>
                <a:spcPts val="6131"/>
              </a:lnSpc>
            </a:pPr>
            <a:r>
              <a:rPr lang="en-US" sz="4379" b="true">
                <a:solidFill>
                  <a:srgbClr val="F7C215"/>
                </a:solidFill>
                <a:latin typeface="Canva Sans Bold"/>
                <a:ea typeface="Canva Sans Bold"/>
                <a:cs typeface="Canva Sans Bold"/>
                <a:sym typeface="Canva Sans Bold"/>
              </a:rPr>
              <a:t>APPROACHES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844564" y="4118430"/>
            <a:ext cx="10330252" cy="628628"/>
            <a:chOff x="0" y="0"/>
            <a:chExt cx="6541303" cy="398059"/>
          </a:xfrm>
        </p:grpSpPr>
        <p:sp>
          <p:nvSpPr>
            <p:cNvPr name="Freeform 5" id="5"/>
            <p:cNvSpPr/>
            <p:nvPr/>
          </p:nvSpPr>
          <p:spPr>
            <a:xfrm flipH="false" flipV="false" rot="0">
              <a:off x="0" y="0"/>
              <a:ext cx="6541302" cy="398059"/>
            </a:xfrm>
            <a:custGeom>
              <a:avLst/>
              <a:gdLst/>
              <a:ahLst/>
              <a:cxnLst/>
              <a:rect r="r" b="b" t="t" l="l"/>
              <a:pathLst>
                <a:path h="398059" w="6541302">
                  <a:moveTo>
                    <a:pt x="6541302" y="199029"/>
                  </a:moveTo>
                  <a:lnTo>
                    <a:pt x="6338103" y="398059"/>
                  </a:lnTo>
                  <a:lnTo>
                    <a:pt x="203200" y="398059"/>
                  </a:lnTo>
                  <a:lnTo>
                    <a:pt x="0" y="199029"/>
                  </a:lnTo>
                  <a:lnTo>
                    <a:pt x="203200" y="0"/>
                  </a:lnTo>
                  <a:lnTo>
                    <a:pt x="6338103" y="0"/>
                  </a:lnTo>
                  <a:lnTo>
                    <a:pt x="6541302" y="199029"/>
                  </a:lnTo>
                  <a:close/>
                </a:path>
              </a:pathLst>
            </a:custGeom>
            <a:ln w="9525" cap="sq">
              <a:solidFill>
                <a:srgbClr val="FFDE59"/>
              </a:solidFill>
              <a:prstDash val="solid"/>
              <a:miter/>
            </a:ln>
          </p:spPr>
        </p:sp>
        <p:sp>
          <p:nvSpPr>
            <p:cNvPr name="TextBox 6" id="6"/>
            <p:cNvSpPr txBox="true"/>
            <p:nvPr/>
          </p:nvSpPr>
          <p:spPr>
            <a:xfrm>
              <a:off x="114300" y="9525"/>
              <a:ext cx="6312703" cy="388534"/>
            </a:xfrm>
            <a:prstGeom prst="rect">
              <a:avLst/>
            </a:prstGeom>
          </p:spPr>
          <p:txBody>
            <a:bodyPr anchor="ctr" rtlCol="false" tIns="50800" lIns="50800" bIns="50800" rIns="50800"/>
            <a:lstStyle/>
            <a:p>
              <a:pPr algn="ctr">
                <a:lnSpc>
                  <a:spcPts val="1760"/>
                </a:lnSpc>
              </a:pPr>
            </a:p>
          </p:txBody>
        </p:sp>
      </p:grpSp>
      <p:grpSp>
        <p:nvGrpSpPr>
          <p:cNvPr name="Group 7" id="7"/>
          <p:cNvGrpSpPr/>
          <p:nvPr/>
        </p:nvGrpSpPr>
        <p:grpSpPr>
          <a:xfrm rot="0">
            <a:off x="9253761" y="4195101"/>
            <a:ext cx="11588260" cy="503252"/>
            <a:chOff x="0" y="0"/>
            <a:chExt cx="3052052" cy="132544"/>
          </a:xfrm>
        </p:grpSpPr>
        <p:sp>
          <p:nvSpPr>
            <p:cNvPr name="Freeform 8" id="8"/>
            <p:cNvSpPr/>
            <p:nvPr/>
          </p:nvSpPr>
          <p:spPr>
            <a:xfrm flipH="false" flipV="false" rot="0">
              <a:off x="0" y="0"/>
              <a:ext cx="3052052" cy="132544"/>
            </a:xfrm>
            <a:custGeom>
              <a:avLst/>
              <a:gdLst/>
              <a:ahLst/>
              <a:cxnLst/>
              <a:rect r="r" b="b" t="t" l="l"/>
              <a:pathLst>
                <a:path h="132544" w="3052052">
                  <a:moveTo>
                    <a:pt x="33404" y="0"/>
                  </a:moveTo>
                  <a:lnTo>
                    <a:pt x="3018648" y="0"/>
                  </a:lnTo>
                  <a:cubicBezTo>
                    <a:pt x="3027507" y="0"/>
                    <a:pt x="3036004" y="3519"/>
                    <a:pt x="3042268" y="9784"/>
                  </a:cubicBezTo>
                  <a:cubicBezTo>
                    <a:pt x="3048533" y="16048"/>
                    <a:pt x="3052052" y="24545"/>
                    <a:pt x="3052052" y="33404"/>
                  </a:cubicBezTo>
                  <a:lnTo>
                    <a:pt x="3052052" y="99140"/>
                  </a:lnTo>
                  <a:cubicBezTo>
                    <a:pt x="3052052" y="107999"/>
                    <a:pt x="3048533" y="116495"/>
                    <a:pt x="3042268" y="122760"/>
                  </a:cubicBezTo>
                  <a:cubicBezTo>
                    <a:pt x="3036004" y="129024"/>
                    <a:pt x="3027507" y="132544"/>
                    <a:pt x="3018648" y="132544"/>
                  </a:cubicBezTo>
                  <a:lnTo>
                    <a:pt x="33404" y="132544"/>
                  </a:lnTo>
                  <a:cubicBezTo>
                    <a:pt x="14956" y="132544"/>
                    <a:pt x="0" y="117588"/>
                    <a:pt x="0" y="99140"/>
                  </a:cubicBezTo>
                  <a:lnTo>
                    <a:pt x="0" y="33404"/>
                  </a:lnTo>
                  <a:cubicBezTo>
                    <a:pt x="0" y="24545"/>
                    <a:pt x="3519" y="16048"/>
                    <a:pt x="9784" y="9784"/>
                  </a:cubicBezTo>
                  <a:cubicBezTo>
                    <a:pt x="16048" y="3519"/>
                    <a:pt x="24545" y="0"/>
                    <a:pt x="33404" y="0"/>
                  </a:cubicBezTo>
                  <a:close/>
                </a:path>
              </a:pathLst>
            </a:custGeom>
            <a:solidFill>
              <a:srgbClr val="FFDE59"/>
            </a:solidFill>
          </p:spPr>
        </p:sp>
        <p:sp>
          <p:nvSpPr>
            <p:cNvPr name="TextBox 9" id="9"/>
            <p:cNvSpPr txBox="true"/>
            <p:nvPr/>
          </p:nvSpPr>
          <p:spPr>
            <a:xfrm>
              <a:off x="0" y="9525"/>
              <a:ext cx="3052052" cy="123019"/>
            </a:xfrm>
            <a:prstGeom prst="rect">
              <a:avLst/>
            </a:prstGeom>
          </p:spPr>
          <p:txBody>
            <a:bodyPr anchor="ctr" rtlCol="false" tIns="50800" lIns="50800" bIns="50800" rIns="50800"/>
            <a:lstStyle/>
            <a:p>
              <a:pPr algn="ctr">
                <a:lnSpc>
                  <a:spcPts val="1760"/>
                </a:lnSpc>
              </a:pPr>
            </a:p>
          </p:txBody>
        </p:sp>
      </p:grpSp>
      <p:sp>
        <p:nvSpPr>
          <p:cNvPr name="Freeform 10" id="10"/>
          <p:cNvSpPr/>
          <p:nvPr/>
        </p:nvSpPr>
        <p:spPr>
          <a:xfrm flipH="false" flipV="false" rot="0">
            <a:off x="16717442" y="9227430"/>
            <a:ext cx="579958" cy="579958"/>
          </a:xfrm>
          <a:custGeom>
            <a:avLst/>
            <a:gdLst/>
            <a:ahLst/>
            <a:cxnLst/>
            <a:rect r="r" b="b" t="t" l="l"/>
            <a:pathLst>
              <a:path h="579958" w="579958">
                <a:moveTo>
                  <a:pt x="0" y="0"/>
                </a:moveTo>
                <a:lnTo>
                  <a:pt x="579958" y="0"/>
                </a:lnTo>
                <a:lnTo>
                  <a:pt x="579958" y="579958"/>
                </a:lnTo>
                <a:lnTo>
                  <a:pt x="0" y="5799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1876858" y="1169067"/>
            <a:ext cx="2605863" cy="2539532"/>
          </a:xfrm>
          <a:custGeom>
            <a:avLst/>
            <a:gdLst/>
            <a:ahLst/>
            <a:cxnLst/>
            <a:rect r="r" b="b" t="t" l="l"/>
            <a:pathLst>
              <a:path h="2539532" w="2605863">
                <a:moveTo>
                  <a:pt x="0" y="0"/>
                </a:moveTo>
                <a:lnTo>
                  <a:pt x="2605864" y="0"/>
                </a:lnTo>
                <a:lnTo>
                  <a:pt x="2605864" y="2539533"/>
                </a:lnTo>
                <a:lnTo>
                  <a:pt x="0" y="253953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9673005" y="4257801"/>
            <a:ext cx="7691945" cy="778510"/>
          </a:xfrm>
          <a:prstGeom prst="rect">
            <a:avLst/>
          </a:prstGeom>
        </p:spPr>
        <p:txBody>
          <a:bodyPr anchor="t" rtlCol="false" tIns="0" lIns="0" bIns="0" rIns="0">
            <a:spAutoFit/>
          </a:bodyPr>
          <a:lstStyle/>
          <a:p>
            <a:pPr algn="ctr" marL="0" indent="0" lvl="0">
              <a:lnSpc>
                <a:spcPts val="3079"/>
              </a:lnSpc>
              <a:spcBef>
                <a:spcPct val="0"/>
              </a:spcBef>
            </a:pPr>
            <a:r>
              <a:rPr lang="en-US" b="true" sz="2799">
                <a:solidFill>
                  <a:srgbClr val="000000"/>
                </a:solidFill>
                <a:latin typeface="Space Mono Bold"/>
                <a:ea typeface="Space Mono Bold"/>
                <a:cs typeface="Space Mono Bold"/>
                <a:sym typeface="Space Mono Bold"/>
              </a:rPr>
              <a:t>SETUP    AUTOMATED DEPLOYMENT</a:t>
            </a:r>
          </a:p>
        </p:txBody>
      </p:sp>
      <p:sp>
        <p:nvSpPr>
          <p:cNvPr name="TextBox 13" id="13"/>
          <p:cNvSpPr txBox="true"/>
          <p:nvPr/>
        </p:nvSpPr>
        <p:spPr>
          <a:xfrm rot="0">
            <a:off x="8768970" y="1235742"/>
            <a:ext cx="8821640" cy="1626447"/>
          </a:xfrm>
          <a:prstGeom prst="rect">
            <a:avLst/>
          </a:prstGeom>
        </p:spPr>
        <p:txBody>
          <a:bodyPr anchor="t" rtlCol="false" tIns="0" lIns="0" bIns="0" rIns="0">
            <a:spAutoFit/>
          </a:bodyPr>
          <a:lstStyle/>
          <a:p>
            <a:pPr algn="l">
              <a:lnSpc>
                <a:spcPts val="6239"/>
              </a:lnSpc>
            </a:pPr>
            <a:r>
              <a:rPr lang="en-US" sz="5999">
                <a:solidFill>
                  <a:srgbClr val="FFDE59"/>
                </a:solidFill>
                <a:latin typeface="Bicubik"/>
                <a:ea typeface="Bicubik"/>
                <a:cs typeface="Bicubik"/>
                <a:sym typeface="Bicubik"/>
              </a:rPr>
              <a:t>WHAT IS </a:t>
            </a:r>
          </a:p>
          <a:p>
            <a:pPr algn="l">
              <a:lnSpc>
                <a:spcPts val="6239"/>
              </a:lnSpc>
            </a:pPr>
            <a:r>
              <a:rPr lang="en-US" sz="5999">
                <a:solidFill>
                  <a:srgbClr val="FFDE59"/>
                </a:solidFill>
                <a:latin typeface="Bicubik"/>
                <a:ea typeface="Bicubik"/>
                <a:cs typeface="Bicubik"/>
                <a:sym typeface="Bicubik"/>
              </a:rPr>
              <a:t>           RAPID FIRE?</a:t>
            </a:r>
          </a:p>
        </p:txBody>
      </p:sp>
      <p:grpSp>
        <p:nvGrpSpPr>
          <p:cNvPr name="Group 14" id="14"/>
          <p:cNvGrpSpPr/>
          <p:nvPr/>
        </p:nvGrpSpPr>
        <p:grpSpPr>
          <a:xfrm rot="0">
            <a:off x="-875619" y="5377141"/>
            <a:ext cx="18568426" cy="1435786"/>
            <a:chOff x="0" y="0"/>
            <a:chExt cx="4890450" cy="378150"/>
          </a:xfrm>
        </p:grpSpPr>
        <p:sp>
          <p:nvSpPr>
            <p:cNvPr name="Freeform 15" id="15"/>
            <p:cNvSpPr/>
            <p:nvPr/>
          </p:nvSpPr>
          <p:spPr>
            <a:xfrm flipH="false" flipV="false" rot="0">
              <a:off x="0" y="0"/>
              <a:ext cx="4890450" cy="378150"/>
            </a:xfrm>
            <a:custGeom>
              <a:avLst/>
              <a:gdLst/>
              <a:ahLst/>
              <a:cxnLst/>
              <a:rect r="r" b="b" t="t" l="l"/>
              <a:pathLst>
                <a:path h="378150" w="4890450">
                  <a:moveTo>
                    <a:pt x="41694" y="0"/>
                  </a:moveTo>
                  <a:lnTo>
                    <a:pt x="4848756" y="0"/>
                  </a:lnTo>
                  <a:cubicBezTo>
                    <a:pt x="4871782" y="0"/>
                    <a:pt x="4890450" y="18667"/>
                    <a:pt x="4890450" y="41694"/>
                  </a:cubicBezTo>
                  <a:lnTo>
                    <a:pt x="4890450" y="336456"/>
                  </a:lnTo>
                  <a:cubicBezTo>
                    <a:pt x="4890450" y="359482"/>
                    <a:pt x="4871782" y="378150"/>
                    <a:pt x="4848756" y="378150"/>
                  </a:cubicBezTo>
                  <a:lnTo>
                    <a:pt x="41694" y="378150"/>
                  </a:lnTo>
                  <a:cubicBezTo>
                    <a:pt x="18667" y="378150"/>
                    <a:pt x="0" y="359482"/>
                    <a:pt x="0" y="336456"/>
                  </a:cubicBezTo>
                  <a:lnTo>
                    <a:pt x="0" y="41694"/>
                  </a:lnTo>
                  <a:cubicBezTo>
                    <a:pt x="0" y="18667"/>
                    <a:pt x="18667" y="0"/>
                    <a:pt x="41694" y="0"/>
                  </a:cubicBezTo>
                  <a:close/>
                </a:path>
              </a:pathLst>
            </a:custGeom>
            <a:solidFill>
              <a:srgbClr val="F7C215"/>
            </a:solidFill>
          </p:spPr>
        </p:sp>
        <p:sp>
          <p:nvSpPr>
            <p:cNvPr name="TextBox 16" id="16"/>
            <p:cNvSpPr txBox="true"/>
            <p:nvPr/>
          </p:nvSpPr>
          <p:spPr>
            <a:xfrm>
              <a:off x="0" y="9525"/>
              <a:ext cx="4890450" cy="368625"/>
            </a:xfrm>
            <a:prstGeom prst="rect">
              <a:avLst/>
            </a:prstGeom>
          </p:spPr>
          <p:txBody>
            <a:bodyPr anchor="ctr" rtlCol="false" tIns="50800" lIns="50800" bIns="50800" rIns="50800"/>
            <a:lstStyle/>
            <a:p>
              <a:pPr algn="ctr">
                <a:lnSpc>
                  <a:spcPts val="1760"/>
                </a:lnSpc>
              </a:pPr>
            </a:p>
          </p:txBody>
        </p:sp>
      </p:grpSp>
      <p:sp>
        <p:nvSpPr>
          <p:cNvPr name="TextBox 17" id="17"/>
          <p:cNvSpPr txBox="true"/>
          <p:nvPr/>
        </p:nvSpPr>
        <p:spPr>
          <a:xfrm rot="0">
            <a:off x="354095" y="4886696"/>
            <a:ext cx="1791522" cy="235500"/>
          </a:xfrm>
          <a:prstGeom prst="rect">
            <a:avLst/>
          </a:prstGeom>
        </p:spPr>
        <p:txBody>
          <a:bodyPr anchor="t" rtlCol="false" tIns="0" lIns="0" bIns="0" rIns="0">
            <a:spAutoFit/>
          </a:bodyPr>
          <a:lstStyle/>
          <a:p>
            <a:pPr algn="just">
              <a:lnSpc>
                <a:spcPts val="1811"/>
              </a:lnSpc>
            </a:pPr>
            <a:r>
              <a:rPr lang="en-US" sz="1647" i="true">
                <a:solidFill>
                  <a:srgbClr val="FFFFFF"/>
                </a:solidFill>
                <a:latin typeface="Space Mono Italics"/>
                <a:ea typeface="Space Mono Italics"/>
                <a:cs typeface="Space Mono Italics"/>
                <a:sym typeface="Space Mono Italics"/>
              </a:rPr>
              <a:t>WHAT IT DOES?</a:t>
            </a:r>
          </a:p>
        </p:txBody>
      </p:sp>
      <p:grpSp>
        <p:nvGrpSpPr>
          <p:cNvPr name="Group 18" id="18"/>
          <p:cNvGrpSpPr/>
          <p:nvPr/>
        </p:nvGrpSpPr>
        <p:grpSpPr>
          <a:xfrm rot="0">
            <a:off x="-2311525" y="4788478"/>
            <a:ext cx="5671529" cy="422411"/>
            <a:chOff x="0" y="0"/>
            <a:chExt cx="3591315" cy="267479"/>
          </a:xfrm>
        </p:grpSpPr>
        <p:sp>
          <p:nvSpPr>
            <p:cNvPr name="Freeform 19" id="19"/>
            <p:cNvSpPr/>
            <p:nvPr/>
          </p:nvSpPr>
          <p:spPr>
            <a:xfrm flipH="false" flipV="false" rot="0">
              <a:off x="0" y="0"/>
              <a:ext cx="3591315" cy="267479"/>
            </a:xfrm>
            <a:custGeom>
              <a:avLst/>
              <a:gdLst/>
              <a:ahLst/>
              <a:cxnLst/>
              <a:rect r="r" b="b" t="t" l="l"/>
              <a:pathLst>
                <a:path h="267479" w="3591315">
                  <a:moveTo>
                    <a:pt x="3591315" y="133739"/>
                  </a:moveTo>
                  <a:lnTo>
                    <a:pt x="3388115" y="267479"/>
                  </a:lnTo>
                  <a:lnTo>
                    <a:pt x="203200" y="267479"/>
                  </a:lnTo>
                  <a:lnTo>
                    <a:pt x="0" y="133739"/>
                  </a:lnTo>
                  <a:lnTo>
                    <a:pt x="203200" y="0"/>
                  </a:lnTo>
                  <a:lnTo>
                    <a:pt x="3388115" y="0"/>
                  </a:lnTo>
                  <a:lnTo>
                    <a:pt x="3591315" y="133739"/>
                  </a:lnTo>
                  <a:close/>
                </a:path>
              </a:pathLst>
            </a:custGeom>
            <a:ln w="9525" cap="sq">
              <a:solidFill>
                <a:srgbClr val="FFDE59"/>
              </a:solidFill>
              <a:prstDash val="solid"/>
              <a:miter/>
            </a:ln>
          </p:spPr>
        </p:sp>
        <p:sp>
          <p:nvSpPr>
            <p:cNvPr name="TextBox 20" id="20"/>
            <p:cNvSpPr txBox="true"/>
            <p:nvPr/>
          </p:nvSpPr>
          <p:spPr>
            <a:xfrm>
              <a:off x="114300" y="9525"/>
              <a:ext cx="3362715" cy="257954"/>
            </a:xfrm>
            <a:prstGeom prst="rect">
              <a:avLst/>
            </a:prstGeom>
          </p:spPr>
          <p:txBody>
            <a:bodyPr anchor="ctr" rtlCol="false" tIns="50800" lIns="50800" bIns="50800" rIns="50800"/>
            <a:lstStyle/>
            <a:p>
              <a:pPr algn="ctr">
                <a:lnSpc>
                  <a:spcPts val="1760"/>
                </a:lnSpc>
              </a:pPr>
            </a:p>
          </p:txBody>
        </p:sp>
      </p:grpSp>
      <p:sp>
        <p:nvSpPr>
          <p:cNvPr name="TextBox 21" id="21"/>
          <p:cNvSpPr txBox="true"/>
          <p:nvPr/>
        </p:nvSpPr>
        <p:spPr>
          <a:xfrm rot="0">
            <a:off x="229986" y="5740387"/>
            <a:ext cx="17134964" cy="805841"/>
          </a:xfrm>
          <a:prstGeom prst="rect">
            <a:avLst/>
          </a:prstGeom>
        </p:spPr>
        <p:txBody>
          <a:bodyPr anchor="t" rtlCol="false" tIns="0" lIns="0" bIns="0" rIns="0">
            <a:spAutoFit/>
          </a:bodyPr>
          <a:lstStyle/>
          <a:p>
            <a:pPr algn="just">
              <a:lnSpc>
                <a:spcPts val="2147"/>
              </a:lnSpc>
            </a:pPr>
            <a:r>
              <a:rPr lang="en-US" b="true" sz="1952" i="true">
                <a:solidFill>
                  <a:srgbClr val="000000"/>
                </a:solidFill>
                <a:latin typeface="Space Mono Bold Italics"/>
                <a:ea typeface="Space Mono Bold Italics"/>
                <a:cs typeface="Space Mono Bold Italics"/>
                <a:sym typeface="Space Mono Bold Italics"/>
              </a:rPr>
              <a:t>AN INTELLIGENT DEVOPS CLI THAT TAKES A PROJECT FROM AN EMPTY FOLDER TO A LIVE, DEPLOYED URL IN A SINGLE COMMAND. IT AUTOMATES MULTI-STACK SCAFFOLDING (E.G., REACT + DJANGO), CREATES GITHUB REPOSITORIES, AND PROVISIONS CLOUD DEPLOYMENTS—ELIMINATING THE NEED TO SWITCH BETWEEN MULTIPLE DASHBOARDS</a:t>
            </a:r>
          </a:p>
        </p:txBody>
      </p:sp>
      <p:grpSp>
        <p:nvGrpSpPr>
          <p:cNvPr name="Group 22" id="22"/>
          <p:cNvGrpSpPr/>
          <p:nvPr/>
        </p:nvGrpSpPr>
        <p:grpSpPr>
          <a:xfrm rot="0">
            <a:off x="1153199" y="7528598"/>
            <a:ext cx="18974129" cy="1568778"/>
            <a:chOff x="0" y="0"/>
            <a:chExt cx="4997301" cy="413176"/>
          </a:xfrm>
        </p:grpSpPr>
        <p:sp>
          <p:nvSpPr>
            <p:cNvPr name="Freeform 23" id="23"/>
            <p:cNvSpPr/>
            <p:nvPr/>
          </p:nvSpPr>
          <p:spPr>
            <a:xfrm flipH="false" flipV="false" rot="0">
              <a:off x="0" y="0"/>
              <a:ext cx="4997302" cy="413176"/>
            </a:xfrm>
            <a:custGeom>
              <a:avLst/>
              <a:gdLst/>
              <a:ahLst/>
              <a:cxnLst/>
              <a:rect r="r" b="b" t="t" l="l"/>
              <a:pathLst>
                <a:path h="413176" w="4997302">
                  <a:moveTo>
                    <a:pt x="40803" y="0"/>
                  </a:moveTo>
                  <a:lnTo>
                    <a:pt x="4956499" y="0"/>
                  </a:lnTo>
                  <a:cubicBezTo>
                    <a:pt x="4979034" y="0"/>
                    <a:pt x="4997302" y="18268"/>
                    <a:pt x="4997302" y="40803"/>
                  </a:cubicBezTo>
                  <a:lnTo>
                    <a:pt x="4997302" y="372374"/>
                  </a:lnTo>
                  <a:cubicBezTo>
                    <a:pt x="4997302" y="394908"/>
                    <a:pt x="4979034" y="413176"/>
                    <a:pt x="4956499" y="413176"/>
                  </a:cubicBezTo>
                  <a:lnTo>
                    <a:pt x="40803" y="413176"/>
                  </a:lnTo>
                  <a:cubicBezTo>
                    <a:pt x="18268" y="413176"/>
                    <a:pt x="0" y="394908"/>
                    <a:pt x="0" y="372374"/>
                  </a:cubicBezTo>
                  <a:lnTo>
                    <a:pt x="0" y="40803"/>
                  </a:lnTo>
                  <a:cubicBezTo>
                    <a:pt x="0" y="18268"/>
                    <a:pt x="18268" y="0"/>
                    <a:pt x="40803" y="0"/>
                  </a:cubicBezTo>
                  <a:close/>
                </a:path>
              </a:pathLst>
            </a:custGeom>
            <a:solidFill>
              <a:srgbClr val="F7C215"/>
            </a:solidFill>
          </p:spPr>
        </p:sp>
        <p:sp>
          <p:nvSpPr>
            <p:cNvPr name="TextBox 24" id="24"/>
            <p:cNvSpPr txBox="true"/>
            <p:nvPr/>
          </p:nvSpPr>
          <p:spPr>
            <a:xfrm>
              <a:off x="0" y="9525"/>
              <a:ext cx="4997301" cy="403651"/>
            </a:xfrm>
            <a:prstGeom prst="rect">
              <a:avLst/>
            </a:prstGeom>
          </p:spPr>
          <p:txBody>
            <a:bodyPr anchor="ctr" rtlCol="false" tIns="50800" lIns="50800" bIns="50800" rIns="50800"/>
            <a:lstStyle/>
            <a:p>
              <a:pPr algn="ctr">
                <a:lnSpc>
                  <a:spcPts val="1760"/>
                </a:lnSpc>
              </a:pPr>
            </a:p>
          </p:txBody>
        </p:sp>
      </p:grpSp>
      <p:sp>
        <p:nvSpPr>
          <p:cNvPr name="TextBox 25" id="25"/>
          <p:cNvSpPr txBox="true"/>
          <p:nvPr/>
        </p:nvSpPr>
        <p:spPr>
          <a:xfrm rot="0">
            <a:off x="1584175" y="7786242"/>
            <a:ext cx="16586341" cy="1072541"/>
          </a:xfrm>
          <a:prstGeom prst="rect">
            <a:avLst/>
          </a:prstGeom>
        </p:spPr>
        <p:txBody>
          <a:bodyPr anchor="t" rtlCol="false" tIns="0" lIns="0" bIns="0" rIns="0">
            <a:spAutoFit/>
          </a:bodyPr>
          <a:lstStyle/>
          <a:p>
            <a:pPr algn="just">
              <a:lnSpc>
                <a:spcPts val="2147"/>
              </a:lnSpc>
            </a:pPr>
            <a:r>
              <a:rPr lang="en-US" b="true" sz="1952" i="true">
                <a:solidFill>
                  <a:srgbClr val="000000"/>
                </a:solidFill>
                <a:latin typeface="Space Mono Bold Italics"/>
                <a:ea typeface="Space Mono Bold Italics"/>
                <a:cs typeface="Space Mono Bold Italics"/>
                <a:sym typeface="Space Mono Bold Italics"/>
              </a:rPr>
              <a:t>TYPING RAPIDFIRE DROPS YOU INTO A DEDICATED CLI OVERLAY WITH BUILT-IN COMMANDS FOR SCAFFOLDING, SECURITY SCANNING, AND PRESET MANAGEMENT. ANYTHING IT DOESN'T RECOGNIZE FALLS STRAIGHT THROUGH TO YOUR NATIVE SHELL. IT ACTS AS A SEAMLESS EXTENSION OF YOUR EXISTING TERMINAL RATHER THAN A SEPARATE TOOL YOU HAVE TO CONTEXT-SWITCH INTO.</a:t>
            </a:r>
          </a:p>
        </p:txBody>
      </p:sp>
      <p:sp>
        <p:nvSpPr>
          <p:cNvPr name="Freeform 26" id="26"/>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9"/>
            <a:stretch>
              <a:fillRect l="0" t="0" r="0" b="0"/>
            </a:stretch>
          </a:blipFill>
        </p:spPr>
      </p:sp>
      <p:sp>
        <p:nvSpPr>
          <p:cNvPr name="TextBox 27" id="27"/>
          <p:cNvSpPr txBox="true"/>
          <p:nvPr/>
        </p:nvSpPr>
        <p:spPr>
          <a:xfrm rot="0">
            <a:off x="16779613" y="77608"/>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sp>
        <p:nvSpPr>
          <p:cNvPr name="AutoShape 28" id="28"/>
          <p:cNvSpPr/>
          <p:nvPr/>
        </p:nvSpPr>
        <p:spPr>
          <a:xfrm>
            <a:off x="11551391" y="4446727"/>
            <a:ext cx="498683" cy="0"/>
          </a:xfrm>
          <a:prstGeom prst="line">
            <a:avLst/>
          </a:prstGeom>
          <a:ln cap="flat" w="38100">
            <a:solidFill>
              <a:srgbClr val="050505"/>
            </a:solidFill>
            <a:prstDash val="solid"/>
            <a:headEnd type="none" len="sm" w="sm"/>
            <a:tailEnd type="triangle" len="med" w="lg"/>
          </a:ln>
        </p:spPr>
      </p:sp>
      <p:grpSp>
        <p:nvGrpSpPr>
          <p:cNvPr name="Group 29" id="29"/>
          <p:cNvGrpSpPr/>
          <p:nvPr/>
        </p:nvGrpSpPr>
        <p:grpSpPr>
          <a:xfrm rot="0">
            <a:off x="-2311525" y="6946278"/>
            <a:ext cx="5671529" cy="422411"/>
            <a:chOff x="0" y="0"/>
            <a:chExt cx="3591315" cy="267479"/>
          </a:xfrm>
        </p:grpSpPr>
        <p:sp>
          <p:nvSpPr>
            <p:cNvPr name="Freeform 30" id="30"/>
            <p:cNvSpPr/>
            <p:nvPr/>
          </p:nvSpPr>
          <p:spPr>
            <a:xfrm flipH="false" flipV="false" rot="0">
              <a:off x="0" y="0"/>
              <a:ext cx="3591315" cy="267479"/>
            </a:xfrm>
            <a:custGeom>
              <a:avLst/>
              <a:gdLst/>
              <a:ahLst/>
              <a:cxnLst/>
              <a:rect r="r" b="b" t="t" l="l"/>
              <a:pathLst>
                <a:path h="267479" w="3591315">
                  <a:moveTo>
                    <a:pt x="3591315" y="133739"/>
                  </a:moveTo>
                  <a:lnTo>
                    <a:pt x="3388115" y="267479"/>
                  </a:lnTo>
                  <a:lnTo>
                    <a:pt x="203200" y="267479"/>
                  </a:lnTo>
                  <a:lnTo>
                    <a:pt x="0" y="133739"/>
                  </a:lnTo>
                  <a:lnTo>
                    <a:pt x="203200" y="0"/>
                  </a:lnTo>
                  <a:lnTo>
                    <a:pt x="3388115" y="0"/>
                  </a:lnTo>
                  <a:lnTo>
                    <a:pt x="3591315" y="133739"/>
                  </a:lnTo>
                  <a:close/>
                </a:path>
              </a:pathLst>
            </a:custGeom>
            <a:ln w="9525" cap="sq">
              <a:solidFill>
                <a:srgbClr val="FFDE59"/>
              </a:solidFill>
              <a:prstDash val="solid"/>
              <a:miter/>
            </a:ln>
          </p:spPr>
        </p:sp>
        <p:sp>
          <p:nvSpPr>
            <p:cNvPr name="TextBox 31" id="31"/>
            <p:cNvSpPr txBox="true"/>
            <p:nvPr/>
          </p:nvSpPr>
          <p:spPr>
            <a:xfrm>
              <a:off x="114300" y="9525"/>
              <a:ext cx="3362715" cy="257954"/>
            </a:xfrm>
            <a:prstGeom prst="rect">
              <a:avLst/>
            </a:prstGeom>
          </p:spPr>
          <p:txBody>
            <a:bodyPr anchor="ctr" rtlCol="false" tIns="50800" lIns="50800" bIns="50800" rIns="50800"/>
            <a:lstStyle/>
            <a:p>
              <a:pPr algn="ctr">
                <a:lnSpc>
                  <a:spcPts val="1760"/>
                </a:lnSpc>
              </a:pPr>
            </a:p>
          </p:txBody>
        </p:sp>
      </p:grpSp>
      <p:sp>
        <p:nvSpPr>
          <p:cNvPr name="TextBox 32" id="32"/>
          <p:cNvSpPr txBox="true"/>
          <p:nvPr/>
        </p:nvSpPr>
        <p:spPr>
          <a:xfrm rot="0">
            <a:off x="776916" y="7079628"/>
            <a:ext cx="2104438" cy="235500"/>
          </a:xfrm>
          <a:prstGeom prst="rect">
            <a:avLst/>
          </a:prstGeom>
        </p:spPr>
        <p:txBody>
          <a:bodyPr anchor="t" rtlCol="false" tIns="0" lIns="0" bIns="0" rIns="0">
            <a:spAutoFit/>
          </a:bodyPr>
          <a:lstStyle/>
          <a:p>
            <a:pPr algn="just">
              <a:lnSpc>
                <a:spcPts val="1811"/>
              </a:lnSpc>
            </a:pPr>
            <a:r>
              <a:rPr lang="en-US" sz="1647" i="true">
                <a:solidFill>
                  <a:srgbClr val="FFFFFF"/>
                </a:solidFill>
                <a:latin typeface="Space Mono Italics"/>
                <a:ea typeface="Space Mono Italics"/>
                <a:cs typeface="Space Mono Italics"/>
                <a:sym typeface="Space Mono Italics"/>
              </a:rPr>
              <a:t>HOW IT OPERATES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599607" y="5156805"/>
            <a:ext cx="14062297" cy="1355947"/>
            <a:chOff x="0" y="0"/>
            <a:chExt cx="3703650" cy="357122"/>
          </a:xfrm>
        </p:grpSpPr>
        <p:sp>
          <p:nvSpPr>
            <p:cNvPr name="Freeform 5" id="5"/>
            <p:cNvSpPr/>
            <p:nvPr/>
          </p:nvSpPr>
          <p:spPr>
            <a:xfrm flipH="false" flipV="false" rot="0">
              <a:off x="0" y="0"/>
              <a:ext cx="3703650" cy="357122"/>
            </a:xfrm>
            <a:custGeom>
              <a:avLst/>
              <a:gdLst/>
              <a:ahLst/>
              <a:cxnLst/>
              <a:rect r="r" b="b" t="t" l="l"/>
              <a:pathLst>
                <a:path h="357122" w="3703650">
                  <a:moveTo>
                    <a:pt x="27527" y="0"/>
                  </a:moveTo>
                  <a:lnTo>
                    <a:pt x="3676123" y="0"/>
                  </a:lnTo>
                  <a:cubicBezTo>
                    <a:pt x="3683424" y="0"/>
                    <a:pt x="3690426" y="2900"/>
                    <a:pt x="3695588" y="8063"/>
                  </a:cubicBezTo>
                  <a:cubicBezTo>
                    <a:pt x="3700750" y="13225"/>
                    <a:pt x="3703650" y="20227"/>
                    <a:pt x="3703650" y="27527"/>
                  </a:cubicBezTo>
                  <a:lnTo>
                    <a:pt x="3703650" y="329595"/>
                  </a:lnTo>
                  <a:cubicBezTo>
                    <a:pt x="3703650" y="344798"/>
                    <a:pt x="3691326" y="357122"/>
                    <a:pt x="3676123" y="357122"/>
                  </a:cubicBezTo>
                  <a:lnTo>
                    <a:pt x="27527" y="357122"/>
                  </a:lnTo>
                  <a:cubicBezTo>
                    <a:pt x="20227" y="357122"/>
                    <a:pt x="13225" y="354222"/>
                    <a:pt x="8063" y="349059"/>
                  </a:cubicBezTo>
                  <a:cubicBezTo>
                    <a:pt x="2900" y="343897"/>
                    <a:pt x="0" y="336895"/>
                    <a:pt x="0" y="329595"/>
                  </a:cubicBezTo>
                  <a:lnTo>
                    <a:pt x="0" y="27527"/>
                  </a:lnTo>
                  <a:cubicBezTo>
                    <a:pt x="0" y="20227"/>
                    <a:pt x="2900" y="13225"/>
                    <a:pt x="8063" y="8063"/>
                  </a:cubicBezTo>
                  <a:cubicBezTo>
                    <a:pt x="13225" y="2900"/>
                    <a:pt x="20227" y="0"/>
                    <a:pt x="27527" y="0"/>
                  </a:cubicBezTo>
                  <a:close/>
                </a:path>
              </a:pathLst>
            </a:custGeom>
            <a:ln w="9525" cap="rnd">
              <a:solidFill>
                <a:srgbClr val="FFDE59"/>
              </a:solidFill>
              <a:prstDash val="solid"/>
              <a:round/>
            </a:ln>
          </p:spPr>
        </p:sp>
        <p:sp>
          <p:nvSpPr>
            <p:cNvPr name="TextBox 6" id="6"/>
            <p:cNvSpPr txBox="true"/>
            <p:nvPr/>
          </p:nvSpPr>
          <p:spPr>
            <a:xfrm>
              <a:off x="0" y="19050"/>
              <a:ext cx="3703650" cy="338072"/>
            </a:xfrm>
            <a:prstGeom prst="rect">
              <a:avLst/>
            </a:prstGeom>
          </p:spPr>
          <p:txBody>
            <a:bodyPr anchor="ctr" rtlCol="false" tIns="50800" lIns="50800" bIns="50800" rIns="50800"/>
            <a:lstStyle/>
            <a:p>
              <a:pPr algn="ctr">
                <a:lnSpc>
                  <a:spcPts val="2200"/>
                </a:lnSpc>
              </a:pPr>
            </a:p>
          </p:txBody>
        </p:sp>
      </p:grpSp>
      <p:sp>
        <p:nvSpPr>
          <p:cNvPr name="TextBox 7" id="7"/>
          <p:cNvSpPr txBox="true"/>
          <p:nvPr/>
        </p:nvSpPr>
        <p:spPr>
          <a:xfrm rot="0">
            <a:off x="378371" y="5461958"/>
            <a:ext cx="12436956" cy="498809"/>
          </a:xfrm>
          <a:prstGeom prst="rect">
            <a:avLst/>
          </a:prstGeom>
        </p:spPr>
        <p:txBody>
          <a:bodyPr anchor="t" rtlCol="false" tIns="0" lIns="0" bIns="0" rIns="0">
            <a:spAutoFit/>
          </a:bodyPr>
          <a:lstStyle/>
          <a:p>
            <a:pPr algn="just">
              <a:lnSpc>
                <a:spcPts val="1953"/>
              </a:lnSpc>
            </a:pPr>
            <a:r>
              <a:rPr lang="en-US" b="true" sz="1776">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WHAT SETS IT APART IS THAT SECURITY AND VISIBILITY AREN'T AFTERTHOUGHTS. EVERY </a:t>
            </a:r>
            <a:r>
              <a:rPr lang="en-US" b="true" sz="1776" u="sng">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PUSH </a:t>
            </a:r>
            <a:r>
              <a:rPr lang="en-US" b="true" sz="1776">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IS AUTOMATICALLY </a:t>
            </a:r>
            <a:r>
              <a:rPr lang="en-US" b="true" sz="1776" u="sng">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CHECKED </a:t>
            </a:r>
            <a:r>
              <a:rPr lang="en-US" b="true" sz="1776">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FOR </a:t>
            </a:r>
            <a:r>
              <a:rPr lang="en-US" b="true" sz="1776" u="sng">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LEAKED </a:t>
            </a:r>
            <a:r>
              <a:rPr lang="en-US" b="true" sz="1776">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CREDENTIALS BEFORE IT GOES OUT.</a:t>
            </a:r>
          </a:p>
        </p:txBody>
      </p:sp>
      <p:grpSp>
        <p:nvGrpSpPr>
          <p:cNvPr name="Group 8" id="8"/>
          <p:cNvGrpSpPr/>
          <p:nvPr/>
        </p:nvGrpSpPr>
        <p:grpSpPr>
          <a:xfrm rot="0">
            <a:off x="9601079" y="1414507"/>
            <a:ext cx="7609490" cy="683646"/>
            <a:chOff x="0" y="0"/>
            <a:chExt cx="10145986" cy="911528"/>
          </a:xfrm>
        </p:grpSpPr>
        <p:sp>
          <p:nvSpPr>
            <p:cNvPr name="TextBox 9" id="9"/>
            <p:cNvSpPr txBox="true"/>
            <p:nvPr/>
          </p:nvSpPr>
          <p:spPr>
            <a:xfrm rot="0">
              <a:off x="130869" y="57150"/>
              <a:ext cx="10015117" cy="854378"/>
            </a:xfrm>
            <a:prstGeom prst="rect">
              <a:avLst/>
            </a:prstGeom>
          </p:spPr>
          <p:txBody>
            <a:bodyPr anchor="t" rtlCol="false" tIns="0" lIns="0" bIns="0" rIns="0">
              <a:spAutoFit/>
            </a:bodyPr>
            <a:lstStyle/>
            <a:p>
              <a:pPr algn="l">
                <a:lnSpc>
                  <a:spcPts val="4700"/>
                </a:lnSpc>
              </a:pPr>
              <a:r>
                <a:rPr lang="en-US" sz="4519">
                  <a:gradFill>
                    <a:gsLst>
                      <a:gs pos="0">
                        <a:srgbClr val="888888">
                          <a:alpha val="100000"/>
                        </a:srgbClr>
                      </a:gs>
                      <a:gs pos="100000">
                        <a:srgbClr val="FFFFFF">
                          <a:alpha val="100000"/>
                        </a:srgbClr>
                      </a:gs>
                    </a:gsLst>
                    <a:lin ang="16200000"/>
                  </a:gradFill>
                  <a:latin typeface="Bicubik"/>
                  <a:ea typeface="Bicubik"/>
                  <a:cs typeface="Bicubik"/>
                  <a:sym typeface="Bicubik"/>
                </a:rPr>
                <a:t>CORE FEATURES</a:t>
              </a:r>
            </a:p>
          </p:txBody>
        </p:sp>
        <p:grpSp>
          <p:nvGrpSpPr>
            <p:cNvPr name="Group 10" id="10"/>
            <p:cNvGrpSpPr/>
            <p:nvPr/>
          </p:nvGrpSpPr>
          <p:grpSpPr>
            <a:xfrm rot="0">
              <a:off x="0" y="0"/>
              <a:ext cx="7851732" cy="819181"/>
              <a:chOff x="0" y="0"/>
              <a:chExt cx="2011009" cy="209811"/>
            </a:xfrm>
          </p:grpSpPr>
          <p:sp>
            <p:nvSpPr>
              <p:cNvPr name="Freeform 11" id="11"/>
              <p:cNvSpPr/>
              <p:nvPr/>
            </p:nvSpPr>
            <p:spPr>
              <a:xfrm flipH="false" flipV="false" rot="0">
                <a:off x="0" y="0"/>
                <a:ext cx="2011008" cy="209811"/>
              </a:xfrm>
              <a:custGeom>
                <a:avLst/>
                <a:gdLst/>
                <a:ahLst/>
                <a:cxnLst/>
                <a:rect r="r" b="b" t="t" l="l"/>
                <a:pathLst>
                  <a:path h="209811" w="2011008">
                    <a:moveTo>
                      <a:pt x="50697" y="0"/>
                    </a:moveTo>
                    <a:lnTo>
                      <a:pt x="1960312" y="0"/>
                    </a:lnTo>
                    <a:cubicBezTo>
                      <a:pt x="1988311" y="0"/>
                      <a:pt x="2011008" y="22698"/>
                      <a:pt x="2011008" y="50697"/>
                    </a:cubicBezTo>
                    <a:lnTo>
                      <a:pt x="2011008" y="159114"/>
                    </a:lnTo>
                    <a:cubicBezTo>
                      <a:pt x="2011008" y="172560"/>
                      <a:pt x="2005667" y="185455"/>
                      <a:pt x="1996160" y="194962"/>
                    </a:cubicBezTo>
                    <a:cubicBezTo>
                      <a:pt x="1986652" y="204470"/>
                      <a:pt x="1973757" y="209811"/>
                      <a:pt x="1960312" y="209811"/>
                    </a:cubicBezTo>
                    <a:lnTo>
                      <a:pt x="50697" y="209811"/>
                    </a:lnTo>
                    <a:cubicBezTo>
                      <a:pt x="37251" y="209811"/>
                      <a:pt x="24356" y="204470"/>
                      <a:pt x="14849" y="194962"/>
                    </a:cubicBezTo>
                    <a:cubicBezTo>
                      <a:pt x="5341" y="185455"/>
                      <a:pt x="0" y="172560"/>
                      <a:pt x="0" y="159114"/>
                    </a:cubicBezTo>
                    <a:lnTo>
                      <a:pt x="0" y="50697"/>
                    </a:lnTo>
                    <a:cubicBezTo>
                      <a:pt x="0" y="37251"/>
                      <a:pt x="5341" y="24356"/>
                      <a:pt x="14849" y="14849"/>
                    </a:cubicBezTo>
                    <a:cubicBezTo>
                      <a:pt x="24356" y="5341"/>
                      <a:pt x="37251" y="0"/>
                      <a:pt x="50697" y="0"/>
                    </a:cubicBezTo>
                    <a:close/>
                  </a:path>
                </a:pathLst>
              </a:custGeom>
              <a:ln w="9525" cap="rnd">
                <a:solidFill>
                  <a:srgbClr val="FFDE59"/>
                </a:solidFill>
                <a:prstDash val="solid"/>
                <a:round/>
              </a:ln>
            </p:spPr>
          </p:sp>
          <p:sp>
            <p:nvSpPr>
              <p:cNvPr name="TextBox 12" id="12"/>
              <p:cNvSpPr txBox="true"/>
              <p:nvPr/>
            </p:nvSpPr>
            <p:spPr>
              <a:xfrm>
                <a:off x="0" y="9525"/>
                <a:ext cx="2011009" cy="200286"/>
              </a:xfrm>
              <a:prstGeom prst="rect">
                <a:avLst/>
              </a:prstGeom>
            </p:spPr>
            <p:txBody>
              <a:bodyPr anchor="ctr" rtlCol="false" tIns="50800" lIns="50800" bIns="50800" rIns="50800"/>
              <a:lstStyle/>
              <a:p>
                <a:pPr algn="ctr">
                  <a:lnSpc>
                    <a:spcPts val="1760"/>
                  </a:lnSpc>
                </a:pPr>
              </a:p>
            </p:txBody>
          </p:sp>
        </p:grpSp>
      </p:grpSp>
      <p:sp>
        <p:nvSpPr>
          <p:cNvPr name="Freeform 13" id="13"/>
          <p:cNvSpPr/>
          <p:nvPr/>
        </p:nvSpPr>
        <p:spPr>
          <a:xfrm flipH="false" flipV="false" rot="0">
            <a:off x="14023602" y="731919"/>
            <a:ext cx="2501668" cy="2437989"/>
          </a:xfrm>
          <a:custGeom>
            <a:avLst/>
            <a:gdLst/>
            <a:ahLst/>
            <a:cxnLst/>
            <a:rect r="r" b="b" t="t" l="l"/>
            <a:pathLst>
              <a:path h="2437989" w="2501668">
                <a:moveTo>
                  <a:pt x="0" y="0"/>
                </a:moveTo>
                <a:lnTo>
                  <a:pt x="2501668" y="0"/>
                </a:lnTo>
                <a:lnTo>
                  <a:pt x="2501668" y="2437989"/>
                </a:lnTo>
                <a:lnTo>
                  <a:pt x="0" y="24379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7"/>
            <a:stretch>
              <a:fillRect l="0" t="0" r="0" b="0"/>
            </a:stretch>
          </a:blipFill>
        </p:spPr>
      </p:sp>
      <p:sp>
        <p:nvSpPr>
          <p:cNvPr name="TextBox 15" id="15"/>
          <p:cNvSpPr txBox="true"/>
          <p:nvPr/>
        </p:nvSpPr>
        <p:spPr>
          <a:xfrm rot="0">
            <a:off x="16779613" y="77608"/>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sp>
        <p:nvSpPr>
          <p:cNvPr name="TextBox 16" id="16"/>
          <p:cNvSpPr txBox="true"/>
          <p:nvPr/>
        </p:nvSpPr>
        <p:spPr>
          <a:xfrm rot="0">
            <a:off x="9461714" y="1848110"/>
            <a:ext cx="7358622" cy="626496"/>
          </a:xfrm>
          <a:prstGeom prst="rect">
            <a:avLst/>
          </a:prstGeom>
        </p:spPr>
        <p:txBody>
          <a:bodyPr anchor="t" rtlCol="false" tIns="0" lIns="0" bIns="0" rIns="0">
            <a:spAutoFit/>
          </a:bodyPr>
          <a:lstStyle/>
          <a:p>
            <a:pPr algn="l">
              <a:lnSpc>
                <a:spcPts val="4700"/>
              </a:lnSpc>
            </a:pPr>
            <a:r>
              <a:rPr lang="en-US" sz="4519">
                <a:gradFill>
                  <a:gsLst>
                    <a:gs pos="0">
                      <a:srgbClr val="888888">
                        <a:alpha val="100000"/>
                      </a:srgbClr>
                    </a:gs>
                    <a:gs pos="100000">
                      <a:srgbClr val="FFFFFF">
                        <a:alpha val="100000"/>
                      </a:srgbClr>
                    </a:gs>
                  </a:gsLst>
                  <a:lin ang="16200000"/>
                </a:gradFill>
                <a:latin typeface="Bicubik"/>
                <a:ea typeface="Bicubik"/>
                <a:cs typeface="Bicubik"/>
                <a:sym typeface="Bicubik"/>
              </a:rPr>
              <a:t>                          USP</a:t>
            </a:r>
          </a:p>
        </p:txBody>
      </p:sp>
      <p:grpSp>
        <p:nvGrpSpPr>
          <p:cNvPr name="Group 17" id="17"/>
          <p:cNvGrpSpPr/>
          <p:nvPr/>
        </p:nvGrpSpPr>
        <p:grpSpPr>
          <a:xfrm rot="0">
            <a:off x="15096170" y="1790960"/>
            <a:ext cx="1863566" cy="614386"/>
            <a:chOff x="0" y="0"/>
            <a:chExt cx="636403" cy="209811"/>
          </a:xfrm>
        </p:grpSpPr>
        <p:sp>
          <p:nvSpPr>
            <p:cNvPr name="Freeform 18" id="18"/>
            <p:cNvSpPr/>
            <p:nvPr/>
          </p:nvSpPr>
          <p:spPr>
            <a:xfrm flipH="false" flipV="false" rot="0">
              <a:off x="0" y="0"/>
              <a:ext cx="636403" cy="209811"/>
            </a:xfrm>
            <a:custGeom>
              <a:avLst/>
              <a:gdLst/>
              <a:ahLst/>
              <a:cxnLst/>
              <a:rect r="r" b="b" t="t" l="l"/>
              <a:pathLst>
                <a:path h="209811" w="636403">
                  <a:moveTo>
                    <a:pt x="104906" y="0"/>
                  </a:moveTo>
                  <a:lnTo>
                    <a:pt x="531497" y="0"/>
                  </a:lnTo>
                  <a:cubicBezTo>
                    <a:pt x="559320" y="0"/>
                    <a:pt x="586003" y="11053"/>
                    <a:pt x="605677" y="30726"/>
                  </a:cubicBezTo>
                  <a:cubicBezTo>
                    <a:pt x="625350" y="50400"/>
                    <a:pt x="636403" y="77083"/>
                    <a:pt x="636403" y="104906"/>
                  </a:cubicBezTo>
                  <a:lnTo>
                    <a:pt x="636403" y="104906"/>
                  </a:lnTo>
                  <a:cubicBezTo>
                    <a:pt x="636403" y="162843"/>
                    <a:pt x="589435" y="209811"/>
                    <a:pt x="531497" y="209811"/>
                  </a:cubicBezTo>
                  <a:lnTo>
                    <a:pt x="104906" y="209811"/>
                  </a:lnTo>
                  <a:cubicBezTo>
                    <a:pt x="77083" y="209811"/>
                    <a:pt x="50400" y="198758"/>
                    <a:pt x="30726" y="179085"/>
                  </a:cubicBezTo>
                  <a:cubicBezTo>
                    <a:pt x="11053" y="159411"/>
                    <a:pt x="0" y="132728"/>
                    <a:pt x="0" y="104906"/>
                  </a:cubicBezTo>
                  <a:lnTo>
                    <a:pt x="0" y="104906"/>
                  </a:lnTo>
                  <a:cubicBezTo>
                    <a:pt x="0" y="77083"/>
                    <a:pt x="11053" y="50400"/>
                    <a:pt x="30726" y="30726"/>
                  </a:cubicBezTo>
                  <a:cubicBezTo>
                    <a:pt x="50400" y="11053"/>
                    <a:pt x="77083" y="0"/>
                    <a:pt x="104906" y="0"/>
                  </a:cubicBezTo>
                  <a:close/>
                </a:path>
              </a:pathLst>
            </a:custGeom>
            <a:ln w="9525" cap="rnd">
              <a:solidFill>
                <a:srgbClr val="FFDE59"/>
              </a:solidFill>
              <a:prstDash val="solid"/>
              <a:round/>
            </a:ln>
          </p:spPr>
        </p:sp>
        <p:sp>
          <p:nvSpPr>
            <p:cNvPr name="TextBox 19" id="19"/>
            <p:cNvSpPr txBox="true"/>
            <p:nvPr/>
          </p:nvSpPr>
          <p:spPr>
            <a:xfrm>
              <a:off x="0" y="9525"/>
              <a:ext cx="636403" cy="200286"/>
            </a:xfrm>
            <a:prstGeom prst="rect">
              <a:avLst/>
            </a:prstGeom>
          </p:spPr>
          <p:txBody>
            <a:bodyPr anchor="ctr" rtlCol="false" tIns="50800" lIns="50800" bIns="50800" rIns="50800"/>
            <a:lstStyle/>
            <a:p>
              <a:pPr algn="ctr">
                <a:lnSpc>
                  <a:spcPts val="1760"/>
                </a:lnSpc>
              </a:pPr>
            </a:p>
          </p:txBody>
        </p:sp>
      </p:grpSp>
      <p:grpSp>
        <p:nvGrpSpPr>
          <p:cNvPr name="Group 20" id="20"/>
          <p:cNvGrpSpPr/>
          <p:nvPr/>
        </p:nvGrpSpPr>
        <p:grpSpPr>
          <a:xfrm rot="0">
            <a:off x="4993776" y="3627108"/>
            <a:ext cx="14062297" cy="1367771"/>
            <a:chOff x="0" y="0"/>
            <a:chExt cx="3703650" cy="360236"/>
          </a:xfrm>
        </p:grpSpPr>
        <p:sp>
          <p:nvSpPr>
            <p:cNvPr name="Freeform 21" id="21"/>
            <p:cNvSpPr/>
            <p:nvPr/>
          </p:nvSpPr>
          <p:spPr>
            <a:xfrm flipH="false" flipV="false" rot="0">
              <a:off x="0" y="0"/>
              <a:ext cx="3703650" cy="360236"/>
            </a:xfrm>
            <a:custGeom>
              <a:avLst/>
              <a:gdLst/>
              <a:ahLst/>
              <a:cxnLst/>
              <a:rect r="r" b="b" t="t" l="l"/>
              <a:pathLst>
                <a:path h="360236" w="3703650">
                  <a:moveTo>
                    <a:pt x="27527" y="0"/>
                  </a:moveTo>
                  <a:lnTo>
                    <a:pt x="3676123" y="0"/>
                  </a:lnTo>
                  <a:cubicBezTo>
                    <a:pt x="3683424" y="0"/>
                    <a:pt x="3690426" y="2900"/>
                    <a:pt x="3695588" y="8063"/>
                  </a:cubicBezTo>
                  <a:cubicBezTo>
                    <a:pt x="3700750" y="13225"/>
                    <a:pt x="3703650" y="20227"/>
                    <a:pt x="3703650" y="27527"/>
                  </a:cubicBezTo>
                  <a:lnTo>
                    <a:pt x="3703650" y="332709"/>
                  </a:lnTo>
                  <a:cubicBezTo>
                    <a:pt x="3703650" y="340010"/>
                    <a:pt x="3700750" y="347011"/>
                    <a:pt x="3695588" y="352174"/>
                  </a:cubicBezTo>
                  <a:cubicBezTo>
                    <a:pt x="3690426" y="357336"/>
                    <a:pt x="3683424" y="360236"/>
                    <a:pt x="3676123" y="360236"/>
                  </a:cubicBezTo>
                  <a:lnTo>
                    <a:pt x="27527" y="360236"/>
                  </a:lnTo>
                  <a:cubicBezTo>
                    <a:pt x="12324" y="360236"/>
                    <a:pt x="0" y="347912"/>
                    <a:pt x="0" y="332709"/>
                  </a:cubicBezTo>
                  <a:lnTo>
                    <a:pt x="0" y="27527"/>
                  </a:lnTo>
                  <a:cubicBezTo>
                    <a:pt x="0" y="20227"/>
                    <a:pt x="2900" y="13225"/>
                    <a:pt x="8063" y="8063"/>
                  </a:cubicBezTo>
                  <a:cubicBezTo>
                    <a:pt x="13225" y="2900"/>
                    <a:pt x="20227" y="0"/>
                    <a:pt x="27527" y="0"/>
                  </a:cubicBezTo>
                  <a:close/>
                </a:path>
              </a:pathLst>
            </a:custGeom>
            <a:ln w="9525" cap="rnd">
              <a:solidFill>
                <a:srgbClr val="FFDE59"/>
              </a:solidFill>
              <a:prstDash val="solid"/>
              <a:round/>
            </a:ln>
          </p:spPr>
        </p:sp>
        <p:sp>
          <p:nvSpPr>
            <p:cNvPr name="TextBox 22" id="22"/>
            <p:cNvSpPr txBox="true"/>
            <p:nvPr/>
          </p:nvSpPr>
          <p:spPr>
            <a:xfrm>
              <a:off x="0" y="19050"/>
              <a:ext cx="3703650" cy="341186"/>
            </a:xfrm>
            <a:prstGeom prst="rect">
              <a:avLst/>
            </a:prstGeom>
          </p:spPr>
          <p:txBody>
            <a:bodyPr anchor="ctr" rtlCol="false" tIns="50800" lIns="50800" bIns="50800" rIns="50800"/>
            <a:lstStyle/>
            <a:p>
              <a:pPr algn="ctr">
                <a:lnSpc>
                  <a:spcPts val="2200"/>
                </a:lnSpc>
              </a:pPr>
            </a:p>
          </p:txBody>
        </p:sp>
      </p:grpSp>
      <p:sp>
        <p:nvSpPr>
          <p:cNvPr name="TextBox 23" id="23"/>
          <p:cNvSpPr txBox="true"/>
          <p:nvPr/>
        </p:nvSpPr>
        <p:spPr>
          <a:xfrm rot="0">
            <a:off x="5368721" y="3947755"/>
            <a:ext cx="12436956" cy="498809"/>
          </a:xfrm>
          <a:prstGeom prst="rect">
            <a:avLst/>
          </a:prstGeom>
        </p:spPr>
        <p:txBody>
          <a:bodyPr anchor="t" rtlCol="false" tIns="0" lIns="0" bIns="0" rIns="0">
            <a:spAutoFit/>
          </a:bodyPr>
          <a:lstStyle/>
          <a:p>
            <a:pPr algn="just">
              <a:lnSpc>
                <a:spcPts val="1953"/>
              </a:lnSpc>
            </a:pPr>
            <a:r>
              <a:rPr lang="en-US" b="true" sz="1776">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DYNAMIC SCAFFOLD GENERATOR: INSTANTLY BUILDS CONNECTED BOILERPLATE ARCHITECTURES </a:t>
            </a:r>
            <a:r>
              <a:rPr lang="en-US" b="true" sz="1776" u="none">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S</a:t>
            </a:r>
            <a:r>
              <a:rPr lang="en-US" b="true" sz="1776">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UCH</a:t>
            </a:r>
            <a:r>
              <a:rPr lang="en-US" b="true" sz="1776" u="none">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 </a:t>
            </a:r>
            <a:r>
              <a:rPr lang="en-US" b="true" sz="1776">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AS</a:t>
            </a:r>
            <a:r>
              <a:rPr lang="en-US" b="true" sz="1776" u="none">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 </a:t>
            </a:r>
            <a:r>
              <a:rPr lang="en-US" b="true" sz="1776">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REACT+DJANGO+DATABASE</a:t>
            </a:r>
          </a:p>
        </p:txBody>
      </p:sp>
      <p:grpSp>
        <p:nvGrpSpPr>
          <p:cNvPr name="Group 24" id="24"/>
          <p:cNvGrpSpPr/>
          <p:nvPr/>
        </p:nvGrpSpPr>
        <p:grpSpPr>
          <a:xfrm rot="0">
            <a:off x="-434300" y="8219811"/>
            <a:ext cx="14062297" cy="1367771"/>
            <a:chOff x="0" y="0"/>
            <a:chExt cx="3703650" cy="360236"/>
          </a:xfrm>
        </p:grpSpPr>
        <p:sp>
          <p:nvSpPr>
            <p:cNvPr name="Freeform 25" id="25"/>
            <p:cNvSpPr/>
            <p:nvPr/>
          </p:nvSpPr>
          <p:spPr>
            <a:xfrm flipH="false" flipV="false" rot="0">
              <a:off x="0" y="0"/>
              <a:ext cx="3703650" cy="360236"/>
            </a:xfrm>
            <a:custGeom>
              <a:avLst/>
              <a:gdLst/>
              <a:ahLst/>
              <a:cxnLst/>
              <a:rect r="r" b="b" t="t" l="l"/>
              <a:pathLst>
                <a:path h="360236" w="3703650">
                  <a:moveTo>
                    <a:pt x="27527" y="0"/>
                  </a:moveTo>
                  <a:lnTo>
                    <a:pt x="3676123" y="0"/>
                  </a:lnTo>
                  <a:cubicBezTo>
                    <a:pt x="3683424" y="0"/>
                    <a:pt x="3690426" y="2900"/>
                    <a:pt x="3695588" y="8063"/>
                  </a:cubicBezTo>
                  <a:cubicBezTo>
                    <a:pt x="3700750" y="13225"/>
                    <a:pt x="3703650" y="20227"/>
                    <a:pt x="3703650" y="27527"/>
                  </a:cubicBezTo>
                  <a:lnTo>
                    <a:pt x="3703650" y="332709"/>
                  </a:lnTo>
                  <a:cubicBezTo>
                    <a:pt x="3703650" y="340010"/>
                    <a:pt x="3700750" y="347011"/>
                    <a:pt x="3695588" y="352174"/>
                  </a:cubicBezTo>
                  <a:cubicBezTo>
                    <a:pt x="3690426" y="357336"/>
                    <a:pt x="3683424" y="360236"/>
                    <a:pt x="3676123" y="360236"/>
                  </a:cubicBezTo>
                  <a:lnTo>
                    <a:pt x="27527" y="360236"/>
                  </a:lnTo>
                  <a:cubicBezTo>
                    <a:pt x="12324" y="360236"/>
                    <a:pt x="0" y="347912"/>
                    <a:pt x="0" y="332709"/>
                  </a:cubicBezTo>
                  <a:lnTo>
                    <a:pt x="0" y="27527"/>
                  </a:lnTo>
                  <a:cubicBezTo>
                    <a:pt x="0" y="20227"/>
                    <a:pt x="2900" y="13225"/>
                    <a:pt x="8063" y="8063"/>
                  </a:cubicBezTo>
                  <a:cubicBezTo>
                    <a:pt x="13225" y="2900"/>
                    <a:pt x="20227" y="0"/>
                    <a:pt x="27527" y="0"/>
                  </a:cubicBezTo>
                  <a:close/>
                </a:path>
              </a:pathLst>
            </a:custGeom>
            <a:ln w="9525" cap="rnd">
              <a:solidFill>
                <a:srgbClr val="F7C215"/>
              </a:solidFill>
              <a:prstDash val="solid"/>
              <a:round/>
            </a:ln>
          </p:spPr>
        </p:sp>
        <p:sp>
          <p:nvSpPr>
            <p:cNvPr name="TextBox 26" id="26"/>
            <p:cNvSpPr txBox="true"/>
            <p:nvPr/>
          </p:nvSpPr>
          <p:spPr>
            <a:xfrm>
              <a:off x="0" y="19050"/>
              <a:ext cx="3703650" cy="341186"/>
            </a:xfrm>
            <a:prstGeom prst="rect">
              <a:avLst/>
            </a:prstGeom>
          </p:spPr>
          <p:txBody>
            <a:bodyPr anchor="ctr" rtlCol="false" tIns="50800" lIns="50800" bIns="50800" rIns="50800"/>
            <a:lstStyle/>
            <a:p>
              <a:pPr algn="ctr">
                <a:lnSpc>
                  <a:spcPts val="2200"/>
                </a:lnSpc>
              </a:pPr>
            </a:p>
          </p:txBody>
        </p:sp>
      </p:grpSp>
      <p:sp>
        <p:nvSpPr>
          <p:cNvPr name="TextBox 27" id="27"/>
          <p:cNvSpPr txBox="true"/>
          <p:nvPr/>
        </p:nvSpPr>
        <p:spPr>
          <a:xfrm rot="0">
            <a:off x="106966" y="8647410"/>
            <a:ext cx="12767497" cy="508933"/>
          </a:xfrm>
          <a:prstGeom prst="rect">
            <a:avLst/>
          </a:prstGeom>
        </p:spPr>
        <p:txBody>
          <a:bodyPr anchor="t" rtlCol="false" tIns="0" lIns="0" bIns="0" rIns="0">
            <a:spAutoFit/>
          </a:bodyPr>
          <a:lstStyle/>
          <a:p>
            <a:pPr algn="just">
              <a:lnSpc>
                <a:spcPts val="2005"/>
              </a:lnSpc>
            </a:pPr>
            <a:r>
              <a:rPr lang="en-US" b="true" sz="1823">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REUSABLE PRESETS: SAVE A WORKING SETUP ONCE TEMPLATE, BACKEND, CI/CD CONFIG AND REUSE IT INSTANTLY ACROSS FUTURE PROJECTS INSTEAD OF RECONFIGURING FROM SCRATCH</a:t>
            </a:r>
          </a:p>
        </p:txBody>
      </p:sp>
      <p:grpSp>
        <p:nvGrpSpPr>
          <p:cNvPr name="Group 28" id="28"/>
          <p:cNvGrpSpPr/>
          <p:nvPr/>
        </p:nvGrpSpPr>
        <p:grpSpPr>
          <a:xfrm rot="0">
            <a:off x="4744918" y="6701938"/>
            <a:ext cx="14062297" cy="1355947"/>
            <a:chOff x="0" y="0"/>
            <a:chExt cx="3703650" cy="357122"/>
          </a:xfrm>
        </p:grpSpPr>
        <p:sp>
          <p:nvSpPr>
            <p:cNvPr name="Freeform 29" id="29"/>
            <p:cNvSpPr/>
            <p:nvPr/>
          </p:nvSpPr>
          <p:spPr>
            <a:xfrm flipH="false" flipV="false" rot="0">
              <a:off x="0" y="0"/>
              <a:ext cx="3703650" cy="357122"/>
            </a:xfrm>
            <a:custGeom>
              <a:avLst/>
              <a:gdLst/>
              <a:ahLst/>
              <a:cxnLst/>
              <a:rect r="r" b="b" t="t" l="l"/>
              <a:pathLst>
                <a:path h="357122" w="3703650">
                  <a:moveTo>
                    <a:pt x="27527" y="0"/>
                  </a:moveTo>
                  <a:lnTo>
                    <a:pt x="3676123" y="0"/>
                  </a:lnTo>
                  <a:cubicBezTo>
                    <a:pt x="3683424" y="0"/>
                    <a:pt x="3690426" y="2900"/>
                    <a:pt x="3695588" y="8063"/>
                  </a:cubicBezTo>
                  <a:cubicBezTo>
                    <a:pt x="3700750" y="13225"/>
                    <a:pt x="3703650" y="20227"/>
                    <a:pt x="3703650" y="27527"/>
                  </a:cubicBezTo>
                  <a:lnTo>
                    <a:pt x="3703650" y="329595"/>
                  </a:lnTo>
                  <a:cubicBezTo>
                    <a:pt x="3703650" y="344798"/>
                    <a:pt x="3691326" y="357122"/>
                    <a:pt x="3676123" y="357122"/>
                  </a:cubicBezTo>
                  <a:lnTo>
                    <a:pt x="27527" y="357122"/>
                  </a:lnTo>
                  <a:cubicBezTo>
                    <a:pt x="20227" y="357122"/>
                    <a:pt x="13225" y="354222"/>
                    <a:pt x="8063" y="349059"/>
                  </a:cubicBezTo>
                  <a:cubicBezTo>
                    <a:pt x="2900" y="343897"/>
                    <a:pt x="0" y="336895"/>
                    <a:pt x="0" y="329595"/>
                  </a:cubicBezTo>
                  <a:lnTo>
                    <a:pt x="0" y="27527"/>
                  </a:lnTo>
                  <a:cubicBezTo>
                    <a:pt x="0" y="20227"/>
                    <a:pt x="2900" y="13225"/>
                    <a:pt x="8063" y="8063"/>
                  </a:cubicBezTo>
                  <a:cubicBezTo>
                    <a:pt x="13225" y="2900"/>
                    <a:pt x="20227" y="0"/>
                    <a:pt x="27527" y="0"/>
                  </a:cubicBezTo>
                  <a:close/>
                </a:path>
              </a:pathLst>
            </a:custGeom>
            <a:ln w="9525" cap="rnd">
              <a:solidFill>
                <a:srgbClr val="FFDE59"/>
              </a:solidFill>
              <a:prstDash val="solid"/>
              <a:round/>
            </a:ln>
          </p:spPr>
        </p:sp>
        <p:sp>
          <p:nvSpPr>
            <p:cNvPr name="TextBox 30" id="30"/>
            <p:cNvSpPr txBox="true"/>
            <p:nvPr/>
          </p:nvSpPr>
          <p:spPr>
            <a:xfrm>
              <a:off x="0" y="19050"/>
              <a:ext cx="3703650" cy="338072"/>
            </a:xfrm>
            <a:prstGeom prst="rect">
              <a:avLst/>
            </a:prstGeom>
          </p:spPr>
          <p:txBody>
            <a:bodyPr anchor="ctr" rtlCol="false" tIns="50800" lIns="50800" bIns="50800" rIns="50800"/>
            <a:lstStyle/>
            <a:p>
              <a:pPr algn="ctr">
                <a:lnSpc>
                  <a:spcPts val="2200"/>
                </a:lnSpc>
              </a:pPr>
            </a:p>
          </p:txBody>
        </p:sp>
      </p:grpSp>
      <p:sp>
        <p:nvSpPr>
          <p:cNvPr name="TextBox 31" id="31"/>
          <p:cNvSpPr txBox="true"/>
          <p:nvPr/>
        </p:nvSpPr>
        <p:spPr>
          <a:xfrm rot="0">
            <a:off x="5285133" y="7056516"/>
            <a:ext cx="12436956" cy="746459"/>
          </a:xfrm>
          <a:prstGeom prst="rect">
            <a:avLst/>
          </a:prstGeom>
        </p:spPr>
        <p:txBody>
          <a:bodyPr anchor="t" rtlCol="false" tIns="0" lIns="0" bIns="0" rIns="0">
            <a:spAutoFit/>
          </a:bodyPr>
          <a:lstStyle/>
          <a:p>
            <a:pPr algn="just">
              <a:lnSpc>
                <a:spcPts val="1953"/>
              </a:lnSpc>
            </a:pPr>
            <a:r>
              <a:rPr lang="en-US" b="true" sz="1776">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FAIL-SAFE PIPELINE: ANY STEP FAILING HALTS THE RUN IMMEDIATELY AND REPORTS EXACTLY WHAT BROKE — NO SILENT PARTIAL STATES.</a:t>
            </a:r>
          </a:p>
          <a:p>
            <a:pPr algn="just">
              <a:lnSpc>
                <a:spcPts val="1953"/>
              </a:lnSpc>
            </a:pPr>
          </a:p>
        </p:txBody>
      </p:sp>
      <p:grpSp>
        <p:nvGrpSpPr>
          <p:cNvPr name="Group 32" id="32"/>
          <p:cNvGrpSpPr/>
          <p:nvPr/>
        </p:nvGrpSpPr>
        <p:grpSpPr>
          <a:xfrm rot="0">
            <a:off x="3431121" y="3928705"/>
            <a:ext cx="673784" cy="765509"/>
            <a:chOff x="0" y="0"/>
            <a:chExt cx="177458" cy="201615"/>
          </a:xfrm>
        </p:grpSpPr>
        <p:sp>
          <p:nvSpPr>
            <p:cNvPr name="Freeform 33" id="33"/>
            <p:cNvSpPr/>
            <p:nvPr/>
          </p:nvSpPr>
          <p:spPr>
            <a:xfrm flipH="false" flipV="false" rot="0">
              <a:off x="0" y="0"/>
              <a:ext cx="177458" cy="201615"/>
            </a:xfrm>
            <a:custGeom>
              <a:avLst/>
              <a:gdLst/>
              <a:ahLst/>
              <a:cxnLst/>
              <a:rect r="r" b="b" t="t" l="l"/>
              <a:pathLst>
                <a:path h="201615" w="177458">
                  <a:moveTo>
                    <a:pt x="88729" y="0"/>
                  </a:moveTo>
                  <a:lnTo>
                    <a:pt x="88729" y="0"/>
                  </a:lnTo>
                  <a:cubicBezTo>
                    <a:pt x="137732" y="0"/>
                    <a:pt x="177458" y="39725"/>
                    <a:pt x="177458" y="88729"/>
                  </a:cubicBezTo>
                  <a:lnTo>
                    <a:pt x="177458" y="112887"/>
                  </a:lnTo>
                  <a:cubicBezTo>
                    <a:pt x="177458" y="161890"/>
                    <a:pt x="137732" y="201615"/>
                    <a:pt x="88729" y="201615"/>
                  </a:cubicBezTo>
                  <a:lnTo>
                    <a:pt x="88729" y="201615"/>
                  </a:lnTo>
                  <a:cubicBezTo>
                    <a:pt x="39725" y="201615"/>
                    <a:pt x="0" y="161890"/>
                    <a:pt x="0" y="112887"/>
                  </a:cubicBezTo>
                  <a:lnTo>
                    <a:pt x="0" y="88729"/>
                  </a:lnTo>
                  <a:cubicBezTo>
                    <a:pt x="0" y="39725"/>
                    <a:pt x="39725" y="0"/>
                    <a:pt x="88729" y="0"/>
                  </a:cubicBezTo>
                  <a:close/>
                </a:path>
              </a:pathLst>
            </a:custGeom>
            <a:ln w="9525" cap="rnd">
              <a:solidFill>
                <a:srgbClr val="F7C215"/>
              </a:solidFill>
              <a:prstDash val="solid"/>
              <a:round/>
            </a:ln>
          </p:spPr>
        </p:sp>
        <p:sp>
          <p:nvSpPr>
            <p:cNvPr name="TextBox 34" id="34"/>
            <p:cNvSpPr txBox="true"/>
            <p:nvPr/>
          </p:nvSpPr>
          <p:spPr>
            <a:xfrm>
              <a:off x="0" y="19050"/>
              <a:ext cx="177458" cy="182565"/>
            </a:xfrm>
            <a:prstGeom prst="rect">
              <a:avLst/>
            </a:prstGeom>
          </p:spPr>
          <p:txBody>
            <a:bodyPr anchor="ctr" rtlCol="false" tIns="50800" lIns="50800" bIns="50800" rIns="50800"/>
            <a:lstStyle/>
            <a:p>
              <a:pPr algn="l">
                <a:lnSpc>
                  <a:spcPts val="2200"/>
                </a:lnSpc>
              </a:pPr>
              <a:r>
                <a:rPr lang="en-US" sz="2000" spc="-100">
                  <a:gradFill>
                    <a:gsLst>
                      <a:gs pos="0">
                        <a:srgbClr val="888888">
                          <a:alpha val="100000"/>
                        </a:srgbClr>
                      </a:gs>
                      <a:gs pos="100000">
                        <a:srgbClr val="FFFFFF">
                          <a:alpha val="100000"/>
                        </a:srgbClr>
                      </a:gs>
                    </a:gsLst>
                    <a:lin ang="16200000"/>
                  </a:gradFill>
                  <a:latin typeface="Space Mono"/>
                  <a:ea typeface="Space Mono"/>
                  <a:cs typeface="Space Mono"/>
                  <a:sym typeface="Space Mono"/>
                </a:rPr>
                <a:t> 1.</a:t>
              </a:r>
            </a:p>
          </p:txBody>
        </p:sp>
      </p:grpSp>
      <p:grpSp>
        <p:nvGrpSpPr>
          <p:cNvPr name="Group 35" id="35"/>
          <p:cNvGrpSpPr/>
          <p:nvPr/>
        </p:nvGrpSpPr>
        <p:grpSpPr>
          <a:xfrm rot="0">
            <a:off x="14177977" y="8543661"/>
            <a:ext cx="673784" cy="765509"/>
            <a:chOff x="0" y="0"/>
            <a:chExt cx="177458" cy="201615"/>
          </a:xfrm>
        </p:grpSpPr>
        <p:sp>
          <p:nvSpPr>
            <p:cNvPr name="Freeform 36" id="36"/>
            <p:cNvSpPr/>
            <p:nvPr/>
          </p:nvSpPr>
          <p:spPr>
            <a:xfrm flipH="false" flipV="false" rot="0">
              <a:off x="0" y="0"/>
              <a:ext cx="177458" cy="201615"/>
            </a:xfrm>
            <a:custGeom>
              <a:avLst/>
              <a:gdLst/>
              <a:ahLst/>
              <a:cxnLst/>
              <a:rect r="r" b="b" t="t" l="l"/>
              <a:pathLst>
                <a:path h="201615" w="177458">
                  <a:moveTo>
                    <a:pt x="88729" y="0"/>
                  </a:moveTo>
                  <a:lnTo>
                    <a:pt x="88729" y="0"/>
                  </a:lnTo>
                  <a:cubicBezTo>
                    <a:pt x="137732" y="0"/>
                    <a:pt x="177458" y="39725"/>
                    <a:pt x="177458" y="88729"/>
                  </a:cubicBezTo>
                  <a:lnTo>
                    <a:pt x="177458" y="112887"/>
                  </a:lnTo>
                  <a:cubicBezTo>
                    <a:pt x="177458" y="161890"/>
                    <a:pt x="137732" y="201615"/>
                    <a:pt x="88729" y="201615"/>
                  </a:cubicBezTo>
                  <a:lnTo>
                    <a:pt x="88729" y="201615"/>
                  </a:lnTo>
                  <a:cubicBezTo>
                    <a:pt x="39725" y="201615"/>
                    <a:pt x="0" y="161890"/>
                    <a:pt x="0" y="112887"/>
                  </a:cubicBezTo>
                  <a:lnTo>
                    <a:pt x="0" y="88729"/>
                  </a:lnTo>
                  <a:cubicBezTo>
                    <a:pt x="0" y="39725"/>
                    <a:pt x="39725" y="0"/>
                    <a:pt x="88729" y="0"/>
                  </a:cubicBezTo>
                  <a:close/>
                </a:path>
              </a:pathLst>
            </a:custGeom>
            <a:ln w="9525" cap="rnd">
              <a:solidFill>
                <a:srgbClr val="F7C215"/>
              </a:solidFill>
              <a:prstDash val="solid"/>
              <a:round/>
            </a:ln>
          </p:spPr>
        </p:sp>
        <p:sp>
          <p:nvSpPr>
            <p:cNvPr name="TextBox 37" id="37"/>
            <p:cNvSpPr txBox="true"/>
            <p:nvPr/>
          </p:nvSpPr>
          <p:spPr>
            <a:xfrm>
              <a:off x="0" y="19050"/>
              <a:ext cx="177458" cy="182565"/>
            </a:xfrm>
            <a:prstGeom prst="rect">
              <a:avLst/>
            </a:prstGeom>
          </p:spPr>
          <p:txBody>
            <a:bodyPr anchor="ctr" rtlCol="false" tIns="50800" lIns="50800" bIns="50800" rIns="50800"/>
            <a:lstStyle/>
            <a:p>
              <a:pPr algn="l">
                <a:lnSpc>
                  <a:spcPts val="2200"/>
                </a:lnSpc>
              </a:pPr>
              <a:r>
                <a:rPr lang="en-US" sz="2000" spc="-100">
                  <a:gradFill>
                    <a:gsLst>
                      <a:gs pos="0">
                        <a:srgbClr val="888888">
                          <a:alpha val="100000"/>
                        </a:srgbClr>
                      </a:gs>
                      <a:gs pos="100000">
                        <a:srgbClr val="FFFFFF">
                          <a:alpha val="100000"/>
                        </a:srgbClr>
                      </a:gs>
                    </a:gsLst>
                    <a:lin ang="16200000"/>
                  </a:gradFill>
                  <a:latin typeface="Space Mono"/>
                  <a:ea typeface="Space Mono"/>
                  <a:cs typeface="Space Mono"/>
                  <a:sym typeface="Space Mono"/>
                </a:rPr>
                <a:t> 4.</a:t>
              </a:r>
            </a:p>
          </p:txBody>
        </p:sp>
      </p:grpSp>
      <p:grpSp>
        <p:nvGrpSpPr>
          <p:cNvPr name="Group 38" id="38"/>
          <p:cNvGrpSpPr/>
          <p:nvPr/>
        </p:nvGrpSpPr>
        <p:grpSpPr>
          <a:xfrm rot="0">
            <a:off x="14023602" y="5452024"/>
            <a:ext cx="673784" cy="765509"/>
            <a:chOff x="0" y="0"/>
            <a:chExt cx="177458" cy="201615"/>
          </a:xfrm>
        </p:grpSpPr>
        <p:sp>
          <p:nvSpPr>
            <p:cNvPr name="Freeform 39" id="39"/>
            <p:cNvSpPr/>
            <p:nvPr/>
          </p:nvSpPr>
          <p:spPr>
            <a:xfrm flipH="false" flipV="false" rot="0">
              <a:off x="0" y="0"/>
              <a:ext cx="177458" cy="201615"/>
            </a:xfrm>
            <a:custGeom>
              <a:avLst/>
              <a:gdLst/>
              <a:ahLst/>
              <a:cxnLst/>
              <a:rect r="r" b="b" t="t" l="l"/>
              <a:pathLst>
                <a:path h="201615" w="177458">
                  <a:moveTo>
                    <a:pt x="88729" y="0"/>
                  </a:moveTo>
                  <a:lnTo>
                    <a:pt x="88729" y="0"/>
                  </a:lnTo>
                  <a:cubicBezTo>
                    <a:pt x="137732" y="0"/>
                    <a:pt x="177458" y="39725"/>
                    <a:pt x="177458" y="88729"/>
                  </a:cubicBezTo>
                  <a:lnTo>
                    <a:pt x="177458" y="112887"/>
                  </a:lnTo>
                  <a:cubicBezTo>
                    <a:pt x="177458" y="161890"/>
                    <a:pt x="137732" y="201615"/>
                    <a:pt x="88729" y="201615"/>
                  </a:cubicBezTo>
                  <a:lnTo>
                    <a:pt x="88729" y="201615"/>
                  </a:lnTo>
                  <a:cubicBezTo>
                    <a:pt x="39725" y="201615"/>
                    <a:pt x="0" y="161890"/>
                    <a:pt x="0" y="112887"/>
                  </a:cubicBezTo>
                  <a:lnTo>
                    <a:pt x="0" y="88729"/>
                  </a:lnTo>
                  <a:cubicBezTo>
                    <a:pt x="0" y="39725"/>
                    <a:pt x="39725" y="0"/>
                    <a:pt x="88729" y="0"/>
                  </a:cubicBezTo>
                  <a:close/>
                </a:path>
              </a:pathLst>
            </a:custGeom>
            <a:ln w="9525" cap="rnd">
              <a:solidFill>
                <a:srgbClr val="F7C215"/>
              </a:solidFill>
              <a:prstDash val="solid"/>
              <a:round/>
            </a:ln>
          </p:spPr>
        </p:sp>
        <p:sp>
          <p:nvSpPr>
            <p:cNvPr name="TextBox 40" id="40"/>
            <p:cNvSpPr txBox="true"/>
            <p:nvPr/>
          </p:nvSpPr>
          <p:spPr>
            <a:xfrm>
              <a:off x="0" y="19050"/>
              <a:ext cx="177458" cy="182565"/>
            </a:xfrm>
            <a:prstGeom prst="rect">
              <a:avLst/>
            </a:prstGeom>
          </p:spPr>
          <p:txBody>
            <a:bodyPr anchor="ctr" rtlCol="false" tIns="50800" lIns="50800" bIns="50800" rIns="50800"/>
            <a:lstStyle/>
            <a:p>
              <a:pPr algn="l">
                <a:lnSpc>
                  <a:spcPts val="2200"/>
                </a:lnSpc>
              </a:pPr>
              <a:r>
                <a:rPr lang="en-US" sz="2000" spc="-100">
                  <a:gradFill>
                    <a:gsLst>
                      <a:gs pos="0">
                        <a:srgbClr val="888888">
                          <a:alpha val="100000"/>
                        </a:srgbClr>
                      </a:gs>
                      <a:gs pos="100000">
                        <a:srgbClr val="FFFFFF">
                          <a:alpha val="100000"/>
                        </a:srgbClr>
                      </a:gs>
                    </a:gsLst>
                    <a:lin ang="16200000"/>
                  </a:gradFill>
                  <a:latin typeface="Space Mono"/>
                  <a:ea typeface="Space Mono"/>
                  <a:cs typeface="Space Mono"/>
                  <a:sym typeface="Space Mono"/>
                </a:rPr>
                <a:t> 2.</a:t>
              </a:r>
            </a:p>
          </p:txBody>
        </p:sp>
      </p:grpSp>
      <p:grpSp>
        <p:nvGrpSpPr>
          <p:cNvPr name="Group 41" id="41"/>
          <p:cNvGrpSpPr/>
          <p:nvPr/>
        </p:nvGrpSpPr>
        <p:grpSpPr>
          <a:xfrm rot="0">
            <a:off x="3431121" y="6997158"/>
            <a:ext cx="673784" cy="765509"/>
            <a:chOff x="0" y="0"/>
            <a:chExt cx="177458" cy="201615"/>
          </a:xfrm>
        </p:grpSpPr>
        <p:sp>
          <p:nvSpPr>
            <p:cNvPr name="Freeform 42" id="42"/>
            <p:cNvSpPr/>
            <p:nvPr/>
          </p:nvSpPr>
          <p:spPr>
            <a:xfrm flipH="false" flipV="false" rot="0">
              <a:off x="0" y="0"/>
              <a:ext cx="177458" cy="201615"/>
            </a:xfrm>
            <a:custGeom>
              <a:avLst/>
              <a:gdLst/>
              <a:ahLst/>
              <a:cxnLst/>
              <a:rect r="r" b="b" t="t" l="l"/>
              <a:pathLst>
                <a:path h="201615" w="177458">
                  <a:moveTo>
                    <a:pt x="88729" y="0"/>
                  </a:moveTo>
                  <a:lnTo>
                    <a:pt x="88729" y="0"/>
                  </a:lnTo>
                  <a:cubicBezTo>
                    <a:pt x="137732" y="0"/>
                    <a:pt x="177458" y="39725"/>
                    <a:pt x="177458" y="88729"/>
                  </a:cubicBezTo>
                  <a:lnTo>
                    <a:pt x="177458" y="112887"/>
                  </a:lnTo>
                  <a:cubicBezTo>
                    <a:pt x="177458" y="161890"/>
                    <a:pt x="137732" y="201615"/>
                    <a:pt x="88729" y="201615"/>
                  </a:cubicBezTo>
                  <a:lnTo>
                    <a:pt x="88729" y="201615"/>
                  </a:lnTo>
                  <a:cubicBezTo>
                    <a:pt x="39725" y="201615"/>
                    <a:pt x="0" y="161890"/>
                    <a:pt x="0" y="112887"/>
                  </a:cubicBezTo>
                  <a:lnTo>
                    <a:pt x="0" y="88729"/>
                  </a:lnTo>
                  <a:cubicBezTo>
                    <a:pt x="0" y="39725"/>
                    <a:pt x="39725" y="0"/>
                    <a:pt x="88729" y="0"/>
                  </a:cubicBezTo>
                  <a:close/>
                </a:path>
              </a:pathLst>
            </a:custGeom>
            <a:ln w="9525" cap="rnd">
              <a:solidFill>
                <a:srgbClr val="F7C215"/>
              </a:solidFill>
              <a:prstDash val="solid"/>
              <a:round/>
            </a:ln>
          </p:spPr>
        </p:sp>
        <p:sp>
          <p:nvSpPr>
            <p:cNvPr name="TextBox 43" id="43"/>
            <p:cNvSpPr txBox="true"/>
            <p:nvPr/>
          </p:nvSpPr>
          <p:spPr>
            <a:xfrm>
              <a:off x="0" y="19050"/>
              <a:ext cx="177458" cy="182565"/>
            </a:xfrm>
            <a:prstGeom prst="rect">
              <a:avLst/>
            </a:prstGeom>
          </p:spPr>
          <p:txBody>
            <a:bodyPr anchor="ctr" rtlCol="false" tIns="50800" lIns="50800" bIns="50800" rIns="50800"/>
            <a:lstStyle/>
            <a:p>
              <a:pPr algn="l">
                <a:lnSpc>
                  <a:spcPts val="2200"/>
                </a:lnSpc>
              </a:pPr>
              <a:r>
                <a:rPr lang="en-US" sz="2000" spc="-100">
                  <a:gradFill>
                    <a:gsLst>
                      <a:gs pos="0">
                        <a:srgbClr val="888888">
                          <a:alpha val="100000"/>
                        </a:srgbClr>
                      </a:gs>
                      <a:gs pos="100000">
                        <a:srgbClr val="FFFFFF">
                          <a:alpha val="100000"/>
                        </a:srgbClr>
                      </a:gs>
                    </a:gsLst>
                    <a:lin ang="16200000"/>
                  </a:gradFill>
                  <a:latin typeface="Space Mono"/>
                  <a:ea typeface="Space Mono"/>
                  <a:cs typeface="Space Mono"/>
                  <a:sym typeface="Space Mono"/>
                </a:rPr>
                <a:t> 3.</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8968015" y="1054488"/>
            <a:ext cx="6469192" cy="894066"/>
            <a:chOff x="0" y="0"/>
            <a:chExt cx="2391688" cy="330540"/>
          </a:xfrm>
        </p:grpSpPr>
        <p:sp>
          <p:nvSpPr>
            <p:cNvPr name="Freeform 4" id="4"/>
            <p:cNvSpPr/>
            <p:nvPr/>
          </p:nvSpPr>
          <p:spPr>
            <a:xfrm flipH="false" flipV="false" rot="0">
              <a:off x="0" y="0"/>
              <a:ext cx="2391689" cy="330540"/>
            </a:xfrm>
            <a:custGeom>
              <a:avLst/>
              <a:gdLst/>
              <a:ahLst/>
              <a:cxnLst/>
              <a:rect r="r" b="b" t="t" l="l"/>
              <a:pathLst>
                <a:path h="330540" w="2391689">
                  <a:moveTo>
                    <a:pt x="59837" y="0"/>
                  </a:moveTo>
                  <a:lnTo>
                    <a:pt x="2331852" y="0"/>
                  </a:lnTo>
                  <a:cubicBezTo>
                    <a:pt x="2364899" y="0"/>
                    <a:pt x="2391689" y="26790"/>
                    <a:pt x="2391689" y="59837"/>
                  </a:cubicBezTo>
                  <a:lnTo>
                    <a:pt x="2391689" y="270703"/>
                  </a:lnTo>
                  <a:cubicBezTo>
                    <a:pt x="2391689" y="286573"/>
                    <a:pt x="2385384" y="301793"/>
                    <a:pt x="2374163" y="313014"/>
                  </a:cubicBezTo>
                  <a:cubicBezTo>
                    <a:pt x="2362941" y="324236"/>
                    <a:pt x="2347721" y="330540"/>
                    <a:pt x="2331852" y="330540"/>
                  </a:cubicBezTo>
                  <a:lnTo>
                    <a:pt x="59837" y="330540"/>
                  </a:lnTo>
                  <a:cubicBezTo>
                    <a:pt x="43967" y="330540"/>
                    <a:pt x="28747" y="324236"/>
                    <a:pt x="17526" y="313014"/>
                  </a:cubicBezTo>
                  <a:cubicBezTo>
                    <a:pt x="6304" y="301793"/>
                    <a:pt x="0" y="286573"/>
                    <a:pt x="0" y="270703"/>
                  </a:cubicBezTo>
                  <a:lnTo>
                    <a:pt x="0" y="59837"/>
                  </a:lnTo>
                  <a:cubicBezTo>
                    <a:pt x="0" y="43967"/>
                    <a:pt x="6304" y="28747"/>
                    <a:pt x="17526" y="17526"/>
                  </a:cubicBezTo>
                  <a:cubicBezTo>
                    <a:pt x="28747" y="6304"/>
                    <a:pt x="43967" y="0"/>
                    <a:pt x="59837" y="0"/>
                  </a:cubicBezTo>
                  <a:close/>
                </a:path>
              </a:pathLst>
            </a:custGeom>
            <a:ln w="9525" cap="rnd">
              <a:solidFill>
                <a:srgbClr val="FFDE59"/>
              </a:solidFill>
              <a:prstDash val="solid"/>
              <a:round/>
            </a:ln>
          </p:spPr>
        </p:sp>
        <p:sp>
          <p:nvSpPr>
            <p:cNvPr name="TextBox 5" id="5"/>
            <p:cNvSpPr txBox="true"/>
            <p:nvPr/>
          </p:nvSpPr>
          <p:spPr>
            <a:xfrm>
              <a:off x="0" y="9525"/>
              <a:ext cx="2391688" cy="321015"/>
            </a:xfrm>
            <a:prstGeom prst="rect">
              <a:avLst/>
            </a:prstGeom>
          </p:spPr>
          <p:txBody>
            <a:bodyPr anchor="ctr" rtlCol="false" tIns="36190" lIns="36190" bIns="36190" rIns="36190"/>
            <a:lstStyle/>
            <a:p>
              <a:pPr algn="ctr">
                <a:lnSpc>
                  <a:spcPts val="1759"/>
                </a:lnSpc>
              </a:pPr>
            </a:p>
          </p:txBody>
        </p:sp>
      </p:grpSp>
      <p:sp>
        <p:nvSpPr>
          <p:cNvPr name="Freeform 6" id="6"/>
          <p:cNvSpPr/>
          <p:nvPr/>
        </p:nvSpPr>
        <p:spPr>
          <a:xfrm flipH="false" flipV="false" rot="0">
            <a:off x="13890630" y="636529"/>
            <a:ext cx="2501668" cy="2437989"/>
          </a:xfrm>
          <a:custGeom>
            <a:avLst/>
            <a:gdLst/>
            <a:ahLst/>
            <a:cxnLst/>
            <a:rect r="r" b="b" t="t" l="l"/>
            <a:pathLst>
              <a:path h="2437989" w="2501668">
                <a:moveTo>
                  <a:pt x="0" y="0"/>
                </a:moveTo>
                <a:lnTo>
                  <a:pt x="2501668" y="0"/>
                </a:lnTo>
                <a:lnTo>
                  <a:pt x="2501668" y="2437989"/>
                </a:lnTo>
                <a:lnTo>
                  <a:pt x="0" y="24379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6392298" y="261965"/>
            <a:ext cx="1734004"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grpSp>
        <p:nvGrpSpPr>
          <p:cNvPr name="Group 8" id="8"/>
          <p:cNvGrpSpPr/>
          <p:nvPr/>
        </p:nvGrpSpPr>
        <p:grpSpPr>
          <a:xfrm rot="0">
            <a:off x="13562750" y="1922826"/>
            <a:ext cx="4539236" cy="773659"/>
            <a:chOff x="0" y="0"/>
            <a:chExt cx="1550137" cy="264202"/>
          </a:xfrm>
        </p:grpSpPr>
        <p:sp>
          <p:nvSpPr>
            <p:cNvPr name="Freeform 9" id="9"/>
            <p:cNvSpPr/>
            <p:nvPr/>
          </p:nvSpPr>
          <p:spPr>
            <a:xfrm flipH="false" flipV="false" rot="0">
              <a:off x="0" y="0"/>
              <a:ext cx="1550136" cy="264202"/>
            </a:xfrm>
            <a:custGeom>
              <a:avLst/>
              <a:gdLst/>
              <a:ahLst/>
              <a:cxnLst/>
              <a:rect r="r" b="b" t="t" l="l"/>
              <a:pathLst>
                <a:path h="264202" w="1550136">
                  <a:moveTo>
                    <a:pt x="85278" y="0"/>
                  </a:moveTo>
                  <a:lnTo>
                    <a:pt x="1464859" y="0"/>
                  </a:lnTo>
                  <a:cubicBezTo>
                    <a:pt x="1511956" y="0"/>
                    <a:pt x="1550136" y="38180"/>
                    <a:pt x="1550136" y="85278"/>
                  </a:cubicBezTo>
                  <a:lnTo>
                    <a:pt x="1550136" y="178924"/>
                  </a:lnTo>
                  <a:cubicBezTo>
                    <a:pt x="1550136" y="226022"/>
                    <a:pt x="1511956" y="264202"/>
                    <a:pt x="1464859" y="264202"/>
                  </a:cubicBezTo>
                  <a:lnTo>
                    <a:pt x="85278" y="264202"/>
                  </a:lnTo>
                  <a:cubicBezTo>
                    <a:pt x="38180" y="264202"/>
                    <a:pt x="0" y="226022"/>
                    <a:pt x="0" y="178924"/>
                  </a:cubicBezTo>
                  <a:lnTo>
                    <a:pt x="0" y="85278"/>
                  </a:lnTo>
                  <a:cubicBezTo>
                    <a:pt x="0" y="38180"/>
                    <a:pt x="38180" y="0"/>
                    <a:pt x="85278" y="0"/>
                  </a:cubicBezTo>
                  <a:close/>
                </a:path>
              </a:pathLst>
            </a:custGeom>
            <a:ln w="9525" cap="rnd">
              <a:solidFill>
                <a:srgbClr val="FFDE59"/>
              </a:solidFill>
              <a:prstDash val="solid"/>
              <a:round/>
            </a:ln>
          </p:spPr>
        </p:sp>
        <p:sp>
          <p:nvSpPr>
            <p:cNvPr name="TextBox 10" id="10"/>
            <p:cNvSpPr txBox="true"/>
            <p:nvPr/>
          </p:nvSpPr>
          <p:spPr>
            <a:xfrm>
              <a:off x="0" y="9525"/>
              <a:ext cx="1550137" cy="254677"/>
            </a:xfrm>
            <a:prstGeom prst="rect">
              <a:avLst/>
            </a:prstGeom>
          </p:spPr>
          <p:txBody>
            <a:bodyPr anchor="ctr" rtlCol="false" tIns="50800" lIns="50800" bIns="50800" rIns="50800"/>
            <a:lstStyle/>
            <a:p>
              <a:pPr algn="ctr">
                <a:lnSpc>
                  <a:spcPts val="1760"/>
                </a:lnSpc>
              </a:pPr>
            </a:p>
          </p:txBody>
        </p:sp>
      </p:grpSp>
      <p:sp>
        <p:nvSpPr>
          <p:cNvPr name="TextBox 11" id="11"/>
          <p:cNvSpPr txBox="true"/>
          <p:nvPr/>
        </p:nvSpPr>
        <p:spPr>
          <a:xfrm rot="0">
            <a:off x="9717279" y="1050372"/>
            <a:ext cx="4556685" cy="805151"/>
          </a:xfrm>
          <a:prstGeom prst="rect">
            <a:avLst/>
          </a:prstGeom>
        </p:spPr>
        <p:txBody>
          <a:bodyPr anchor="t" rtlCol="false" tIns="0" lIns="0" bIns="0" rIns="0">
            <a:spAutoFit/>
          </a:bodyPr>
          <a:lstStyle/>
          <a:p>
            <a:pPr algn="ctr">
              <a:lnSpc>
                <a:spcPts val="6544"/>
              </a:lnSpc>
            </a:pPr>
            <a:r>
              <a:rPr lang="en-US" sz="4674" b="true">
                <a:solidFill>
                  <a:srgbClr val="F7C215"/>
                </a:solidFill>
                <a:latin typeface="Canva Sans Bold"/>
                <a:ea typeface="Canva Sans Bold"/>
                <a:cs typeface="Canva Sans Bold"/>
                <a:sym typeface="Canva Sans Bold"/>
              </a:rPr>
              <a:t>RESULTS AND </a:t>
            </a:r>
          </a:p>
        </p:txBody>
      </p:sp>
      <p:sp>
        <p:nvSpPr>
          <p:cNvPr name="TextBox 12" id="12"/>
          <p:cNvSpPr txBox="true"/>
          <p:nvPr/>
        </p:nvSpPr>
        <p:spPr>
          <a:xfrm rot="0">
            <a:off x="14428358" y="1862828"/>
            <a:ext cx="3464018" cy="746817"/>
          </a:xfrm>
          <a:prstGeom prst="rect">
            <a:avLst/>
          </a:prstGeom>
        </p:spPr>
        <p:txBody>
          <a:bodyPr anchor="t" rtlCol="false" tIns="0" lIns="0" bIns="0" rIns="0">
            <a:spAutoFit/>
          </a:bodyPr>
          <a:lstStyle/>
          <a:p>
            <a:pPr algn="ctr">
              <a:lnSpc>
                <a:spcPts val="6085"/>
              </a:lnSpc>
            </a:pPr>
            <a:r>
              <a:rPr lang="en-US" sz="4346" b="true">
                <a:solidFill>
                  <a:srgbClr val="F7C215"/>
                </a:solidFill>
                <a:latin typeface="Canva Sans Bold"/>
                <a:ea typeface="Canva Sans Bold"/>
                <a:cs typeface="Canva Sans Bold"/>
                <a:sym typeface="Canva Sans Bold"/>
              </a:rPr>
              <a:t>DISCUSSION</a:t>
            </a:r>
          </a:p>
        </p:txBody>
      </p:sp>
      <p:sp>
        <p:nvSpPr>
          <p:cNvPr name="Freeform 13" id="13"/>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5"/>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890181" y="1816456"/>
            <a:ext cx="5622805" cy="1088864"/>
          </a:xfrm>
          <a:prstGeom prst="rect">
            <a:avLst/>
          </a:prstGeom>
        </p:spPr>
        <p:txBody>
          <a:bodyPr anchor="t" rtlCol="false" tIns="0" lIns="0" bIns="0" rIns="0">
            <a:spAutoFit/>
          </a:bodyPr>
          <a:lstStyle/>
          <a:p>
            <a:pPr algn="just">
              <a:lnSpc>
                <a:spcPts val="4210"/>
              </a:lnSpc>
            </a:pPr>
            <a:r>
              <a:rPr lang="en-US" sz="4048">
                <a:solidFill>
                  <a:srgbClr val="FFDE59"/>
                </a:solidFill>
                <a:latin typeface="Bicubik"/>
                <a:ea typeface="Bicubik"/>
                <a:cs typeface="Bicubik"/>
                <a:sym typeface="Bicubik"/>
              </a:rPr>
              <a:t>  </a:t>
            </a:r>
          </a:p>
          <a:p>
            <a:pPr algn="just">
              <a:lnSpc>
                <a:spcPts val="4210"/>
              </a:lnSpc>
            </a:pPr>
            <a:r>
              <a:rPr lang="en-US" sz="4048">
                <a:solidFill>
                  <a:srgbClr val="FFDE59"/>
                </a:solidFill>
                <a:latin typeface="Bicubik"/>
                <a:ea typeface="Bicubik"/>
                <a:cs typeface="Bicubik"/>
                <a:sym typeface="Bicubik"/>
              </a:rPr>
              <a:t>ENHANCEMENTS &amp; </a:t>
            </a:r>
          </a:p>
        </p:txBody>
      </p:sp>
      <p:sp>
        <p:nvSpPr>
          <p:cNvPr name="Freeform 5" id="5"/>
          <p:cNvSpPr/>
          <p:nvPr/>
        </p:nvSpPr>
        <p:spPr>
          <a:xfrm flipH="false" flipV="false" rot="-1571065">
            <a:off x="3153188" y="1162094"/>
            <a:ext cx="3096791" cy="3017964"/>
          </a:xfrm>
          <a:custGeom>
            <a:avLst/>
            <a:gdLst/>
            <a:ahLst/>
            <a:cxnLst/>
            <a:rect r="r" b="b" t="t" l="l"/>
            <a:pathLst>
              <a:path h="3017964" w="3096791">
                <a:moveTo>
                  <a:pt x="0" y="0"/>
                </a:moveTo>
                <a:lnTo>
                  <a:pt x="3096791" y="0"/>
                </a:lnTo>
                <a:lnTo>
                  <a:pt x="3096791" y="3017964"/>
                </a:lnTo>
                <a:lnTo>
                  <a:pt x="0" y="30179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150821" y="9258300"/>
            <a:ext cx="579958" cy="579958"/>
          </a:xfrm>
          <a:custGeom>
            <a:avLst/>
            <a:gdLst/>
            <a:ahLst/>
            <a:cxnLst/>
            <a:rect r="r" b="b" t="t" l="l"/>
            <a:pathLst>
              <a:path h="579958" w="579958">
                <a:moveTo>
                  <a:pt x="0" y="0"/>
                </a:moveTo>
                <a:lnTo>
                  <a:pt x="579957" y="0"/>
                </a:lnTo>
                <a:lnTo>
                  <a:pt x="579957" y="579958"/>
                </a:lnTo>
                <a:lnTo>
                  <a:pt x="0" y="5799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9"/>
            <a:stretch>
              <a:fillRect l="0" t="0" r="0" b="0"/>
            </a:stretch>
          </a:blipFill>
        </p:spPr>
      </p:sp>
      <p:sp>
        <p:nvSpPr>
          <p:cNvPr name="TextBox 8" id="8"/>
          <p:cNvSpPr txBox="true"/>
          <p:nvPr/>
        </p:nvSpPr>
        <p:spPr>
          <a:xfrm rot="0">
            <a:off x="16779613" y="77608"/>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sp>
        <p:nvSpPr>
          <p:cNvPr name="TextBox 9" id="9"/>
          <p:cNvSpPr txBox="true"/>
          <p:nvPr/>
        </p:nvSpPr>
        <p:spPr>
          <a:xfrm rot="0">
            <a:off x="3319467" y="2918837"/>
            <a:ext cx="5622805" cy="556988"/>
          </a:xfrm>
          <a:prstGeom prst="rect">
            <a:avLst/>
          </a:prstGeom>
        </p:spPr>
        <p:txBody>
          <a:bodyPr anchor="t" rtlCol="false" tIns="0" lIns="0" bIns="0" rIns="0">
            <a:spAutoFit/>
          </a:bodyPr>
          <a:lstStyle/>
          <a:p>
            <a:pPr algn="r">
              <a:lnSpc>
                <a:spcPts val="4210"/>
              </a:lnSpc>
            </a:pPr>
            <a:r>
              <a:rPr lang="en-US" sz="4048">
                <a:solidFill>
                  <a:srgbClr val="FFDE59"/>
                </a:solidFill>
                <a:latin typeface="Bicubik"/>
                <a:ea typeface="Bicubik"/>
                <a:cs typeface="Bicubik"/>
                <a:sym typeface="Bicubik"/>
              </a:rPr>
              <a:t>CONCLUSION</a:t>
            </a:r>
          </a:p>
        </p:txBody>
      </p:sp>
      <p:sp>
        <p:nvSpPr>
          <p:cNvPr name="TextBox 10" id="10"/>
          <p:cNvSpPr txBox="true"/>
          <p:nvPr/>
        </p:nvSpPr>
        <p:spPr>
          <a:xfrm rot="0">
            <a:off x="1153199" y="1816456"/>
            <a:ext cx="5622805" cy="556988"/>
          </a:xfrm>
          <a:prstGeom prst="rect">
            <a:avLst/>
          </a:prstGeom>
        </p:spPr>
        <p:txBody>
          <a:bodyPr anchor="t" rtlCol="false" tIns="0" lIns="0" bIns="0" rIns="0">
            <a:spAutoFit/>
          </a:bodyPr>
          <a:lstStyle/>
          <a:p>
            <a:pPr algn="just">
              <a:lnSpc>
                <a:spcPts val="4210"/>
              </a:lnSpc>
            </a:pPr>
            <a:r>
              <a:rPr lang="en-US" sz="4048">
                <a:solidFill>
                  <a:srgbClr val="FFDE59"/>
                </a:solidFill>
                <a:latin typeface="Bicubik"/>
                <a:ea typeface="Bicubik"/>
                <a:cs typeface="Bicubik"/>
                <a:sym typeface="Bicubik"/>
              </a:rPr>
              <a:t>FUTURE</a:t>
            </a:r>
          </a:p>
        </p:txBody>
      </p:sp>
      <p:grpSp>
        <p:nvGrpSpPr>
          <p:cNvPr name="Group 11" id="11"/>
          <p:cNvGrpSpPr/>
          <p:nvPr/>
        </p:nvGrpSpPr>
        <p:grpSpPr>
          <a:xfrm rot="0">
            <a:off x="229799" y="4808376"/>
            <a:ext cx="17872187" cy="4384274"/>
            <a:chOff x="0" y="0"/>
            <a:chExt cx="4274726" cy="1048645"/>
          </a:xfrm>
        </p:grpSpPr>
        <p:sp>
          <p:nvSpPr>
            <p:cNvPr name="Freeform 12" id="12"/>
            <p:cNvSpPr/>
            <p:nvPr/>
          </p:nvSpPr>
          <p:spPr>
            <a:xfrm flipH="false" flipV="false" rot="0">
              <a:off x="0" y="0"/>
              <a:ext cx="4274726" cy="1048645"/>
            </a:xfrm>
            <a:custGeom>
              <a:avLst/>
              <a:gdLst/>
              <a:ahLst/>
              <a:cxnLst/>
              <a:rect r="r" b="b" t="t" l="l"/>
              <a:pathLst>
                <a:path h="1048645" w="4274726">
                  <a:moveTo>
                    <a:pt x="21659" y="0"/>
                  </a:moveTo>
                  <a:lnTo>
                    <a:pt x="4253067" y="0"/>
                  </a:lnTo>
                  <a:cubicBezTo>
                    <a:pt x="4265029" y="0"/>
                    <a:pt x="4274726" y="9697"/>
                    <a:pt x="4274726" y="21659"/>
                  </a:cubicBezTo>
                  <a:lnTo>
                    <a:pt x="4274726" y="1026985"/>
                  </a:lnTo>
                  <a:cubicBezTo>
                    <a:pt x="4274726" y="1038947"/>
                    <a:pt x="4265029" y="1048645"/>
                    <a:pt x="4253067" y="1048645"/>
                  </a:cubicBezTo>
                  <a:lnTo>
                    <a:pt x="21659" y="1048645"/>
                  </a:lnTo>
                  <a:cubicBezTo>
                    <a:pt x="9697" y="1048645"/>
                    <a:pt x="0" y="1038947"/>
                    <a:pt x="0" y="1026985"/>
                  </a:cubicBezTo>
                  <a:lnTo>
                    <a:pt x="0" y="21659"/>
                  </a:lnTo>
                  <a:cubicBezTo>
                    <a:pt x="0" y="9697"/>
                    <a:pt x="9697" y="0"/>
                    <a:pt x="21659" y="0"/>
                  </a:cubicBezTo>
                  <a:close/>
                </a:path>
              </a:pathLst>
            </a:custGeom>
            <a:ln w="9525" cap="rnd">
              <a:solidFill>
                <a:srgbClr val="FFDE59"/>
              </a:solidFill>
              <a:prstDash val="solid"/>
              <a:round/>
            </a:ln>
          </p:spPr>
        </p:sp>
        <p:sp>
          <p:nvSpPr>
            <p:cNvPr name="TextBox 13" id="13"/>
            <p:cNvSpPr txBox="true"/>
            <p:nvPr/>
          </p:nvSpPr>
          <p:spPr>
            <a:xfrm>
              <a:off x="0" y="9525"/>
              <a:ext cx="4274726" cy="1039120"/>
            </a:xfrm>
            <a:prstGeom prst="rect">
              <a:avLst/>
            </a:prstGeom>
          </p:spPr>
          <p:txBody>
            <a:bodyPr anchor="ctr" rtlCol="false" tIns="50800" lIns="50800" bIns="50800" rIns="50800"/>
            <a:lstStyle/>
            <a:p>
              <a:pPr algn="ctr">
                <a:lnSpc>
                  <a:spcPts val="1760"/>
                </a:lnSpc>
              </a:pPr>
            </a:p>
          </p:txBody>
        </p:sp>
      </p:grpSp>
      <p:sp>
        <p:nvSpPr>
          <p:cNvPr name="TextBox 14" id="14"/>
          <p:cNvSpPr txBox="true"/>
          <p:nvPr/>
        </p:nvSpPr>
        <p:spPr>
          <a:xfrm rot="0">
            <a:off x="772332" y="7340442"/>
            <a:ext cx="8038602" cy="431080"/>
          </a:xfrm>
          <a:prstGeom prst="rect">
            <a:avLst/>
          </a:prstGeom>
        </p:spPr>
        <p:txBody>
          <a:bodyPr anchor="t" rtlCol="false" tIns="0" lIns="0" bIns="0" rIns="0">
            <a:spAutoFit/>
          </a:bodyPr>
          <a:lstStyle/>
          <a:p>
            <a:pPr algn="just" marL="0" indent="0" lvl="0">
              <a:lnSpc>
                <a:spcPts val="3391"/>
              </a:lnSpc>
              <a:spcBef>
                <a:spcPct val="0"/>
              </a:spcBef>
            </a:pPr>
            <a:r>
              <a:rPr lang="en-US" b="true" sz="3083">
                <a:solidFill>
                  <a:srgbClr val="FFDE59"/>
                </a:solidFill>
                <a:latin typeface="Space Mono Bold"/>
                <a:ea typeface="Space Mono Bold"/>
                <a:cs typeface="Space Mono Bold"/>
                <a:sym typeface="Space Mono Bold"/>
              </a:rPr>
              <a:t>INTEGRATIONS</a:t>
            </a:r>
          </a:p>
        </p:txBody>
      </p:sp>
      <p:sp>
        <p:nvSpPr>
          <p:cNvPr name="TextBox 15" id="15"/>
          <p:cNvSpPr txBox="true"/>
          <p:nvPr/>
        </p:nvSpPr>
        <p:spPr>
          <a:xfrm rot="0">
            <a:off x="9524959" y="5456853"/>
            <a:ext cx="8034495" cy="431080"/>
          </a:xfrm>
          <a:prstGeom prst="rect">
            <a:avLst/>
          </a:prstGeom>
        </p:spPr>
        <p:txBody>
          <a:bodyPr anchor="t" rtlCol="false" tIns="0" lIns="0" bIns="0" rIns="0">
            <a:spAutoFit/>
          </a:bodyPr>
          <a:lstStyle/>
          <a:p>
            <a:pPr algn="just" marL="0" indent="0" lvl="0">
              <a:lnSpc>
                <a:spcPts val="3391"/>
              </a:lnSpc>
              <a:spcBef>
                <a:spcPct val="0"/>
              </a:spcBef>
            </a:pPr>
            <a:r>
              <a:rPr lang="en-US" b="true" sz="3083">
                <a:solidFill>
                  <a:srgbClr val="FFDE59"/>
                </a:solidFill>
                <a:latin typeface="Space Mono Bold"/>
                <a:ea typeface="Space Mono Bold"/>
                <a:cs typeface="Space Mono Bold"/>
                <a:sym typeface="Space Mono Bold"/>
              </a:rPr>
              <a:t>INNOVATIONS</a:t>
            </a:r>
          </a:p>
        </p:txBody>
      </p:sp>
      <p:sp>
        <p:nvSpPr>
          <p:cNvPr name="TextBox 16" id="16"/>
          <p:cNvSpPr txBox="true"/>
          <p:nvPr/>
        </p:nvSpPr>
        <p:spPr>
          <a:xfrm rot="0">
            <a:off x="802892" y="5450909"/>
            <a:ext cx="8034495" cy="431080"/>
          </a:xfrm>
          <a:prstGeom prst="rect">
            <a:avLst/>
          </a:prstGeom>
        </p:spPr>
        <p:txBody>
          <a:bodyPr anchor="t" rtlCol="false" tIns="0" lIns="0" bIns="0" rIns="0">
            <a:spAutoFit/>
          </a:bodyPr>
          <a:lstStyle/>
          <a:p>
            <a:pPr algn="just" marL="0" indent="0" lvl="0">
              <a:lnSpc>
                <a:spcPts val="3391"/>
              </a:lnSpc>
              <a:spcBef>
                <a:spcPct val="0"/>
              </a:spcBef>
            </a:pPr>
            <a:r>
              <a:rPr lang="en-US" b="true" sz="3083">
                <a:solidFill>
                  <a:srgbClr val="FFDE59"/>
                </a:solidFill>
                <a:latin typeface="Space Mono Bold"/>
                <a:ea typeface="Space Mono Bold"/>
                <a:cs typeface="Space Mono Bold"/>
                <a:sym typeface="Space Mono Bold"/>
              </a:rPr>
              <a:t>ADOPTION</a:t>
            </a:r>
          </a:p>
        </p:txBody>
      </p:sp>
      <p:sp>
        <p:nvSpPr>
          <p:cNvPr name="TextBox 17" id="17"/>
          <p:cNvSpPr txBox="true"/>
          <p:nvPr/>
        </p:nvSpPr>
        <p:spPr>
          <a:xfrm rot="0">
            <a:off x="802892" y="6068853"/>
            <a:ext cx="8034495" cy="1468901"/>
          </a:xfrm>
          <a:prstGeom prst="rect">
            <a:avLst/>
          </a:prstGeom>
        </p:spPr>
        <p:txBody>
          <a:bodyPr anchor="t" rtlCol="false" tIns="0" lIns="0" bIns="0" rIns="0">
            <a:spAutoFit/>
          </a:bodyPr>
          <a:lstStyle/>
          <a:p>
            <a:pPr algn="just">
              <a:lnSpc>
                <a:spcPts val="1695"/>
              </a:lnSpc>
            </a:pPr>
            <a:r>
              <a:rPr lang="en-US" b="true" sz="1541">
                <a:solidFill>
                  <a:srgbClr val="FFFFFF"/>
                </a:solidFill>
                <a:latin typeface="Space Mono Bold"/>
                <a:ea typeface="Space Mono Bold"/>
                <a:cs typeface="Space Mono Bold"/>
                <a:sym typeface="Space Mono Bold"/>
              </a:rPr>
              <a:t>EXPANDING RAPIDFIRE INTO A FULLY OPEN-SOURCE ECOSYSTEM WHERE DEVELOPERS CAN PUBLISH, RATE, AND PULL CUSTOM ENVIRONMENT PRESETS GLOBALLY. THIS COMMUNITY-DRIVEN APPROACH WILL ACCELERATE WIDESPREAD ADOPTION AMONG BOTH ACADEMIC STUDENT TEAMS AND AGILE ENTERPRISE STARTUPS.</a:t>
            </a:r>
          </a:p>
          <a:p>
            <a:pPr algn="just">
              <a:lnSpc>
                <a:spcPts val="1695"/>
              </a:lnSpc>
            </a:pPr>
          </a:p>
          <a:p>
            <a:pPr algn="just">
              <a:lnSpc>
                <a:spcPts val="1695"/>
              </a:lnSpc>
            </a:pPr>
          </a:p>
        </p:txBody>
      </p:sp>
      <p:grpSp>
        <p:nvGrpSpPr>
          <p:cNvPr name="Group 18" id="18"/>
          <p:cNvGrpSpPr/>
          <p:nvPr/>
        </p:nvGrpSpPr>
        <p:grpSpPr>
          <a:xfrm rot="0">
            <a:off x="10312771" y="3475824"/>
            <a:ext cx="7789215" cy="864199"/>
            <a:chOff x="0" y="0"/>
            <a:chExt cx="2051480" cy="227608"/>
          </a:xfrm>
        </p:grpSpPr>
        <p:sp>
          <p:nvSpPr>
            <p:cNvPr name="Freeform 19" id="19"/>
            <p:cNvSpPr/>
            <p:nvPr/>
          </p:nvSpPr>
          <p:spPr>
            <a:xfrm flipH="false" flipV="false" rot="0">
              <a:off x="0" y="0"/>
              <a:ext cx="2051480" cy="227608"/>
            </a:xfrm>
            <a:custGeom>
              <a:avLst/>
              <a:gdLst/>
              <a:ahLst/>
              <a:cxnLst/>
              <a:rect r="r" b="b" t="t" l="l"/>
              <a:pathLst>
                <a:path h="227608" w="2051480">
                  <a:moveTo>
                    <a:pt x="49696" y="0"/>
                  </a:moveTo>
                  <a:lnTo>
                    <a:pt x="2001784" y="0"/>
                  </a:lnTo>
                  <a:cubicBezTo>
                    <a:pt x="2014964" y="0"/>
                    <a:pt x="2027605" y="5236"/>
                    <a:pt x="2036925" y="14556"/>
                  </a:cubicBezTo>
                  <a:cubicBezTo>
                    <a:pt x="2046244" y="23876"/>
                    <a:pt x="2051480" y="36516"/>
                    <a:pt x="2051480" y="49696"/>
                  </a:cubicBezTo>
                  <a:lnTo>
                    <a:pt x="2051480" y="177912"/>
                  </a:lnTo>
                  <a:cubicBezTo>
                    <a:pt x="2051480" y="191092"/>
                    <a:pt x="2046244" y="203732"/>
                    <a:pt x="2036925" y="213052"/>
                  </a:cubicBezTo>
                  <a:cubicBezTo>
                    <a:pt x="2027605" y="222372"/>
                    <a:pt x="2014964" y="227608"/>
                    <a:pt x="2001784" y="227608"/>
                  </a:cubicBezTo>
                  <a:lnTo>
                    <a:pt x="49696" y="227608"/>
                  </a:lnTo>
                  <a:cubicBezTo>
                    <a:pt x="36516" y="227608"/>
                    <a:pt x="23876" y="222372"/>
                    <a:pt x="14556" y="213052"/>
                  </a:cubicBezTo>
                  <a:cubicBezTo>
                    <a:pt x="5236" y="203732"/>
                    <a:pt x="0" y="191092"/>
                    <a:pt x="0" y="177912"/>
                  </a:cubicBezTo>
                  <a:lnTo>
                    <a:pt x="0" y="49696"/>
                  </a:lnTo>
                  <a:cubicBezTo>
                    <a:pt x="0" y="36516"/>
                    <a:pt x="5236" y="23876"/>
                    <a:pt x="14556" y="14556"/>
                  </a:cubicBezTo>
                  <a:cubicBezTo>
                    <a:pt x="23876" y="5236"/>
                    <a:pt x="36516" y="0"/>
                    <a:pt x="49696" y="0"/>
                  </a:cubicBezTo>
                  <a:close/>
                </a:path>
              </a:pathLst>
            </a:custGeom>
            <a:solidFill>
              <a:srgbClr val="FFDE59"/>
            </a:solidFill>
          </p:spPr>
        </p:sp>
        <p:sp>
          <p:nvSpPr>
            <p:cNvPr name="TextBox 20" id="20"/>
            <p:cNvSpPr txBox="true"/>
            <p:nvPr/>
          </p:nvSpPr>
          <p:spPr>
            <a:xfrm>
              <a:off x="0" y="9525"/>
              <a:ext cx="2051480" cy="218083"/>
            </a:xfrm>
            <a:prstGeom prst="rect">
              <a:avLst/>
            </a:prstGeom>
          </p:spPr>
          <p:txBody>
            <a:bodyPr anchor="ctr" rtlCol="false" tIns="50800" lIns="50800" bIns="50800" rIns="50800"/>
            <a:lstStyle/>
            <a:p>
              <a:pPr algn="ctr">
                <a:lnSpc>
                  <a:spcPts val="1760"/>
                </a:lnSpc>
              </a:pPr>
            </a:p>
          </p:txBody>
        </p:sp>
      </p:grpSp>
      <p:sp>
        <p:nvSpPr>
          <p:cNvPr name="TextBox 21" id="21"/>
          <p:cNvSpPr txBox="true"/>
          <p:nvPr/>
        </p:nvSpPr>
        <p:spPr>
          <a:xfrm rot="0">
            <a:off x="10312771" y="3732982"/>
            <a:ext cx="7789215" cy="387985"/>
          </a:xfrm>
          <a:prstGeom prst="rect">
            <a:avLst/>
          </a:prstGeom>
        </p:spPr>
        <p:txBody>
          <a:bodyPr anchor="t" rtlCol="false" tIns="0" lIns="0" bIns="0" rIns="0">
            <a:spAutoFit/>
          </a:bodyPr>
          <a:lstStyle/>
          <a:p>
            <a:pPr algn="ctr" marL="0" indent="0" lvl="0">
              <a:lnSpc>
                <a:spcPts val="3079"/>
              </a:lnSpc>
              <a:spcBef>
                <a:spcPct val="0"/>
              </a:spcBef>
            </a:pPr>
            <a:r>
              <a:rPr lang="en-US" b="true" sz="2799">
                <a:solidFill>
                  <a:srgbClr val="000000"/>
                </a:solidFill>
                <a:latin typeface="Space Mono Bold"/>
                <a:ea typeface="Space Mono Bold"/>
                <a:cs typeface="Space Mono Bold"/>
                <a:sym typeface="Space Mono Bold"/>
              </a:rPr>
              <a:t>FUTURE SCOPE</a:t>
            </a:r>
          </a:p>
        </p:txBody>
      </p:sp>
      <p:sp>
        <p:nvSpPr>
          <p:cNvPr name="TextBox 22" id="22"/>
          <p:cNvSpPr txBox="true"/>
          <p:nvPr/>
        </p:nvSpPr>
        <p:spPr>
          <a:xfrm rot="0">
            <a:off x="9696283" y="6068853"/>
            <a:ext cx="8034495" cy="1049366"/>
          </a:xfrm>
          <a:prstGeom prst="rect">
            <a:avLst/>
          </a:prstGeom>
        </p:spPr>
        <p:txBody>
          <a:bodyPr anchor="t" rtlCol="false" tIns="0" lIns="0" bIns="0" rIns="0">
            <a:spAutoFit/>
          </a:bodyPr>
          <a:lstStyle/>
          <a:p>
            <a:pPr algn="just">
              <a:lnSpc>
                <a:spcPts val="1695"/>
              </a:lnSpc>
            </a:pPr>
            <a:r>
              <a:rPr lang="en-US" b="true" sz="1541">
                <a:solidFill>
                  <a:srgbClr val="FFFFFF"/>
                </a:solidFill>
                <a:latin typeface="Space Mono Bold"/>
                <a:ea typeface="Space Mono Bold"/>
                <a:cs typeface="Space Mono Bold"/>
                <a:sym typeface="Space Mono Bold"/>
              </a:rPr>
              <a:t>UPGRADING THE LOCAL AI ENGINE FROM PASSIVE LIBRARY RECOMMENDATIONS TO AN ACTIVE "SELF-HEALING" ASSISTANT. FUTURE ITERATIONS WILL ANALYZE TERMINAL CRASH LOGS IN REAL-TIME AND AUTONOMOUSLY SUGGEST DEPENDENCY FIXES OR ARCHITECTURE ADJUSTMENTS WITHOUT COMPROMISING CODE PRIVACY.</a:t>
            </a:r>
          </a:p>
        </p:txBody>
      </p:sp>
      <p:sp>
        <p:nvSpPr>
          <p:cNvPr name="TextBox 23" id="23"/>
          <p:cNvSpPr txBox="true"/>
          <p:nvPr/>
        </p:nvSpPr>
        <p:spPr>
          <a:xfrm rot="0">
            <a:off x="802892" y="7962022"/>
            <a:ext cx="12470190" cy="1049366"/>
          </a:xfrm>
          <a:prstGeom prst="rect">
            <a:avLst/>
          </a:prstGeom>
        </p:spPr>
        <p:txBody>
          <a:bodyPr anchor="t" rtlCol="false" tIns="0" lIns="0" bIns="0" rIns="0">
            <a:spAutoFit/>
          </a:bodyPr>
          <a:lstStyle/>
          <a:p>
            <a:pPr algn="just">
              <a:lnSpc>
                <a:spcPts val="1695"/>
              </a:lnSpc>
            </a:pPr>
            <a:r>
              <a:rPr lang="en-US" b="true" sz="1541">
                <a:solidFill>
                  <a:srgbClr val="FFFFFF"/>
                </a:solidFill>
                <a:latin typeface="Space Mono Bold"/>
                <a:ea typeface="Space Mono Bold"/>
                <a:cs typeface="Space Mono Bold"/>
                <a:sym typeface="Space Mono Bold"/>
              </a:rPr>
              <a:t>BROADENING OUR AUTOMATED DEPLOYMENT SUPPORT BEYOND FIREBASE BY INTEGRATING INFRASTRUCTURE AS CODE (IAC) TOOLS LIKE TERRAFORM. THIS WILL ALLOW THE CLI TO AUTOMATICALLY PROVISION COMPLEX AWS CLOUD ENVIRONMENTS AND WRITE GITHUB ACTIONS CI/CD PIPELINES NATIVELY.</a:t>
            </a:r>
          </a:p>
          <a:p>
            <a:pPr algn="just">
              <a:lnSpc>
                <a:spcPts val="1695"/>
              </a:lnSpc>
            </a:pPr>
          </a:p>
          <a:p>
            <a:pPr algn="just">
              <a:lnSpc>
                <a:spcPts val="1695"/>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288529" y="2506874"/>
            <a:ext cx="17796121" cy="7117975"/>
            <a:chOff x="0" y="0"/>
            <a:chExt cx="4687044" cy="1874693"/>
          </a:xfrm>
        </p:grpSpPr>
        <p:sp>
          <p:nvSpPr>
            <p:cNvPr name="Freeform 4" id="4"/>
            <p:cNvSpPr/>
            <p:nvPr/>
          </p:nvSpPr>
          <p:spPr>
            <a:xfrm flipH="false" flipV="false" rot="0">
              <a:off x="0" y="0"/>
              <a:ext cx="4687044" cy="1874693"/>
            </a:xfrm>
            <a:custGeom>
              <a:avLst/>
              <a:gdLst/>
              <a:ahLst/>
              <a:cxnLst/>
              <a:rect r="r" b="b" t="t" l="l"/>
              <a:pathLst>
                <a:path h="1874693" w="4687044">
                  <a:moveTo>
                    <a:pt x="21752" y="0"/>
                  </a:moveTo>
                  <a:lnTo>
                    <a:pt x="4665292" y="0"/>
                  </a:lnTo>
                  <a:cubicBezTo>
                    <a:pt x="4671061" y="0"/>
                    <a:pt x="4676594" y="2292"/>
                    <a:pt x="4680673" y="6371"/>
                  </a:cubicBezTo>
                  <a:cubicBezTo>
                    <a:pt x="4684752" y="10450"/>
                    <a:pt x="4687044" y="15983"/>
                    <a:pt x="4687044" y="21752"/>
                  </a:cubicBezTo>
                  <a:lnTo>
                    <a:pt x="4687044" y="1852941"/>
                  </a:lnTo>
                  <a:cubicBezTo>
                    <a:pt x="4687044" y="1864954"/>
                    <a:pt x="4677306" y="1874693"/>
                    <a:pt x="4665292" y="1874693"/>
                  </a:cubicBezTo>
                  <a:lnTo>
                    <a:pt x="21752" y="1874693"/>
                  </a:lnTo>
                  <a:cubicBezTo>
                    <a:pt x="15983" y="1874693"/>
                    <a:pt x="10450" y="1872401"/>
                    <a:pt x="6371" y="1868322"/>
                  </a:cubicBezTo>
                  <a:cubicBezTo>
                    <a:pt x="2292" y="1864243"/>
                    <a:pt x="0" y="1858710"/>
                    <a:pt x="0" y="1852941"/>
                  </a:cubicBezTo>
                  <a:lnTo>
                    <a:pt x="0" y="21752"/>
                  </a:lnTo>
                  <a:cubicBezTo>
                    <a:pt x="0" y="15983"/>
                    <a:pt x="2292" y="10450"/>
                    <a:pt x="6371" y="6371"/>
                  </a:cubicBezTo>
                  <a:cubicBezTo>
                    <a:pt x="10450" y="2292"/>
                    <a:pt x="15983" y="0"/>
                    <a:pt x="21752" y="0"/>
                  </a:cubicBezTo>
                  <a:close/>
                </a:path>
              </a:pathLst>
            </a:custGeom>
            <a:ln w="9525" cap="rnd">
              <a:solidFill>
                <a:srgbClr val="FFDE59"/>
              </a:solidFill>
              <a:prstDash val="solid"/>
              <a:round/>
            </a:ln>
          </p:spPr>
        </p:sp>
        <p:sp>
          <p:nvSpPr>
            <p:cNvPr name="TextBox 5" id="5"/>
            <p:cNvSpPr txBox="true"/>
            <p:nvPr/>
          </p:nvSpPr>
          <p:spPr>
            <a:xfrm>
              <a:off x="0" y="9525"/>
              <a:ext cx="4687044" cy="1865168"/>
            </a:xfrm>
            <a:prstGeom prst="rect">
              <a:avLst/>
            </a:prstGeom>
          </p:spPr>
          <p:txBody>
            <a:bodyPr anchor="ctr" rtlCol="false" tIns="50800" lIns="50800" bIns="50800" rIns="50800"/>
            <a:lstStyle/>
            <a:p>
              <a:pPr algn="ctr">
                <a:lnSpc>
                  <a:spcPts val="1760"/>
                </a:lnSpc>
              </a:pPr>
            </a:p>
          </p:txBody>
        </p:sp>
      </p:grpSp>
      <p:grpSp>
        <p:nvGrpSpPr>
          <p:cNvPr name="Group 6" id="6"/>
          <p:cNvGrpSpPr/>
          <p:nvPr/>
        </p:nvGrpSpPr>
        <p:grpSpPr>
          <a:xfrm rot="0">
            <a:off x="10851350" y="731862"/>
            <a:ext cx="4951304" cy="713977"/>
            <a:chOff x="0" y="0"/>
            <a:chExt cx="1830519" cy="263961"/>
          </a:xfrm>
        </p:grpSpPr>
        <p:sp>
          <p:nvSpPr>
            <p:cNvPr name="Freeform 7" id="7"/>
            <p:cNvSpPr/>
            <p:nvPr/>
          </p:nvSpPr>
          <p:spPr>
            <a:xfrm flipH="false" flipV="false" rot="0">
              <a:off x="0" y="0"/>
              <a:ext cx="1830519" cy="263961"/>
            </a:xfrm>
            <a:custGeom>
              <a:avLst/>
              <a:gdLst/>
              <a:ahLst/>
              <a:cxnLst/>
              <a:rect r="r" b="b" t="t" l="l"/>
              <a:pathLst>
                <a:path h="263961" w="1830519">
                  <a:moveTo>
                    <a:pt x="78181" y="0"/>
                  </a:moveTo>
                  <a:lnTo>
                    <a:pt x="1752338" y="0"/>
                  </a:lnTo>
                  <a:cubicBezTo>
                    <a:pt x="1773073" y="0"/>
                    <a:pt x="1792958" y="8237"/>
                    <a:pt x="1807620" y="22899"/>
                  </a:cubicBezTo>
                  <a:cubicBezTo>
                    <a:pt x="1822282" y="37560"/>
                    <a:pt x="1830519" y="57446"/>
                    <a:pt x="1830519" y="78181"/>
                  </a:cubicBezTo>
                  <a:lnTo>
                    <a:pt x="1830519" y="185780"/>
                  </a:lnTo>
                  <a:cubicBezTo>
                    <a:pt x="1830519" y="206515"/>
                    <a:pt x="1822282" y="226400"/>
                    <a:pt x="1807620" y="241062"/>
                  </a:cubicBezTo>
                  <a:cubicBezTo>
                    <a:pt x="1792958" y="255724"/>
                    <a:pt x="1773073" y="263961"/>
                    <a:pt x="1752338" y="263961"/>
                  </a:cubicBezTo>
                  <a:lnTo>
                    <a:pt x="78181" y="263961"/>
                  </a:lnTo>
                  <a:cubicBezTo>
                    <a:pt x="57446" y="263961"/>
                    <a:pt x="37560" y="255724"/>
                    <a:pt x="22899" y="241062"/>
                  </a:cubicBezTo>
                  <a:cubicBezTo>
                    <a:pt x="8237" y="226400"/>
                    <a:pt x="0" y="206515"/>
                    <a:pt x="0" y="185780"/>
                  </a:cubicBezTo>
                  <a:lnTo>
                    <a:pt x="0" y="78181"/>
                  </a:lnTo>
                  <a:cubicBezTo>
                    <a:pt x="0" y="57446"/>
                    <a:pt x="8237" y="37560"/>
                    <a:pt x="22899" y="22899"/>
                  </a:cubicBezTo>
                  <a:cubicBezTo>
                    <a:pt x="37560" y="8237"/>
                    <a:pt x="57446" y="0"/>
                    <a:pt x="78181" y="0"/>
                  </a:cubicBezTo>
                  <a:close/>
                </a:path>
              </a:pathLst>
            </a:custGeom>
            <a:ln w="9525" cap="rnd">
              <a:solidFill>
                <a:srgbClr val="FFDE59"/>
              </a:solidFill>
              <a:prstDash val="solid"/>
              <a:round/>
            </a:ln>
          </p:spPr>
        </p:sp>
        <p:sp>
          <p:nvSpPr>
            <p:cNvPr name="TextBox 8" id="8"/>
            <p:cNvSpPr txBox="true"/>
            <p:nvPr/>
          </p:nvSpPr>
          <p:spPr>
            <a:xfrm>
              <a:off x="0" y="9525"/>
              <a:ext cx="1830519" cy="254436"/>
            </a:xfrm>
            <a:prstGeom prst="rect">
              <a:avLst/>
            </a:prstGeom>
          </p:spPr>
          <p:txBody>
            <a:bodyPr anchor="ctr" rtlCol="false" tIns="36190" lIns="36190" bIns="36190" rIns="36190"/>
            <a:lstStyle/>
            <a:p>
              <a:pPr algn="ctr">
                <a:lnSpc>
                  <a:spcPts val="1759"/>
                </a:lnSpc>
              </a:pPr>
            </a:p>
          </p:txBody>
        </p:sp>
      </p:grpSp>
      <p:sp>
        <p:nvSpPr>
          <p:cNvPr name="Freeform 9" id="9"/>
          <p:cNvSpPr/>
          <p:nvPr/>
        </p:nvSpPr>
        <p:spPr>
          <a:xfrm flipH="false" flipV="false" rot="0">
            <a:off x="14111844" y="338165"/>
            <a:ext cx="1979142" cy="1928763"/>
          </a:xfrm>
          <a:custGeom>
            <a:avLst/>
            <a:gdLst/>
            <a:ahLst/>
            <a:cxnLst/>
            <a:rect r="r" b="b" t="t" l="l"/>
            <a:pathLst>
              <a:path h="1928763" w="1979142">
                <a:moveTo>
                  <a:pt x="0" y="0"/>
                </a:moveTo>
                <a:lnTo>
                  <a:pt x="1979142" y="0"/>
                </a:lnTo>
                <a:lnTo>
                  <a:pt x="1979142" y="1928763"/>
                </a:lnTo>
                <a:lnTo>
                  <a:pt x="0" y="1928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6598113" y="22019"/>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sp>
        <p:nvSpPr>
          <p:cNvPr name="TextBox 11" id="11"/>
          <p:cNvSpPr txBox="true"/>
          <p:nvPr/>
        </p:nvSpPr>
        <p:spPr>
          <a:xfrm rot="0">
            <a:off x="10213048" y="610260"/>
            <a:ext cx="6227908" cy="835579"/>
          </a:xfrm>
          <a:prstGeom prst="rect">
            <a:avLst/>
          </a:prstGeom>
        </p:spPr>
        <p:txBody>
          <a:bodyPr anchor="t" rtlCol="false" tIns="0" lIns="0" bIns="0" rIns="0">
            <a:spAutoFit/>
          </a:bodyPr>
          <a:lstStyle/>
          <a:p>
            <a:pPr algn="ctr">
              <a:lnSpc>
                <a:spcPts val="6806"/>
              </a:lnSpc>
            </a:pPr>
            <a:r>
              <a:rPr lang="en-US" sz="4861" b="true">
                <a:solidFill>
                  <a:srgbClr val="FFFFFF"/>
                </a:solidFill>
                <a:latin typeface="Canva Sans Bold"/>
                <a:ea typeface="Canva Sans Bold"/>
                <a:cs typeface="Canva Sans Bold"/>
                <a:sym typeface="Canva Sans Bold"/>
              </a:rPr>
              <a:t>REFERENCES</a:t>
            </a:r>
          </a:p>
        </p:txBody>
      </p:sp>
      <p:sp>
        <p:nvSpPr>
          <p:cNvPr name="Freeform 12" id="12"/>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5"/>
            <a:stretch>
              <a:fillRect l="0" t="0" r="0" b="0"/>
            </a:stretch>
          </a:blipFill>
        </p:spPr>
      </p:sp>
      <p:sp>
        <p:nvSpPr>
          <p:cNvPr name="TextBox 13" id="13"/>
          <p:cNvSpPr txBox="true"/>
          <p:nvPr/>
        </p:nvSpPr>
        <p:spPr>
          <a:xfrm rot="0">
            <a:off x="524240" y="2945983"/>
            <a:ext cx="17483282" cy="6760041"/>
          </a:xfrm>
          <a:prstGeom prst="rect">
            <a:avLst/>
          </a:prstGeom>
        </p:spPr>
        <p:txBody>
          <a:bodyPr anchor="t" rtlCol="false" tIns="0" lIns="0" bIns="0" rIns="0">
            <a:spAutoFit/>
          </a:bodyPr>
          <a:lstStyle/>
          <a:p>
            <a:pPr algn="ctr">
              <a:lnSpc>
                <a:spcPts val="2350"/>
              </a:lnSpc>
            </a:pPr>
          </a:p>
          <a:p>
            <a:pPr algn="l">
              <a:lnSpc>
                <a:spcPts val="2350"/>
              </a:lnSpc>
              <a:spcBef>
                <a:spcPct val="0"/>
              </a:spcBef>
            </a:pPr>
            <a:r>
              <a:rPr lang="en-US" b="true" sz="2136" spc="-106">
                <a:solidFill>
                  <a:srgbClr val="FFFFFF"/>
                </a:solidFill>
                <a:latin typeface="Space Mono Bold"/>
                <a:ea typeface="Space Mono Bold"/>
                <a:cs typeface="Space Mono Bold"/>
                <a:sym typeface="Space Mono Bold"/>
              </a:rPr>
              <a:t>[1] M. Meli, M. R. McNiece and B. Reaves, “H</a:t>
            </a:r>
            <a:r>
              <a:rPr lang="en-US" b="true" sz="2136" spc="-106">
                <a:solidFill>
                  <a:srgbClr val="FFFFFF"/>
                </a:solidFill>
                <a:latin typeface="Space Mono Bold"/>
                <a:ea typeface="Space Mono Bold"/>
                <a:cs typeface="Space Mono Bold"/>
                <a:sym typeface="Space Mono Bold"/>
              </a:rPr>
              <a:t>ow Bad Can It Git? Characterizing Secret Leakage in Public GitHub Repositories,” in Proc. Network and Distributed System Security Symposium (NDSS), San Diego, CA, USA, 2019.</a:t>
            </a:r>
          </a:p>
          <a:p>
            <a:pPr algn="l">
              <a:lnSpc>
                <a:spcPts val="2130"/>
              </a:lnSpc>
              <a:spcBef>
                <a:spcPct val="0"/>
              </a:spcBef>
            </a:pPr>
          </a:p>
          <a:p>
            <a:pPr algn="ctr">
              <a:lnSpc>
                <a:spcPts val="2130"/>
              </a:lnSpc>
              <a:spcBef>
                <a:spcPct val="0"/>
              </a:spcBef>
            </a:pPr>
          </a:p>
          <a:p>
            <a:pPr algn="l">
              <a:lnSpc>
                <a:spcPts val="2130"/>
              </a:lnSpc>
              <a:spcBef>
                <a:spcPct val="0"/>
              </a:spcBef>
            </a:pPr>
          </a:p>
          <a:p>
            <a:pPr algn="l">
              <a:lnSpc>
                <a:spcPts val="2130"/>
              </a:lnSpc>
              <a:spcBef>
                <a:spcPct val="0"/>
              </a:spcBef>
            </a:pPr>
            <a:r>
              <a:rPr lang="en-US" b="true" sz="1936" spc="-96">
                <a:solidFill>
                  <a:srgbClr val="FFFFFF"/>
                </a:solidFill>
                <a:latin typeface="Space Mono Bold"/>
                <a:ea typeface="Space Mono Bold"/>
                <a:cs typeface="Space Mono Bold"/>
                <a:sym typeface="Space Mono Bold"/>
              </a:rPr>
              <a:t>[2] Gitleaks, “Gitleaks: Detect and prevent secrets in git repos,” Available: https://github.com/gitleaks/gitleaks (Accessed: Oct. 12, 2026).</a:t>
            </a:r>
          </a:p>
          <a:p>
            <a:pPr algn="l">
              <a:lnSpc>
                <a:spcPts val="2130"/>
              </a:lnSpc>
              <a:spcBef>
                <a:spcPct val="0"/>
              </a:spcBef>
            </a:pPr>
          </a:p>
          <a:p>
            <a:pPr algn="l">
              <a:lnSpc>
                <a:spcPts val="2130"/>
              </a:lnSpc>
              <a:spcBef>
                <a:spcPct val="0"/>
              </a:spcBef>
            </a:pPr>
          </a:p>
          <a:p>
            <a:pPr algn="l">
              <a:lnSpc>
                <a:spcPts val="2130"/>
              </a:lnSpc>
              <a:spcBef>
                <a:spcPct val="0"/>
              </a:spcBef>
            </a:pPr>
          </a:p>
          <a:p>
            <a:pPr algn="l">
              <a:lnSpc>
                <a:spcPts val="2130"/>
              </a:lnSpc>
              <a:spcBef>
                <a:spcPct val="0"/>
              </a:spcBef>
            </a:pPr>
            <a:r>
              <a:rPr lang="en-US" b="true" sz="1936" spc="-96">
                <a:solidFill>
                  <a:srgbClr val="FFFFFF"/>
                </a:solidFill>
                <a:latin typeface="Space Mono Bold"/>
                <a:ea typeface="Space Mono Bold"/>
                <a:cs typeface="Space Mono Bold"/>
                <a:sym typeface="Space Mono Bold"/>
              </a:rPr>
              <a:t>[3] Microsoft, “node-pty: Fork pseudoterminals in Node.js,” Available: https://github.com/microsoft/node-pty (Accessed: Oct. 12, 2026).</a:t>
            </a:r>
          </a:p>
          <a:p>
            <a:pPr algn="l">
              <a:lnSpc>
                <a:spcPts val="2130"/>
              </a:lnSpc>
              <a:spcBef>
                <a:spcPct val="0"/>
              </a:spcBef>
            </a:pPr>
          </a:p>
          <a:p>
            <a:pPr algn="l">
              <a:lnSpc>
                <a:spcPts val="2130"/>
              </a:lnSpc>
              <a:spcBef>
                <a:spcPct val="0"/>
              </a:spcBef>
            </a:pPr>
          </a:p>
          <a:p>
            <a:pPr algn="l">
              <a:lnSpc>
                <a:spcPts val="2130"/>
              </a:lnSpc>
              <a:spcBef>
                <a:spcPct val="0"/>
              </a:spcBef>
            </a:pPr>
          </a:p>
          <a:p>
            <a:pPr algn="l">
              <a:lnSpc>
                <a:spcPts val="2130"/>
              </a:lnSpc>
              <a:spcBef>
                <a:spcPct val="0"/>
              </a:spcBef>
            </a:pPr>
            <a:r>
              <a:rPr lang="en-US" b="true" sz="1936" spc="-96">
                <a:solidFill>
                  <a:srgbClr val="FFFFFF"/>
                </a:solidFill>
                <a:latin typeface="Space Mono Bold"/>
                <a:ea typeface="Space Mono Bold"/>
                <a:cs typeface="Space Mono Bold"/>
                <a:sym typeface="Space Mono Bold"/>
              </a:rPr>
              <a:t>[4] GitHub, “GitHub CLI manual,” Available: https://cli.github.com/manual (Accessed: Oct. 12, 2026).</a:t>
            </a:r>
          </a:p>
          <a:p>
            <a:pPr algn="l">
              <a:lnSpc>
                <a:spcPts val="2130"/>
              </a:lnSpc>
              <a:spcBef>
                <a:spcPct val="0"/>
              </a:spcBef>
            </a:pPr>
          </a:p>
          <a:p>
            <a:pPr algn="l">
              <a:lnSpc>
                <a:spcPts val="2130"/>
              </a:lnSpc>
              <a:spcBef>
                <a:spcPct val="0"/>
              </a:spcBef>
            </a:pPr>
          </a:p>
          <a:p>
            <a:pPr algn="l">
              <a:lnSpc>
                <a:spcPts val="2130"/>
              </a:lnSpc>
              <a:spcBef>
                <a:spcPct val="0"/>
              </a:spcBef>
            </a:pPr>
          </a:p>
          <a:p>
            <a:pPr algn="l">
              <a:lnSpc>
                <a:spcPts val="2130"/>
              </a:lnSpc>
              <a:spcBef>
                <a:spcPct val="0"/>
              </a:spcBef>
            </a:pPr>
            <a:r>
              <a:rPr lang="en-US" b="true" sz="1936" spc="-96">
                <a:solidFill>
                  <a:srgbClr val="FFFFFF"/>
                </a:solidFill>
                <a:latin typeface="Space Mono Bold"/>
                <a:ea typeface="Space Mono Bold"/>
                <a:cs typeface="Space Mono Bold"/>
                <a:sym typeface="Space Mono Bold"/>
              </a:rPr>
              <a:t>[5]“RapidFire CLI,” Available: https://github.com/VsrCube/Rapidfire-Cli.</a:t>
            </a:r>
          </a:p>
          <a:p>
            <a:pPr algn="l">
              <a:lnSpc>
                <a:spcPts val="2130"/>
              </a:lnSpc>
              <a:spcBef>
                <a:spcPct val="0"/>
              </a:spcBef>
            </a:pPr>
          </a:p>
          <a:p>
            <a:pPr algn="l">
              <a:lnSpc>
                <a:spcPts val="2130"/>
              </a:lnSpc>
              <a:spcBef>
                <a:spcPct val="0"/>
              </a:spcBef>
            </a:pPr>
          </a:p>
          <a:p>
            <a:pPr algn="ctr">
              <a:lnSpc>
                <a:spcPts val="2130"/>
              </a:lnSpc>
              <a:spcBef>
                <a:spcPct val="0"/>
              </a:spcBef>
            </a:pPr>
          </a:p>
          <a:p>
            <a:pPr algn="ctr">
              <a:lnSpc>
                <a:spcPts val="2130"/>
              </a:lnSpc>
              <a:spcBef>
                <a:spcPct val="0"/>
              </a:spcBef>
            </a:pPr>
          </a:p>
        </p:txBody>
      </p:sp>
    </p:spTree>
  </p:cSld>
  <p:clrMapOvr>
    <a:masterClrMapping/>
  </p:clrMapOvr>
  <p:transition spd="slow">
    <p:push dir="u"/>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744280" y="6757230"/>
            <a:ext cx="8160364" cy="419940"/>
          </a:xfrm>
          <a:prstGeom prst="rect">
            <a:avLst/>
          </a:prstGeom>
        </p:spPr>
        <p:txBody>
          <a:bodyPr anchor="t" rtlCol="false" tIns="0" lIns="0" bIns="0" rIns="0">
            <a:spAutoFit/>
          </a:bodyPr>
          <a:lstStyle/>
          <a:p>
            <a:pPr algn="ctr" marL="0" indent="0" lvl="0">
              <a:lnSpc>
                <a:spcPts val="3357"/>
              </a:lnSpc>
              <a:spcBef>
                <a:spcPct val="0"/>
              </a:spcBef>
            </a:pPr>
            <a:r>
              <a:rPr lang="en-US" b="true" sz="3052">
                <a:solidFill>
                  <a:srgbClr val="FFFFFF"/>
                </a:solidFill>
                <a:latin typeface="Space Mono Bold"/>
                <a:ea typeface="Space Mono Bold"/>
                <a:cs typeface="Space Mono Bold"/>
                <a:sym typeface="Space Mono Bold"/>
              </a:rPr>
              <a:t>TEAM: RAPID FIRE</a:t>
            </a:r>
          </a:p>
        </p:txBody>
      </p:sp>
      <p:sp>
        <p:nvSpPr>
          <p:cNvPr name="TextBox 5" id="5"/>
          <p:cNvSpPr txBox="true"/>
          <p:nvPr/>
        </p:nvSpPr>
        <p:spPr>
          <a:xfrm rot="0">
            <a:off x="0" y="3897873"/>
            <a:ext cx="18288000" cy="1953687"/>
          </a:xfrm>
          <a:prstGeom prst="rect">
            <a:avLst/>
          </a:prstGeom>
        </p:spPr>
        <p:txBody>
          <a:bodyPr anchor="t" rtlCol="false" tIns="0" lIns="0" bIns="0" rIns="0">
            <a:spAutoFit/>
          </a:bodyPr>
          <a:lstStyle/>
          <a:p>
            <a:pPr algn="ctr">
              <a:lnSpc>
                <a:spcPts val="14679"/>
              </a:lnSpc>
            </a:pPr>
            <a:r>
              <a:rPr lang="en-US" sz="14114">
                <a:solidFill>
                  <a:srgbClr val="FFDE59"/>
                </a:solidFill>
                <a:latin typeface="Bicubik"/>
                <a:ea typeface="Bicubik"/>
                <a:cs typeface="Bicubik"/>
                <a:sym typeface="Bicubik"/>
              </a:rPr>
              <a:t>THANK YOU</a:t>
            </a:r>
          </a:p>
        </p:txBody>
      </p:sp>
      <p:sp>
        <p:nvSpPr>
          <p:cNvPr name="Freeform 6" id="6"/>
          <p:cNvSpPr/>
          <p:nvPr/>
        </p:nvSpPr>
        <p:spPr>
          <a:xfrm flipH="false" flipV="false" rot="0">
            <a:off x="-4374150" y="6211103"/>
            <a:ext cx="7544574" cy="7352530"/>
          </a:xfrm>
          <a:custGeom>
            <a:avLst/>
            <a:gdLst/>
            <a:ahLst/>
            <a:cxnLst/>
            <a:rect r="r" b="b" t="t" l="l"/>
            <a:pathLst>
              <a:path h="7352530" w="7544574">
                <a:moveTo>
                  <a:pt x="0" y="0"/>
                </a:moveTo>
                <a:lnTo>
                  <a:pt x="7544574" y="0"/>
                </a:lnTo>
                <a:lnTo>
                  <a:pt x="7544574" y="7352531"/>
                </a:lnTo>
                <a:lnTo>
                  <a:pt x="0" y="73525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4869136" y="6948150"/>
            <a:ext cx="6837729" cy="6663678"/>
          </a:xfrm>
          <a:custGeom>
            <a:avLst/>
            <a:gdLst/>
            <a:ahLst/>
            <a:cxnLst/>
            <a:rect r="r" b="b" t="t" l="l"/>
            <a:pathLst>
              <a:path h="6663678" w="6837729">
                <a:moveTo>
                  <a:pt x="0" y="0"/>
                </a:moveTo>
                <a:lnTo>
                  <a:pt x="6837728" y="0"/>
                </a:lnTo>
                <a:lnTo>
                  <a:pt x="6837728" y="6663678"/>
                </a:lnTo>
                <a:lnTo>
                  <a:pt x="0" y="66636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7"/>
            <a:stretch>
              <a:fillRect l="0" t="0" r="0" b="0"/>
            </a:stretch>
          </a:blipFill>
        </p:spPr>
      </p:sp>
      <p:sp>
        <p:nvSpPr>
          <p:cNvPr name="TextBox 9" id="9"/>
          <p:cNvSpPr txBox="true"/>
          <p:nvPr/>
        </p:nvSpPr>
        <p:spPr>
          <a:xfrm rot="0">
            <a:off x="16779613" y="77608"/>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sp>
        <p:nvSpPr>
          <p:cNvPr name="TextBox 10" id="10"/>
          <p:cNvSpPr txBox="true"/>
          <p:nvPr/>
        </p:nvSpPr>
        <p:spPr>
          <a:xfrm rot="0">
            <a:off x="4744280" y="5791163"/>
            <a:ext cx="8160364" cy="419940"/>
          </a:xfrm>
          <a:prstGeom prst="rect">
            <a:avLst/>
          </a:prstGeom>
        </p:spPr>
        <p:txBody>
          <a:bodyPr anchor="t" rtlCol="false" tIns="0" lIns="0" bIns="0" rIns="0">
            <a:spAutoFit/>
          </a:bodyPr>
          <a:lstStyle/>
          <a:p>
            <a:pPr algn="ctr" marL="0" indent="0" lvl="0">
              <a:lnSpc>
                <a:spcPts val="3357"/>
              </a:lnSpc>
              <a:spcBef>
                <a:spcPct val="0"/>
              </a:spcBef>
            </a:pPr>
            <a:r>
              <a:rPr lang="en-US" b="true" sz="3052">
                <a:solidFill>
                  <a:srgbClr val="FFFFFF"/>
                </a:solidFill>
                <a:latin typeface="Space Mono Bold"/>
                <a:ea typeface="Space Mono Bold"/>
                <a:cs typeface="Space Mono Bold"/>
                <a:sym typeface="Space Mono Bold"/>
              </a:rPr>
              <a:t>Q&amp;A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2400633"/>
            <a:ext cx="4693261" cy="879901"/>
          </a:xfrm>
          <a:prstGeom prst="rect">
            <a:avLst/>
          </a:prstGeom>
        </p:spPr>
        <p:txBody>
          <a:bodyPr anchor="t" rtlCol="false" tIns="0" lIns="0" bIns="0" rIns="0">
            <a:spAutoFit/>
          </a:bodyPr>
          <a:lstStyle/>
          <a:p>
            <a:pPr algn="l">
              <a:lnSpc>
                <a:spcPts val="6638"/>
              </a:lnSpc>
            </a:pPr>
            <a:r>
              <a:rPr lang="en-US" sz="6383">
                <a:solidFill>
                  <a:srgbClr val="FFDE59"/>
                </a:solidFill>
                <a:latin typeface="Bicubik"/>
                <a:ea typeface="Bicubik"/>
                <a:cs typeface="Bicubik"/>
                <a:sym typeface="Bicubik"/>
              </a:rPr>
              <a:t>IMPACT</a:t>
            </a:r>
          </a:p>
        </p:txBody>
      </p:sp>
      <p:sp>
        <p:nvSpPr>
          <p:cNvPr name="Freeform 5" id="5"/>
          <p:cNvSpPr/>
          <p:nvPr/>
        </p:nvSpPr>
        <p:spPr>
          <a:xfrm flipH="false" flipV="false" rot="0">
            <a:off x="14680599" y="-4849448"/>
            <a:ext cx="8013643" cy="7809659"/>
          </a:xfrm>
          <a:custGeom>
            <a:avLst/>
            <a:gdLst/>
            <a:ahLst/>
            <a:cxnLst/>
            <a:rect r="r" b="b" t="t" l="l"/>
            <a:pathLst>
              <a:path h="7809659" w="8013643">
                <a:moveTo>
                  <a:pt x="0" y="0"/>
                </a:moveTo>
                <a:lnTo>
                  <a:pt x="8013643" y="0"/>
                </a:lnTo>
                <a:lnTo>
                  <a:pt x="8013643" y="7809659"/>
                </a:lnTo>
                <a:lnTo>
                  <a:pt x="0" y="78096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0693540" y="2593249"/>
            <a:ext cx="2575081" cy="988902"/>
            <a:chOff x="0" y="0"/>
            <a:chExt cx="3433442" cy="1318536"/>
          </a:xfrm>
        </p:grpSpPr>
        <p:grpSp>
          <p:nvGrpSpPr>
            <p:cNvPr name="Group 7" id="7"/>
            <p:cNvGrpSpPr/>
            <p:nvPr/>
          </p:nvGrpSpPr>
          <p:grpSpPr>
            <a:xfrm rot="0">
              <a:off x="0" y="0"/>
              <a:ext cx="3433442" cy="1318536"/>
              <a:chOff x="0" y="0"/>
              <a:chExt cx="794241" cy="305010"/>
            </a:xfrm>
          </p:grpSpPr>
          <p:sp>
            <p:nvSpPr>
              <p:cNvPr name="Freeform 8" id="8"/>
              <p:cNvSpPr/>
              <p:nvPr/>
            </p:nvSpPr>
            <p:spPr>
              <a:xfrm flipH="false" flipV="false" rot="0">
                <a:off x="0" y="0"/>
                <a:ext cx="794241" cy="305010"/>
              </a:xfrm>
              <a:custGeom>
                <a:avLst/>
                <a:gdLst/>
                <a:ahLst/>
                <a:cxnLst/>
                <a:rect r="r" b="b" t="t" l="l"/>
                <a:pathLst>
                  <a:path h="305010" w="794241">
                    <a:moveTo>
                      <a:pt x="150324" y="0"/>
                    </a:moveTo>
                    <a:lnTo>
                      <a:pt x="643918" y="0"/>
                    </a:lnTo>
                    <a:cubicBezTo>
                      <a:pt x="726939" y="0"/>
                      <a:pt x="794241" y="67302"/>
                      <a:pt x="794241" y="150324"/>
                    </a:cubicBezTo>
                    <a:lnTo>
                      <a:pt x="794241" y="154687"/>
                    </a:lnTo>
                    <a:cubicBezTo>
                      <a:pt x="794241" y="237708"/>
                      <a:pt x="726939" y="305010"/>
                      <a:pt x="643918" y="305010"/>
                    </a:cubicBezTo>
                    <a:lnTo>
                      <a:pt x="150324" y="305010"/>
                    </a:lnTo>
                    <a:cubicBezTo>
                      <a:pt x="67302" y="305010"/>
                      <a:pt x="0" y="237708"/>
                      <a:pt x="0" y="154687"/>
                    </a:cubicBezTo>
                    <a:lnTo>
                      <a:pt x="0" y="150324"/>
                    </a:lnTo>
                    <a:cubicBezTo>
                      <a:pt x="0" y="67302"/>
                      <a:pt x="67302" y="0"/>
                      <a:pt x="150324" y="0"/>
                    </a:cubicBezTo>
                    <a:close/>
                  </a:path>
                </a:pathLst>
              </a:custGeom>
              <a:solidFill>
                <a:srgbClr val="FFDE59"/>
              </a:solidFill>
            </p:spPr>
          </p:sp>
          <p:sp>
            <p:nvSpPr>
              <p:cNvPr name="TextBox 9" id="9"/>
              <p:cNvSpPr txBox="true"/>
              <p:nvPr/>
            </p:nvSpPr>
            <p:spPr>
              <a:xfrm>
                <a:off x="0" y="9525"/>
                <a:ext cx="794241" cy="295485"/>
              </a:xfrm>
              <a:prstGeom prst="rect">
                <a:avLst/>
              </a:prstGeom>
            </p:spPr>
            <p:txBody>
              <a:bodyPr anchor="ctr" rtlCol="false" tIns="50800" lIns="50800" bIns="50800" rIns="50800"/>
              <a:lstStyle/>
              <a:p>
                <a:pPr algn="ctr">
                  <a:lnSpc>
                    <a:spcPts val="1760"/>
                  </a:lnSpc>
                </a:pPr>
              </a:p>
            </p:txBody>
          </p:sp>
        </p:grpSp>
        <p:sp>
          <p:nvSpPr>
            <p:cNvPr name="TextBox 10" id="10"/>
            <p:cNvSpPr txBox="true"/>
            <p:nvPr/>
          </p:nvSpPr>
          <p:spPr>
            <a:xfrm rot="0">
              <a:off x="167008" y="482666"/>
              <a:ext cx="3017971" cy="444505"/>
            </a:xfrm>
            <a:prstGeom prst="rect">
              <a:avLst/>
            </a:prstGeom>
          </p:spPr>
          <p:txBody>
            <a:bodyPr anchor="t" rtlCol="false" tIns="0" lIns="0" bIns="0" rIns="0">
              <a:spAutoFit/>
            </a:bodyPr>
            <a:lstStyle/>
            <a:p>
              <a:pPr algn="ctr">
                <a:lnSpc>
                  <a:spcPts val="1315"/>
                </a:lnSpc>
              </a:pPr>
              <a:r>
                <a:rPr lang="en-US" b="true" sz="1195">
                  <a:solidFill>
                    <a:srgbClr val="000000"/>
                  </a:solidFill>
                  <a:latin typeface="Space Mono Bold"/>
                  <a:ea typeface="Space Mono Bold"/>
                  <a:cs typeface="Space Mono Bold"/>
                  <a:sym typeface="Space Mono Bold"/>
                </a:rPr>
                <a:t>RE</a:t>
              </a:r>
              <a:r>
                <a:rPr lang="en-US" b="true" sz="1195">
                  <a:solidFill>
                    <a:srgbClr val="000000"/>
                  </a:solidFill>
                  <a:latin typeface="Space Mono Bold"/>
                  <a:ea typeface="Space Mono Bold"/>
                  <a:cs typeface="Space Mono Bold"/>
                  <a:sym typeface="Space Mono Bold"/>
                </a:rPr>
                <a:t>CLAIMING LOST ENGINEERING TIME</a:t>
              </a:r>
            </a:p>
          </p:txBody>
        </p:sp>
      </p:grpSp>
      <p:grpSp>
        <p:nvGrpSpPr>
          <p:cNvPr name="Group 11" id="11"/>
          <p:cNvGrpSpPr/>
          <p:nvPr/>
        </p:nvGrpSpPr>
        <p:grpSpPr>
          <a:xfrm rot="0">
            <a:off x="12272911" y="1551328"/>
            <a:ext cx="2870358" cy="897264"/>
            <a:chOff x="0" y="0"/>
            <a:chExt cx="3827144" cy="1196352"/>
          </a:xfrm>
        </p:grpSpPr>
        <p:grpSp>
          <p:nvGrpSpPr>
            <p:cNvPr name="Group 12" id="12"/>
            <p:cNvGrpSpPr/>
            <p:nvPr/>
          </p:nvGrpSpPr>
          <p:grpSpPr>
            <a:xfrm rot="0">
              <a:off x="0" y="0"/>
              <a:ext cx="3827144" cy="1196352"/>
              <a:chOff x="0" y="0"/>
              <a:chExt cx="885315" cy="276746"/>
            </a:xfrm>
          </p:grpSpPr>
          <p:sp>
            <p:nvSpPr>
              <p:cNvPr name="Freeform 13" id="13"/>
              <p:cNvSpPr/>
              <p:nvPr/>
            </p:nvSpPr>
            <p:spPr>
              <a:xfrm flipH="false" flipV="false" rot="0">
                <a:off x="0" y="0"/>
                <a:ext cx="885315" cy="276746"/>
              </a:xfrm>
              <a:custGeom>
                <a:avLst/>
                <a:gdLst/>
                <a:ahLst/>
                <a:cxnLst/>
                <a:rect r="r" b="b" t="t" l="l"/>
                <a:pathLst>
                  <a:path h="276746" w="885315">
                    <a:moveTo>
                      <a:pt x="134860" y="0"/>
                    </a:moveTo>
                    <a:lnTo>
                      <a:pt x="750455" y="0"/>
                    </a:lnTo>
                    <a:cubicBezTo>
                      <a:pt x="824936" y="0"/>
                      <a:pt x="885315" y="60379"/>
                      <a:pt x="885315" y="134860"/>
                    </a:cubicBezTo>
                    <a:lnTo>
                      <a:pt x="885315" y="141887"/>
                    </a:lnTo>
                    <a:cubicBezTo>
                      <a:pt x="885315" y="216368"/>
                      <a:pt x="824936" y="276746"/>
                      <a:pt x="750455" y="276746"/>
                    </a:cubicBezTo>
                    <a:lnTo>
                      <a:pt x="134860" y="276746"/>
                    </a:lnTo>
                    <a:cubicBezTo>
                      <a:pt x="99093" y="276746"/>
                      <a:pt x="64791" y="262538"/>
                      <a:pt x="39500" y="237247"/>
                    </a:cubicBezTo>
                    <a:cubicBezTo>
                      <a:pt x="14208" y="211956"/>
                      <a:pt x="0" y="177654"/>
                      <a:pt x="0" y="141887"/>
                    </a:cubicBezTo>
                    <a:lnTo>
                      <a:pt x="0" y="134860"/>
                    </a:lnTo>
                    <a:cubicBezTo>
                      <a:pt x="0" y="60379"/>
                      <a:pt x="60379" y="0"/>
                      <a:pt x="134860" y="0"/>
                    </a:cubicBezTo>
                    <a:close/>
                  </a:path>
                </a:pathLst>
              </a:custGeom>
              <a:solidFill>
                <a:srgbClr val="FFDE59"/>
              </a:solidFill>
            </p:spPr>
          </p:sp>
          <p:sp>
            <p:nvSpPr>
              <p:cNvPr name="TextBox 14" id="14"/>
              <p:cNvSpPr txBox="true"/>
              <p:nvPr/>
            </p:nvSpPr>
            <p:spPr>
              <a:xfrm>
                <a:off x="0" y="9525"/>
                <a:ext cx="885315" cy="267221"/>
              </a:xfrm>
              <a:prstGeom prst="rect">
                <a:avLst/>
              </a:prstGeom>
            </p:spPr>
            <p:txBody>
              <a:bodyPr anchor="ctr" rtlCol="false" tIns="50800" lIns="50800" bIns="50800" rIns="50800"/>
              <a:lstStyle/>
              <a:p>
                <a:pPr algn="ctr">
                  <a:lnSpc>
                    <a:spcPts val="1760"/>
                  </a:lnSpc>
                </a:pPr>
              </a:p>
            </p:txBody>
          </p:sp>
        </p:grpSp>
        <p:sp>
          <p:nvSpPr>
            <p:cNvPr name="TextBox 15" id="15"/>
            <p:cNvSpPr txBox="true"/>
            <p:nvPr/>
          </p:nvSpPr>
          <p:spPr>
            <a:xfrm rot="0">
              <a:off x="404586" y="380686"/>
              <a:ext cx="3017971" cy="444505"/>
            </a:xfrm>
            <a:prstGeom prst="rect">
              <a:avLst/>
            </a:prstGeom>
          </p:spPr>
          <p:txBody>
            <a:bodyPr anchor="t" rtlCol="false" tIns="0" lIns="0" bIns="0" rIns="0">
              <a:spAutoFit/>
            </a:bodyPr>
            <a:lstStyle/>
            <a:p>
              <a:pPr algn="ctr">
                <a:lnSpc>
                  <a:spcPts val="1315"/>
                </a:lnSpc>
              </a:pPr>
              <a:r>
                <a:rPr lang="en-US" b="true" sz="1195">
                  <a:solidFill>
                    <a:srgbClr val="000000"/>
                  </a:solidFill>
                  <a:latin typeface="Space Mono Bold"/>
                  <a:ea typeface="Space Mono Bold"/>
                  <a:cs typeface="Space Mono Bold"/>
                  <a:sym typeface="Space Mono Bold"/>
                </a:rPr>
                <a:t>ACCELERATING DEVELOPER ONBOARDING</a:t>
              </a:r>
            </a:p>
          </p:txBody>
        </p:sp>
      </p:grpSp>
      <p:sp>
        <p:nvSpPr>
          <p:cNvPr name="Freeform 16" id="16"/>
          <p:cNvSpPr/>
          <p:nvPr/>
        </p:nvSpPr>
        <p:spPr>
          <a:xfrm flipH="false" flipV="false" rot="0">
            <a:off x="12815728" y="633700"/>
            <a:ext cx="3729742" cy="559461"/>
          </a:xfrm>
          <a:custGeom>
            <a:avLst/>
            <a:gdLst/>
            <a:ahLst/>
            <a:cxnLst/>
            <a:rect r="r" b="b" t="t" l="l"/>
            <a:pathLst>
              <a:path h="559461" w="3729742">
                <a:moveTo>
                  <a:pt x="0" y="0"/>
                </a:moveTo>
                <a:lnTo>
                  <a:pt x="3729743" y="0"/>
                </a:lnTo>
                <a:lnTo>
                  <a:pt x="3729743" y="559461"/>
                </a:lnTo>
                <a:lnTo>
                  <a:pt x="0" y="5594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7" id="17"/>
          <p:cNvGrpSpPr/>
          <p:nvPr/>
        </p:nvGrpSpPr>
        <p:grpSpPr>
          <a:xfrm rot="0">
            <a:off x="11066331" y="633700"/>
            <a:ext cx="2320533" cy="917628"/>
            <a:chOff x="0" y="0"/>
            <a:chExt cx="3094044" cy="1223504"/>
          </a:xfrm>
        </p:grpSpPr>
        <p:grpSp>
          <p:nvGrpSpPr>
            <p:cNvPr name="Group 18" id="18"/>
            <p:cNvGrpSpPr/>
            <p:nvPr/>
          </p:nvGrpSpPr>
          <p:grpSpPr>
            <a:xfrm rot="0">
              <a:off x="0" y="0"/>
              <a:ext cx="3094044" cy="1223504"/>
              <a:chOff x="0" y="0"/>
              <a:chExt cx="715730" cy="283027"/>
            </a:xfrm>
          </p:grpSpPr>
          <p:sp>
            <p:nvSpPr>
              <p:cNvPr name="Freeform 19" id="19"/>
              <p:cNvSpPr/>
              <p:nvPr/>
            </p:nvSpPr>
            <p:spPr>
              <a:xfrm flipH="false" flipV="false" rot="0">
                <a:off x="0" y="0"/>
                <a:ext cx="715730" cy="283027"/>
              </a:xfrm>
              <a:custGeom>
                <a:avLst/>
                <a:gdLst/>
                <a:ahLst/>
                <a:cxnLst/>
                <a:rect r="r" b="b" t="t" l="l"/>
                <a:pathLst>
                  <a:path h="283027" w="715730">
                    <a:moveTo>
                      <a:pt x="141514" y="0"/>
                    </a:moveTo>
                    <a:lnTo>
                      <a:pt x="574217" y="0"/>
                    </a:lnTo>
                    <a:cubicBezTo>
                      <a:pt x="611748" y="0"/>
                      <a:pt x="647743" y="14909"/>
                      <a:pt x="674282" y="41448"/>
                    </a:cubicBezTo>
                    <a:cubicBezTo>
                      <a:pt x="700821" y="67987"/>
                      <a:pt x="715730" y="103982"/>
                      <a:pt x="715730" y="141514"/>
                    </a:cubicBezTo>
                    <a:lnTo>
                      <a:pt x="715730" y="141514"/>
                    </a:lnTo>
                    <a:cubicBezTo>
                      <a:pt x="715730" y="179045"/>
                      <a:pt x="700821" y="215040"/>
                      <a:pt x="674282" y="241579"/>
                    </a:cubicBezTo>
                    <a:cubicBezTo>
                      <a:pt x="647743" y="268118"/>
                      <a:pt x="611748" y="283027"/>
                      <a:pt x="574217" y="283027"/>
                    </a:cubicBezTo>
                    <a:lnTo>
                      <a:pt x="141514" y="283027"/>
                    </a:lnTo>
                    <a:cubicBezTo>
                      <a:pt x="103982" y="283027"/>
                      <a:pt x="67987" y="268118"/>
                      <a:pt x="41448" y="241579"/>
                    </a:cubicBezTo>
                    <a:cubicBezTo>
                      <a:pt x="14909" y="215040"/>
                      <a:pt x="0" y="179045"/>
                      <a:pt x="0" y="141514"/>
                    </a:cubicBezTo>
                    <a:lnTo>
                      <a:pt x="0" y="141514"/>
                    </a:lnTo>
                    <a:cubicBezTo>
                      <a:pt x="0" y="103982"/>
                      <a:pt x="14909" y="67987"/>
                      <a:pt x="41448" y="41448"/>
                    </a:cubicBezTo>
                    <a:cubicBezTo>
                      <a:pt x="67987" y="14909"/>
                      <a:pt x="103982" y="0"/>
                      <a:pt x="141514" y="0"/>
                    </a:cubicBezTo>
                    <a:close/>
                  </a:path>
                </a:pathLst>
              </a:custGeom>
              <a:solidFill>
                <a:srgbClr val="FFDE59"/>
              </a:solidFill>
            </p:spPr>
          </p:sp>
          <p:sp>
            <p:nvSpPr>
              <p:cNvPr name="TextBox 20" id="20"/>
              <p:cNvSpPr txBox="true"/>
              <p:nvPr/>
            </p:nvSpPr>
            <p:spPr>
              <a:xfrm>
                <a:off x="0" y="9525"/>
                <a:ext cx="715730" cy="273502"/>
              </a:xfrm>
              <a:prstGeom prst="rect">
                <a:avLst/>
              </a:prstGeom>
            </p:spPr>
            <p:txBody>
              <a:bodyPr anchor="ctr" rtlCol="false" tIns="50800" lIns="50800" bIns="50800" rIns="50800"/>
              <a:lstStyle/>
              <a:p>
                <a:pPr algn="ctr">
                  <a:lnSpc>
                    <a:spcPts val="1760"/>
                  </a:lnSpc>
                </a:pPr>
              </a:p>
            </p:txBody>
          </p:sp>
        </p:grpSp>
        <p:sp>
          <p:nvSpPr>
            <p:cNvPr name="TextBox 21" id="21"/>
            <p:cNvSpPr txBox="true"/>
            <p:nvPr/>
          </p:nvSpPr>
          <p:spPr>
            <a:xfrm rot="0">
              <a:off x="280234" y="394262"/>
              <a:ext cx="2609649" cy="444505"/>
            </a:xfrm>
            <a:prstGeom prst="rect">
              <a:avLst/>
            </a:prstGeom>
          </p:spPr>
          <p:txBody>
            <a:bodyPr anchor="t" rtlCol="false" tIns="0" lIns="0" bIns="0" rIns="0">
              <a:spAutoFit/>
            </a:bodyPr>
            <a:lstStyle/>
            <a:p>
              <a:pPr algn="ctr">
                <a:lnSpc>
                  <a:spcPts val="1315"/>
                </a:lnSpc>
              </a:pPr>
              <a:r>
                <a:rPr lang="en-US" b="true" sz="1195">
                  <a:solidFill>
                    <a:srgbClr val="000000"/>
                  </a:solidFill>
                  <a:latin typeface="Space Mono Bold"/>
                  <a:ea typeface="Space Mono Bold"/>
                  <a:cs typeface="Space Mono Bold"/>
                  <a:sym typeface="Space Mono Bold"/>
                </a:rPr>
                <a:t>ELIMINATING MENTORSHIP DRAIN</a:t>
              </a:r>
            </a:p>
          </p:txBody>
        </p:sp>
      </p:grpSp>
      <p:sp>
        <p:nvSpPr>
          <p:cNvPr name="Freeform 22" id="22"/>
          <p:cNvSpPr/>
          <p:nvPr/>
        </p:nvSpPr>
        <p:spPr>
          <a:xfrm flipH="false" flipV="false" rot="0">
            <a:off x="5058123" y="2507742"/>
            <a:ext cx="579958" cy="579958"/>
          </a:xfrm>
          <a:custGeom>
            <a:avLst/>
            <a:gdLst/>
            <a:ahLst/>
            <a:cxnLst/>
            <a:rect r="r" b="b" t="t" l="l"/>
            <a:pathLst>
              <a:path h="579958" w="579958">
                <a:moveTo>
                  <a:pt x="0" y="0"/>
                </a:moveTo>
                <a:lnTo>
                  <a:pt x="579958" y="0"/>
                </a:lnTo>
                <a:lnTo>
                  <a:pt x="579958" y="579958"/>
                </a:lnTo>
                <a:lnTo>
                  <a:pt x="0" y="5799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11"/>
            <a:stretch>
              <a:fillRect l="0" t="0" r="0" b="0"/>
            </a:stretch>
          </a:blipFill>
        </p:spPr>
      </p:sp>
      <p:sp>
        <p:nvSpPr>
          <p:cNvPr name="AutoShape 24" id="24"/>
          <p:cNvSpPr/>
          <p:nvPr/>
        </p:nvSpPr>
        <p:spPr>
          <a:xfrm>
            <a:off x="9144000" y="5051495"/>
            <a:ext cx="0" cy="5235446"/>
          </a:xfrm>
          <a:prstGeom prst="line">
            <a:avLst/>
          </a:prstGeom>
          <a:ln cap="flat" w="38100">
            <a:gradFill>
              <a:gsLst>
                <a:gs pos="0">
                  <a:srgbClr val="888888">
                    <a:alpha val="100000"/>
                  </a:srgbClr>
                </a:gs>
                <a:gs pos="100000">
                  <a:srgbClr val="FFFFFF">
                    <a:alpha val="100000"/>
                  </a:srgbClr>
                </a:gs>
              </a:gsLst>
              <a:lin ang="5400000"/>
            </a:gradFill>
            <a:prstDash val="solid"/>
            <a:headEnd type="none" len="sm" w="sm"/>
            <a:tailEnd type="none" len="sm" w="sm"/>
          </a:ln>
        </p:spPr>
      </p:sp>
      <p:sp>
        <p:nvSpPr>
          <p:cNvPr name="TextBox 25" id="25"/>
          <p:cNvSpPr txBox="true"/>
          <p:nvPr/>
        </p:nvSpPr>
        <p:spPr>
          <a:xfrm rot="0">
            <a:off x="16779613" y="77608"/>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grpSp>
        <p:nvGrpSpPr>
          <p:cNvPr name="Group 26" id="26"/>
          <p:cNvGrpSpPr/>
          <p:nvPr/>
        </p:nvGrpSpPr>
        <p:grpSpPr>
          <a:xfrm rot="0">
            <a:off x="9314193" y="5032009"/>
            <a:ext cx="8787793" cy="552578"/>
            <a:chOff x="0" y="0"/>
            <a:chExt cx="11717057" cy="736770"/>
          </a:xfrm>
        </p:grpSpPr>
        <p:grpSp>
          <p:nvGrpSpPr>
            <p:cNvPr name="Group 27" id="27"/>
            <p:cNvGrpSpPr/>
            <p:nvPr/>
          </p:nvGrpSpPr>
          <p:grpSpPr>
            <a:xfrm rot="0">
              <a:off x="0" y="0"/>
              <a:ext cx="11717057" cy="736770"/>
              <a:chOff x="0" y="0"/>
              <a:chExt cx="1983992" cy="124754"/>
            </a:xfrm>
          </p:grpSpPr>
          <p:sp>
            <p:nvSpPr>
              <p:cNvPr name="Freeform 28" id="28"/>
              <p:cNvSpPr/>
              <p:nvPr/>
            </p:nvSpPr>
            <p:spPr>
              <a:xfrm flipH="false" flipV="false" rot="0">
                <a:off x="0" y="0"/>
                <a:ext cx="1983992" cy="124754"/>
              </a:xfrm>
              <a:custGeom>
                <a:avLst/>
                <a:gdLst/>
                <a:ahLst/>
                <a:cxnLst/>
                <a:rect r="r" b="b" t="t" l="l"/>
                <a:pathLst>
                  <a:path h="124754" w="1983992">
                    <a:moveTo>
                      <a:pt x="62377" y="0"/>
                    </a:moveTo>
                    <a:lnTo>
                      <a:pt x="1921615" y="0"/>
                    </a:lnTo>
                    <a:cubicBezTo>
                      <a:pt x="1956065" y="0"/>
                      <a:pt x="1983992" y="27927"/>
                      <a:pt x="1983992" y="62377"/>
                    </a:cubicBezTo>
                    <a:lnTo>
                      <a:pt x="1983992" y="62377"/>
                    </a:lnTo>
                    <a:cubicBezTo>
                      <a:pt x="1983992" y="78920"/>
                      <a:pt x="1977420" y="94786"/>
                      <a:pt x="1965722" y="106484"/>
                    </a:cubicBezTo>
                    <a:cubicBezTo>
                      <a:pt x="1954024" y="118182"/>
                      <a:pt x="1938159" y="124754"/>
                      <a:pt x="1921615" y="124754"/>
                    </a:cubicBezTo>
                    <a:lnTo>
                      <a:pt x="62377" y="124754"/>
                    </a:lnTo>
                    <a:cubicBezTo>
                      <a:pt x="27927" y="124754"/>
                      <a:pt x="0" y="96827"/>
                      <a:pt x="0" y="62377"/>
                    </a:cubicBezTo>
                    <a:lnTo>
                      <a:pt x="0" y="62377"/>
                    </a:lnTo>
                    <a:cubicBezTo>
                      <a:pt x="0" y="27927"/>
                      <a:pt x="27927" y="0"/>
                      <a:pt x="62377" y="0"/>
                    </a:cubicBezTo>
                    <a:close/>
                  </a:path>
                </a:pathLst>
              </a:custGeom>
              <a:solidFill>
                <a:srgbClr val="FFDE59"/>
              </a:solidFill>
            </p:spPr>
          </p:sp>
          <p:sp>
            <p:nvSpPr>
              <p:cNvPr name="TextBox 29" id="29"/>
              <p:cNvSpPr txBox="true"/>
              <p:nvPr/>
            </p:nvSpPr>
            <p:spPr>
              <a:xfrm>
                <a:off x="0" y="9525"/>
                <a:ext cx="1983992" cy="115229"/>
              </a:xfrm>
              <a:prstGeom prst="rect">
                <a:avLst/>
              </a:prstGeom>
            </p:spPr>
            <p:txBody>
              <a:bodyPr anchor="ctr" rtlCol="false" tIns="50800" lIns="50800" bIns="50800" rIns="50800"/>
              <a:lstStyle/>
              <a:p>
                <a:pPr algn="ctr">
                  <a:lnSpc>
                    <a:spcPts val="1760"/>
                  </a:lnSpc>
                </a:pPr>
              </a:p>
            </p:txBody>
          </p:sp>
        </p:grpSp>
        <p:sp>
          <p:nvSpPr>
            <p:cNvPr name="TextBox 30" id="30"/>
            <p:cNvSpPr txBox="true"/>
            <p:nvPr/>
          </p:nvSpPr>
          <p:spPr>
            <a:xfrm rot="0">
              <a:off x="0" y="102597"/>
              <a:ext cx="11717057" cy="634173"/>
            </a:xfrm>
            <a:prstGeom prst="rect">
              <a:avLst/>
            </a:prstGeom>
          </p:spPr>
          <p:txBody>
            <a:bodyPr anchor="t" rtlCol="false" tIns="0" lIns="0" bIns="0" rIns="0">
              <a:spAutoFit/>
            </a:bodyPr>
            <a:lstStyle/>
            <a:p>
              <a:pPr algn="ctr" marL="0" indent="0" lvl="0">
                <a:lnSpc>
                  <a:spcPts val="3593"/>
                </a:lnSpc>
                <a:spcBef>
                  <a:spcPct val="0"/>
                </a:spcBef>
              </a:pPr>
              <a:r>
                <a:rPr lang="en-US" b="true" sz="3266">
                  <a:solidFill>
                    <a:srgbClr val="000000"/>
                  </a:solidFill>
                  <a:latin typeface="Space Mono Bold"/>
                  <a:ea typeface="Space Mono Bold"/>
                  <a:cs typeface="Space Mono Bold"/>
                  <a:sym typeface="Space Mono Bold"/>
                </a:rPr>
                <a:t>ENSURING ABSOLUTE DATA PRIVACY</a:t>
              </a:r>
            </a:p>
          </p:txBody>
        </p:sp>
      </p:grpSp>
      <p:sp>
        <p:nvSpPr>
          <p:cNvPr name="TextBox 31" id="31"/>
          <p:cNvSpPr txBox="true"/>
          <p:nvPr/>
        </p:nvSpPr>
        <p:spPr>
          <a:xfrm rot="0">
            <a:off x="9314193" y="6037211"/>
            <a:ext cx="8543545" cy="4051072"/>
          </a:xfrm>
          <a:prstGeom prst="rect">
            <a:avLst/>
          </a:prstGeom>
        </p:spPr>
        <p:txBody>
          <a:bodyPr anchor="t" rtlCol="false" tIns="0" lIns="0" bIns="0" rIns="0">
            <a:spAutoFit/>
          </a:bodyPr>
          <a:lstStyle/>
          <a:p>
            <a:pPr algn="just" marL="373953" indent="-186976" lvl="1">
              <a:lnSpc>
                <a:spcPts val="1905"/>
              </a:lnSpc>
              <a:buFont typeface="Arial"/>
              <a:buChar char="•"/>
            </a:pPr>
            <a:r>
              <a:rPr lang="en-US" b="true" sz="1732">
                <a:solidFill>
                  <a:srgbClr val="FFFFFF"/>
                </a:solidFill>
                <a:latin typeface="Space Mono Bold"/>
                <a:ea typeface="Space Mono Bold"/>
                <a:cs typeface="Space Mono Bold"/>
                <a:sym typeface="Space Mono Bold"/>
              </a:rPr>
              <a:t>THE CLOUD SECURITY RISK: ADOPTING STANDARD AI ASSISTANTS OFTEN FORCES TEAMS TO COMPROMISE PROPRIETARY CODE BY SENDING DATA TO THIRD-PARTY, CLOUD-BASED MODELS.</a:t>
            </a:r>
          </a:p>
          <a:p>
            <a:pPr algn="just">
              <a:lnSpc>
                <a:spcPts val="1905"/>
              </a:lnSpc>
            </a:pPr>
          </a:p>
          <a:p>
            <a:pPr algn="just" marL="373953" indent="-186976" lvl="1">
              <a:lnSpc>
                <a:spcPts val="1905"/>
              </a:lnSpc>
              <a:buFont typeface="Arial"/>
              <a:buChar char="•"/>
            </a:pPr>
            <a:r>
              <a:rPr lang="en-US" b="true" sz="1732">
                <a:solidFill>
                  <a:srgbClr val="FFFFFF"/>
                </a:solidFill>
                <a:latin typeface="Space Mono Bold"/>
                <a:ea typeface="Space Mono Bold"/>
                <a:cs typeface="Space Mono Bold"/>
                <a:sym typeface="Space Mono Bold"/>
              </a:rPr>
              <a:t>RAPIDFIRE'S LOCAL SOLUTION: WE ELIMINATE THIS SECURITY RISK BY UTILIZING A COMPLETELY LOCALIZED AI ARCHITECTURE FOR FRAMEWORK RECOMMENDATIONS AND DEPENDENCY RESOLUTIONS.</a:t>
            </a:r>
          </a:p>
          <a:p>
            <a:pPr algn="just">
              <a:lnSpc>
                <a:spcPts val="1905"/>
              </a:lnSpc>
            </a:pPr>
          </a:p>
          <a:p>
            <a:pPr algn="just" marL="373953" indent="-186976" lvl="1">
              <a:lnSpc>
                <a:spcPts val="1905"/>
              </a:lnSpc>
              <a:buFont typeface="Arial"/>
              <a:buChar char="•"/>
            </a:pPr>
            <a:r>
              <a:rPr lang="en-US" b="true" sz="1732">
                <a:solidFill>
                  <a:srgbClr val="FFFFFF"/>
                </a:solidFill>
                <a:latin typeface="Space Mono Bold"/>
                <a:ea typeface="Space Mono Bold"/>
                <a:cs typeface="Space Mono Bold"/>
                <a:sym typeface="Space Mono Bold"/>
              </a:rPr>
              <a:t>THE HOST MACHINE GUARANTEE: ALL INTERNAL PROJECT LOGIC, FOLDER STRUCTURES, AND TEAM CONFIGURATIONS REMAIN STRICTLY ON THE DEVELOPER'S LOCAL DEVICE AT ALL TIMES.</a:t>
            </a:r>
          </a:p>
          <a:p>
            <a:pPr algn="just">
              <a:lnSpc>
                <a:spcPts val="1905"/>
              </a:lnSpc>
            </a:pPr>
          </a:p>
          <a:p>
            <a:pPr algn="just" marL="373953" indent="-186976" lvl="1">
              <a:lnSpc>
                <a:spcPts val="1905"/>
              </a:lnSpc>
              <a:buFont typeface="Arial"/>
              <a:buChar char="•"/>
            </a:pPr>
            <a:r>
              <a:rPr lang="en-US" b="true" sz="1732">
                <a:solidFill>
                  <a:srgbClr val="FFFFFF"/>
                </a:solidFill>
                <a:latin typeface="Space Mono Bold"/>
                <a:ea typeface="Space Mono Bold"/>
                <a:cs typeface="Space Mono Bold"/>
                <a:sym typeface="Space Mono Bold"/>
              </a:rPr>
              <a:t>PROTECTED INTELLECTUAL PROPERTY: ENTERPRISES CAN FULLY LEVERAGE THE POWER OF INTELLIGENT AUTOMATION WITHOUT EVER EXPOSING THEIR PROPRIETARY CODE OR DATA TO EXTERNAL SERVERS.</a:t>
            </a:r>
          </a:p>
          <a:p>
            <a:pPr algn="just">
              <a:lnSpc>
                <a:spcPts val="1905"/>
              </a:lnSpc>
            </a:pPr>
          </a:p>
        </p:txBody>
      </p:sp>
      <p:grpSp>
        <p:nvGrpSpPr>
          <p:cNvPr name="Group 32" id="32"/>
          <p:cNvGrpSpPr/>
          <p:nvPr/>
        </p:nvGrpSpPr>
        <p:grpSpPr>
          <a:xfrm rot="0">
            <a:off x="186834" y="5051630"/>
            <a:ext cx="8787793" cy="552578"/>
            <a:chOff x="0" y="0"/>
            <a:chExt cx="1983992" cy="124754"/>
          </a:xfrm>
        </p:grpSpPr>
        <p:sp>
          <p:nvSpPr>
            <p:cNvPr name="Freeform 33" id="33"/>
            <p:cNvSpPr/>
            <p:nvPr/>
          </p:nvSpPr>
          <p:spPr>
            <a:xfrm flipH="false" flipV="false" rot="0">
              <a:off x="0" y="0"/>
              <a:ext cx="1983992" cy="124754"/>
            </a:xfrm>
            <a:custGeom>
              <a:avLst/>
              <a:gdLst/>
              <a:ahLst/>
              <a:cxnLst/>
              <a:rect r="r" b="b" t="t" l="l"/>
              <a:pathLst>
                <a:path h="124754" w="1983992">
                  <a:moveTo>
                    <a:pt x="44049" y="0"/>
                  </a:moveTo>
                  <a:lnTo>
                    <a:pt x="1939943" y="0"/>
                  </a:lnTo>
                  <a:cubicBezTo>
                    <a:pt x="1951625" y="0"/>
                    <a:pt x="1962829" y="4641"/>
                    <a:pt x="1971090" y="12902"/>
                  </a:cubicBezTo>
                  <a:cubicBezTo>
                    <a:pt x="1979351" y="21163"/>
                    <a:pt x="1983992" y="32367"/>
                    <a:pt x="1983992" y="44049"/>
                  </a:cubicBezTo>
                  <a:lnTo>
                    <a:pt x="1983992" y="80704"/>
                  </a:lnTo>
                  <a:cubicBezTo>
                    <a:pt x="1983992" y="92387"/>
                    <a:pt x="1979351" y="103591"/>
                    <a:pt x="1971090" y="111852"/>
                  </a:cubicBezTo>
                  <a:cubicBezTo>
                    <a:pt x="1962829" y="120113"/>
                    <a:pt x="1951625" y="124754"/>
                    <a:pt x="1939943" y="124754"/>
                  </a:cubicBezTo>
                  <a:lnTo>
                    <a:pt x="44049" y="124754"/>
                  </a:lnTo>
                  <a:cubicBezTo>
                    <a:pt x="32367" y="124754"/>
                    <a:pt x="21163" y="120113"/>
                    <a:pt x="12902" y="111852"/>
                  </a:cubicBezTo>
                  <a:cubicBezTo>
                    <a:pt x="4641" y="103591"/>
                    <a:pt x="0" y="92387"/>
                    <a:pt x="0" y="80704"/>
                  </a:cubicBezTo>
                  <a:lnTo>
                    <a:pt x="0" y="44049"/>
                  </a:lnTo>
                  <a:cubicBezTo>
                    <a:pt x="0" y="32367"/>
                    <a:pt x="4641" y="21163"/>
                    <a:pt x="12902" y="12902"/>
                  </a:cubicBezTo>
                  <a:cubicBezTo>
                    <a:pt x="21163" y="4641"/>
                    <a:pt x="32367" y="0"/>
                    <a:pt x="44049" y="0"/>
                  </a:cubicBezTo>
                  <a:close/>
                </a:path>
              </a:pathLst>
            </a:custGeom>
            <a:solidFill>
              <a:srgbClr val="FFDE59"/>
            </a:solidFill>
          </p:spPr>
        </p:sp>
        <p:sp>
          <p:nvSpPr>
            <p:cNvPr name="TextBox 34" id="34"/>
            <p:cNvSpPr txBox="true"/>
            <p:nvPr/>
          </p:nvSpPr>
          <p:spPr>
            <a:xfrm>
              <a:off x="0" y="9525"/>
              <a:ext cx="1983992" cy="115229"/>
            </a:xfrm>
            <a:prstGeom prst="rect">
              <a:avLst/>
            </a:prstGeom>
          </p:spPr>
          <p:txBody>
            <a:bodyPr anchor="ctr" rtlCol="false" tIns="81180" lIns="81180" bIns="81180" rIns="81180"/>
            <a:lstStyle/>
            <a:p>
              <a:pPr algn="ctr">
                <a:lnSpc>
                  <a:spcPts val="1760"/>
                </a:lnSpc>
              </a:pPr>
            </a:p>
          </p:txBody>
        </p:sp>
      </p:grpSp>
      <p:sp>
        <p:nvSpPr>
          <p:cNvPr name="TextBox 35" id="35"/>
          <p:cNvSpPr txBox="true"/>
          <p:nvPr/>
        </p:nvSpPr>
        <p:spPr>
          <a:xfrm rot="0">
            <a:off x="-180988" y="5113249"/>
            <a:ext cx="9495181" cy="418674"/>
          </a:xfrm>
          <a:prstGeom prst="rect">
            <a:avLst/>
          </a:prstGeom>
        </p:spPr>
        <p:txBody>
          <a:bodyPr anchor="t" rtlCol="false" tIns="0" lIns="0" bIns="0" rIns="0">
            <a:spAutoFit/>
          </a:bodyPr>
          <a:lstStyle/>
          <a:p>
            <a:pPr algn="ctr" marL="0" indent="0" lvl="0">
              <a:lnSpc>
                <a:spcPts val="3263"/>
              </a:lnSpc>
              <a:spcBef>
                <a:spcPct val="0"/>
              </a:spcBef>
            </a:pPr>
            <a:r>
              <a:rPr lang="en-US" b="true" sz="2966">
                <a:solidFill>
                  <a:srgbClr val="000000"/>
                </a:solidFill>
                <a:latin typeface="Space Mono Bold"/>
                <a:ea typeface="Space Mono Bold"/>
                <a:cs typeface="Space Mono Bold"/>
                <a:sym typeface="Space Mono Bold"/>
              </a:rPr>
              <a:t>MITIGATING COSTLY SECURITY BREACHES</a:t>
            </a:r>
          </a:p>
        </p:txBody>
      </p:sp>
      <p:sp>
        <p:nvSpPr>
          <p:cNvPr name="TextBox 36" id="36"/>
          <p:cNvSpPr txBox="true"/>
          <p:nvPr/>
        </p:nvSpPr>
        <p:spPr>
          <a:xfrm rot="0">
            <a:off x="294830" y="5939209"/>
            <a:ext cx="8543545" cy="4051072"/>
          </a:xfrm>
          <a:prstGeom prst="rect">
            <a:avLst/>
          </a:prstGeom>
        </p:spPr>
        <p:txBody>
          <a:bodyPr anchor="t" rtlCol="false" tIns="0" lIns="0" bIns="0" rIns="0">
            <a:spAutoFit/>
          </a:bodyPr>
          <a:lstStyle/>
          <a:p>
            <a:pPr algn="just" marL="373953" indent="-186976" lvl="1">
              <a:lnSpc>
                <a:spcPts val="1905"/>
              </a:lnSpc>
              <a:buFont typeface="Arial"/>
              <a:buChar char="•"/>
            </a:pPr>
            <a:r>
              <a:rPr lang="en-US" b="true" sz="1732">
                <a:solidFill>
                  <a:srgbClr val="FFFFFF"/>
                </a:solidFill>
                <a:latin typeface="Space Mono Bold"/>
                <a:ea typeface="Space Mono Bold"/>
                <a:cs typeface="Space Mono Bold"/>
                <a:sym typeface="Space Mono Bold"/>
              </a:rPr>
              <a:t>THE COST OF EXPOSED SECRETS: HARDCODED SECRETS IN SOURCE CODE REMAIN A LEADING CAUSE OF ENTERPRISE DATA BREACHES, FREQUENTLY COSTING ORGANIZATIONS MILLIONS IN REMEDIATION.</a:t>
            </a:r>
          </a:p>
          <a:p>
            <a:pPr algn="just">
              <a:lnSpc>
                <a:spcPts val="1905"/>
              </a:lnSpc>
            </a:pPr>
          </a:p>
          <a:p>
            <a:pPr algn="just" marL="373953" indent="-186976" lvl="1">
              <a:lnSpc>
                <a:spcPts val="1905"/>
              </a:lnSpc>
              <a:buFont typeface="Arial"/>
              <a:buChar char="•"/>
            </a:pPr>
            <a:r>
              <a:rPr lang="en-US" b="true" sz="1732">
                <a:solidFill>
                  <a:srgbClr val="FFFFFF"/>
                </a:solidFill>
                <a:latin typeface="Space Mono Bold"/>
                <a:ea typeface="Space Mono Bold"/>
                <a:cs typeface="Space Mono Bold"/>
                <a:sym typeface="Space Mono Bold"/>
              </a:rPr>
              <a:t>INTEGRATED SECRET SCANNING: RAPIDFIRE PROACTIVELY EMBEDS LOCAL SECRET SCANNING DIRECTLY INTO THE INITIAL SCAFFOLDING AND COMMIT PROCESS.</a:t>
            </a:r>
          </a:p>
          <a:p>
            <a:pPr algn="just">
              <a:lnSpc>
                <a:spcPts val="1905"/>
              </a:lnSpc>
            </a:pPr>
          </a:p>
          <a:p>
            <a:pPr algn="just" marL="373953" indent="-186976" lvl="1">
              <a:lnSpc>
                <a:spcPts val="1905"/>
              </a:lnSpc>
              <a:buFont typeface="Arial"/>
              <a:buChar char="•"/>
            </a:pPr>
            <a:r>
              <a:rPr lang="en-US" b="true" sz="1732">
                <a:solidFill>
                  <a:srgbClr val="FFFFFF"/>
                </a:solidFill>
                <a:latin typeface="Space Mono Bold"/>
                <a:ea typeface="Space Mono Bold"/>
                <a:cs typeface="Space Mono Bold"/>
                <a:sym typeface="Space Mono Bold"/>
              </a:rPr>
              <a:t>PREVENTING PUBLIC EXPOSURE: THIS AUTOMATED CHECK GUARANTEES THAT API KEYS AND DATABASE CREDENTIALS ARE CAUGHT LONG BEFORE THEY CAN REACH A PUBLIC GITHUB REPOSITORY.</a:t>
            </a:r>
          </a:p>
          <a:p>
            <a:pPr algn="just">
              <a:lnSpc>
                <a:spcPts val="1905"/>
              </a:lnSpc>
            </a:pPr>
          </a:p>
          <a:p>
            <a:pPr algn="just" marL="373953" indent="-186976" lvl="1">
              <a:lnSpc>
                <a:spcPts val="1905"/>
              </a:lnSpc>
              <a:buFont typeface="Arial"/>
              <a:buChar char="•"/>
            </a:pPr>
            <a:r>
              <a:rPr lang="en-US" b="true" sz="1732">
                <a:solidFill>
                  <a:srgbClr val="FFFFFF"/>
                </a:solidFill>
                <a:latin typeface="Space Mono Bold"/>
                <a:ea typeface="Space Mono Bold"/>
                <a:cs typeface="Space Mono Bold"/>
                <a:sym typeface="Space Mono Bold"/>
              </a:rPr>
              <a:t>SHIFTING SECURITY LEFT: BY MOVING SECURITY TO THE ABSOLUTE BEGINNING OF THE DEVELOPMENT LIFECYCLE, WE PROTECT TEAMS FROM THE FINANCIAL AND REPUTATIONAL DAMAGE CAUSED BY SIMPLE HUMAN ERROR.</a:t>
            </a:r>
          </a:p>
          <a:p>
            <a:pPr algn="just">
              <a:lnSpc>
                <a:spcPts val="1905"/>
              </a:lnSpc>
            </a:pPr>
          </a:p>
        </p:txBody>
      </p:sp>
      <p:sp>
        <p:nvSpPr>
          <p:cNvPr name="Freeform 37" id="37"/>
          <p:cNvSpPr/>
          <p:nvPr/>
        </p:nvSpPr>
        <p:spPr>
          <a:xfrm>
            <a:off x="11066331" y="1159024"/>
            <a:ext cx="1160266" cy="937287"/>
          </a:xfrm>
          <a:custGeom>
            <a:avLst/>
            <a:gdLst/>
            <a:ahLst/>
            <a:cxnLst/>
            <a:rect r="r" b="b" t="t" l="l"/>
            <a:pathLst>
              <a:path h="937287" w="1160266">
                <a:moveTo>
                  <a:pt x="0" y="0"/>
                </a:moveTo>
                <a:lnTo>
                  <a:pt x="351533" y="0"/>
                </a:lnTo>
                <a:cubicBezTo>
                  <a:pt x="412161" y="0"/>
                  <a:pt x="470307" y="24085"/>
                  <a:pt x="513177" y="66956"/>
                </a:cubicBezTo>
                <a:cubicBezTo>
                  <a:pt x="556048" y="109827"/>
                  <a:pt x="580133" y="167972"/>
                  <a:pt x="580133" y="228600"/>
                </a:cubicBezTo>
                <a:lnTo>
                  <a:pt x="580133" y="708688"/>
                </a:lnTo>
                <a:cubicBezTo>
                  <a:pt x="580133" y="769316"/>
                  <a:pt x="604217" y="827461"/>
                  <a:pt x="647088" y="870332"/>
                </a:cubicBezTo>
                <a:cubicBezTo>
                  <a:pt x="689958" y="913203"/>
                  <a:pt x="748104" y="937288"/>
                  <a:pt x="808733" y="937288"/>
                </a:cubicBezTo>
                <a:lnTo>
                  <a:pt x="1160266" y="937288"/>
                </a:lnTo>
              </a:path>
            </a:pathLst>
          </a:custGeom>
          <a:ln cap="flat" w="38100">
            <a:gradFill>
              <a:gsLst>
                <a:gs pos="0">
                  <a:srgbClr val="888888">
                    <a:alpha val="100000"/>
                  </a:srgbClr>
                </a:gs>
                <a:gs pos="100000">
                  <a:srgbClr val="FFFFFF">
                    <a:alpha val="100000"/>
                  </a:srgbClr>
                </a:gs>
              </a:gsLst>
              <a:lin ang="5400000"/>
            </a:gradFill>
            <a:prstDash val="solid"/>
            <a:headEnd type="none" len="sm" w="sm"/>
            <a:tailEnd type="none" len="sm" w="sm"/>
          </a:ln>
        </p:spPr>
      </p:sp>
      <p:sp>
        <p:nvSpPr>
          <p:cNvPr name="Freeform 38" id="38"/>
          <p:cNvSpPr/>
          <p:nvPr/>
        </p:nvSpPr>
        <p:spPr>
          <a:xfrm>
            <a:off x="13268621" y="1999960"/>
            <a:ext cx="2331847" cy="1087740"/>
          </a:xfrm>
          <a:custGeom>
            <a:avLst/>
            <a:gdLst/>
            <a:ahLst/>
            <a:cxnLst/>
            <a:rect r="r" b="b" t="t" l="l"/>
            <a:pathLst>
              <a:path h="1087740" w="2331847">
                <a:moveTo>
                  <a:pt x="1874647" y="0"/>
                </a:moveTo>
                <a:lnTo>
                  <a:pt x="2103247" y="0"/>
                </a:lnTo>
                <a:cubicBezTo>
                  <a:pt x="2229500" y="0"/>
                  <a:pt x="2331847" y="102348"/>
                  <a:pt x="2331847" y="228600"/>
                </a:cubicBezTo>
                <a:lnTo>
                  <a:pt x="2331847" y="859140"/>
                </a:lnTo>
                <a:cubicBezTo>
                  <a:pt x="2331847" y="985392"/>
                  <a:pt x="2229500" y="1087740"/>
                  <a:pt x="2103247" y="1087740"/>
                </a:cubicBezTo>
                <a:lnTo>
                  <a:pt x="0" y="1087740"/>
                </a:lnTo>
              </a:path>
            </a:pathLst>
          </a:custGeom>
          <a:ln cap="flat" w="38100">
            <a:gradFill>
              <a:gsLst>
                <a:gs pos="0">
                  <a:srgbClr val="888888">
                    <a:alpha val="100000"/>
                  </a:srgbClr>
                </a:gs>
                <a:gs pos="100000">
                  <a:srgbClr val="FFFFFF">
                    <a:alpha val="100000"/>
                  </a:srgbClr>
                </a:gs>
              </a:gsLst>
              <a:lin ang="5400000"/>
            </a:gradFill>
            <a:prstDash val="solid"/>
            <a:headEnd type="none" len="sm" w="sm"/>
            <a:tailEnd type="none" len="sm" w="sm"/>
          </a:ln>
        </p:spPr>
      </p:sp>
      <p:sp>
        <p:nvSpPr>
          <p:cNvPr name="Freeform 39" id="39"/>
          <p:cNvSpPr/>
          <p:nvPr/>
        </p:nvSpPr>
        <p:spPr>
          <a:xfrm>
            <a:off x="11981081" y="1551328"/>
            <a:ext cx="245516" cy="1041921"/>
          </a:xfrm>
          <a:custGeom>
            <a:avLst/>
            <a:gdLst/>
            <a:ahLst/>
            <a:cxnLst/>
            <a:rect r="r" b="b" t="t" l="l"/>
            <a:pathLst>
              <a:path h="1041921" w="245516">
                <a:moveTo>
                  <a:pt x="245516" y="0"/>
                </a:moveTo>
                <a:lnTo>
                  <a:pt x="245516" y="334442"/>
                </a:lnTo>
                <a:cubicBezTo>
                  <a:pt x="245516" y="402239"/>
                  <a:pt x="190555" y="457200"/>
                  <a:pt x="122758" y="457200"/>
                </a:cubicBezTo>
                <a:lnTo>
                  <a:pt x="122758" y="457200"/>
                </a:lnTo>
                <a:cubicBezTo>
                  <a:pt x="54961" y="457200"/>
                  <a:pt x="0" y="512160"/>
                  <a:pt x="0" y="579958"/>
                </a:cubicBezTo>
                <a:lnTo>
                  <a:pt x="0" y="1041921"/>
                </a:lnTo>
              </a:path>
            </a:pathLst>
          </a:custGeom>
          <a:ln cap="flat" w="38100">
            <a:gradFill>
              <a:gsLst>
                <a:gs pos="0">
                  <a:srgbClr val="888888">
                    <a:alpha val="100000"/>
                  </a:srgbClr>
                </a:gs>
                <a:gs pos="100000">
                  <a:srgbClr val="FFFFFF">
                    <a:alpha val="100000"/>
                  </a:srgbClr>
                </a:gs>
              </a:gsLst>
              <a:lin ang="5400000"/>
            </a:gra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1215763" y="1936770"/>
            <a:ext cx="7612755" cy="775026"/>
            <a:chOff x="0" y="0"/>
            <a:chExt cx="4819357" cy="490640"/>
          </a:xfrm>
        </p:grpSpPr>
        <p:sp>
          <p:nvSpPr>
            <p:cNvPr name="Freeform 5" id="5"/>
            <p:cNvSpPr/>
            <p:nvPr/>
          </p:nvSpPr>
          <p:spPr>
            <a:xfrm flipH="false" flipV="false" rot="0">
              <a:off x="0" y="0"/>
              <a:ext cx="4819357" cy="490640"/>
            </a:xfrm>
            <a:custGeom>
              <a:avLst/>
              <a:gdLst/>
              <a:ahLst/>
              <a:cxnLst/>
              <a:rect r="r" b="b" t="t" l="l"/>
              <a:pathLst>
                <a:path h="490640" w="4819357">
                  <a:moveTo>
                    <a:pt x="4819357" y="245320"/>
                  </a:moveTo>
                  <a:lnTo>
                    <a:pt x="4616157" y="490640"/>
                  </a:lnTo>
                  <a:lnTo>
                    <a:pt x="203200" y="490640"/>
                  </a:lnTo>
                  <a:lnTo>
                    <a:pt x="0" y="245320"/>
                  </a:lnTo>
                  <a:lnTo>
                    <a:pt x="203200" y="0"/>
                  </a:lnTo>
                  <a:lnTo>
                    <a:pt x="4616157" y="0"/>
                  </a:lnTo>
                  <a:lnTo>
                    <a:pt x="4819357" y="245320"/>
                  </a:lnTo>
                  <a:close/>
                </a:path>
              </a:pathLst>
            </a:custGeom>
            <a:ln w="9525" cap="sq">
              <a:solidFill>
                <a:srgbClr val="FFFFFF"/>
              </a:solidFill>
              <a:prstDash val="solid"/>
              <a:miter/>
            </a:ln>
          </p:spPr>
        </p:sp>
        <p:sp>
          <p:nvSpPr>
            <p:cNvPr name="TextBox 6" id="6"/>
            <p:cNvSpPr txBox="true"/>
            <p:nvPr/>
          </p:nvSpPr>
          <p:spPr>
            <a:xfrm>
              <a:off x="114300" y="9525"/>
              <a:ext cx="4590757" cy="481115"/>
            </a:xfrm>
            <a:prstGeom prst="rect">
              <a:avLst/>
            </a:prstGeom>
          </p:spPr>
          <p:txBody>
            <a:bodyPr anchor="ctr" rtlCol="false" tIns="50800" lIns="50800" bIns="50800" rIns="50800"/>
            <a:lstStyle/>
            <a:p>
              <a:pPr algn="ctr">
                <a:lnSpc>
                  <a:spcPts val="1760"/>
                </a:lnSpc>
              </a:pPr>
            </a:p>
          </p:txBody>
        </p:sp>
      </p:grpSp>
      <p:grpSp>
        <p:nvGrpSpPr>
          <p:cNvPr name="Group 7" id="7"/>
          <p:cNvGrpSpPr/>
          <p:nvPr/>
        </p:nvGrpSpPr>
        <p:grpSpPr>
          <a:xfrm rot="0">
            <a:off x="11110660" y="1936770"/>
            <a:ext cx="7612755" cy="775026"/>
            <a:chOff x="0" y="0"/>
            <a:chExt cx="4819357" cy="490640"/>
          </a:xfrm>
        </p:grpSpPr>
        <p:sp>
          <p:nvSpPr>
            <p:cNvPr name="Freeform 8" id="8"/>
            <p:cNvSpPr/>
            <p:nvPr/>
          </p:nvSpPr>
          <p:spPr>
            <a:xfrm flipH="false" flipV="false" rot="0">
              <a:off x="0" y="0"/>
              <a:ext cx="4819357" cy="490640"/>
            </a:xfrm>
            <a:custGeom>
              <a:avLst/>
              <a:gdLst/>
              <a:ahLst/>
              <a:cxnLst/>
              <a:rect r="r" b="b" t="t" l="l"/>
              <a:pathLst>
                <a:path h="490640" w="4819357">
                  <a:moveTo>
                    <a:pt x="4819357" y="245320"/>
                  </a:moveTo>
                  <a:lnTo>
                    <a:pt x="4616157" y="490640"/>
                  </a:lnTo>
                  <a:lnTo>
                    <a:pt x="203200" y="490640"/>
                  </a:lnTo>
                  <a:lnTo>
                    <a:pt x="0" y="245320"/>
                  </a:lnTo>
                  <a:lnTo>
                    <a:pt x="203200" y="0"/>
                  </a:lnTo>
                  <a:lnTo>
                    <a:pt x="4616157" y="0"/>
                  </a:lnTo>
                  <a:lnTo>
                    <a:pt x="4819357" y="245320"/>
                  </a:lnTo>
                  <a:close/>
                </a:path>
              </a:pathLst>
            </a:custGeom>
            <a:ln w="9525" cap="sq">
              <a:solidFill>
                <a:srgbClr val="FFFFFF"/>
              </a:solidFill>
              <a:prstDash val="solid"/>
              <a:miter/>
            </a:ln>
          </p:spPr>
        </p:sp>
        <p:sp>
          <p:nvSpPr>
            <p:cNvPr name="TextBox 9" id="9"/>
            <p:cNvSpPr txBox="true"/>
            <p:nvPr/>
          </p:nvSpPr>
          <p:spPr>
            <a:xfrm>
              <a:off x="114300" y="9525"/>
              <a:ext cx="4590757" cy="481115"/>
            </a:xfrm>
            <a:prstGeom prst="rect">
              <a:avLst/>
            </a:prstGeom>
          </p:spPr>
          <p:txBody>
            <a:bodyPr anchor="ctr" rtlCol="false" tIns="50800" lIns="50800" bIns="50800" rIns="50800"/>
            <a:lstStyle/>
            <a:p>
              <a:pPr algn="ctr">
                <a:lnSpc>
                  <a:spcPts val="1760"/>
                </a:lnSpc>
              </a:pPr>
            </a:p>
          </p:txBody>
        </p:sp>
      </p:grpSp>
      <p:grpSp>
        <p:nvGrpSpPr>
          <p:cNvPr name="Group 10" id="10"/>
          <p:cNvGrpSpPr/>
          <p:nvPr/>
        </p:nvGrpSpPr>
        <p:grpSpPr>
          <a:xfrm rot="0">
            <a:off x="11469963" y="2093939"/>
            <a:ext cx="7769077" cy="514277"/>
            <a:chOff x="0" y="0"/>
            <a:chExt cx="2046177" cy="135448"/>
          </a:xfrm>
        </p:grpSpPr>
        <p:sp>
          <p:nvSpPr>
            <p:cNvPr name="Freeform 11" id="11"/>
            <p:cNvSpPr/>
            <p:nvPr/>
          </p:nvSpPr>
          <p:spPr>
            <a:xfrm flipH="false" flipV="false" rot="0">
              <a:off x="0" y="0"/>
              <a:ext cx="2046177" cy="135448"/>
            </a:xfrm>
            <a:custGeom>
              <a:avLst/>
              <a:gdLst/>
              <a:ahLst/>
              <a:cxnLst/>
              <a:rect r="r" b="b" t="t" l="l"/>
              <a:pathLst>
                <a:path h="135448" w="2046177">
                  <a:moveTo>
                    <a:pt x="49825" y="0"/>
                  </a:moveTo>
                  <a:lnTo>
                    <a:pt x="1996351" y="0"/>
                  </a:lnTo>
                  <a:cubicBezTo>
                    <a:pt x="2009566" y="0"/>
                    <a:pt x="2022239" y="5249"/>
                    <a:pt x="2031583" y="14593"/>
                  </a:cubicBezTo>
                  <a:cubicBezTo>
                    <a:pt x="2040927" y="23938"/>
                    <a:pt x="2046177" y="36611"/>
                    <a:pt x="2046177" y="49825"/>
                  </a:cubicBezTo>
                  <a:lnTo>
                    <a:pt x="2046177" y="85622"/>
                  </a:lnTo>
                  <a:cubicBezTo>
                    <a:pt x="2046177" y="98837"/>
                    <a:pt x="2040927" y="111510"/>
                    <a:pt x="2031583" y="120854"/>
                  </a:cubicBezTo>
                  <a:cubicBezTo>
                    <a:pt x="2022239" y="130198"/>
                    <a:pt x="2009566" y="135448"/>
                    <a:pt x="1996351" y="135448"/>
                  </a:cubicBezTo>
                  <a:lnTo>
                    <a:pt x="49825" y="135448"/>
                  </a:lnTo>
                  <a:cubicBezTo>
                    <a:pt x="36611" y="135448"/>
                    <a:pt x="23938" y="130198"/>
                    <a:pt x="14593" y="120854"/>
                  </a:cubicBezTo>
                  <a:cubicBezTo>
                    <a:pt x="5249" y="111510"/>
                    <a:pt x="0" y="98837"/>
                    <a:pt x="0" y="85622"/>
                  </a:cubicBezTo>
                  <a:lnTo>
                    <a:pt x="0" y="49825"/>
                  </a:lnTo>
                  <a:cubicBezTo>
                    <a:pt x="0" y="36611"/>
                    <a:pt x="5249" y="23938"/>
                    <a:pt x="14593" y="14593"/>
                  </a:cubicBezTo>
                  <a:cubicBezTo>
                    <a:pt x="23938" y="5249"/>
                    <a:pt x="36611" y="0"/>
                    <a:pt x="49825" y="0"/>
                  </a:cubicBezTo>
                  <a:close/>
                </a:path>
              </a:pathLst>
            </a:custGeom>
            <a:solidFill>
              <a:srgbClr val="FFFFFF"/>
            </a:solidFill>
          </p:spPr>
        </p:sp>
        <p:sp>
          <p:nvSpPr>
            <p:cNvPr name="TextBox 12" id="12"/>
            <p:cNvSpPr txBox="true"/>
            <p:nvPr/>
          </p:nvSpPr>
          <p:spPr>
            <a:xfrm>
              <a:off x="0" y="9525"/>
              <a:ext cx="2046177" cy="125923"/>
            </a:xfrm>
            <a:prstGeom prst="rect">
              <a:avLst/>
            </a:prstGeom>
          </p:spPr>
          <p:txBody>
            <a:bodyPr anchor="ctr" rtlCol="false" tIns="50800" lIns="50800" bIns="50800" rIns="50800"/>
            <a:lstStyle/>
            <a:p>
              <a:pPr algn="ctr">
                <a:lnSpc>
                  <a:spcPts val="1760"/>
                </a:lnSpc>
              </a:pPr>
            </a:p>
          </p:txBody>
        </p:sp>
      </p:grpSp>
      <p:grpSp>
        <p:nvGrpSpPr>
          <p:cNvPr name="Group 13" id="13"/>
          <p:cNvGrpSpPr/>
          <p:nvPr/>
        </p:nvGrpSpPr>
        <p:grpSpPr>
          <a:xfrm rot="0">
            <a:off x="10122617" y="4463001"/>
            <a:ext cx="7991195" cy="3321546"/>
            <a:chOff x="0" y="0"/>
            <a:chExt cx="2104677" cy="874811"/>
          </a:xfrm>
        </p:grpSpPr>
        <p:sp>
          <p:nvSpPr>
            <p:cNvPr name="Freeform 14" id="14"/>
            <p:cNvSpPr/>
            <p:nvPr/>
          </p:nvSpPr>
          <p:spPr>
            <a:xfrm flipH="false" flipV="false" rot="0">
              <a:off x="0" y="0"/>
              <a:ext cx="2104677" cy="874811"/>
            </a:xfrm>
            <a:custGeom>
              <a:avLst/>
              <a:gdLst/>
              <a:ahLst/>
              <a:cxnLst/>
              <a:rect r="r" b="b" t="t" l="l"/>
              <a:pathLst>
                <a:path h="874811" w="2104677">
                  <a:moveTo>
                    <a:pt x="48440" y="0"/>
                  </a:moveTo>
                  <a:lnTo>
                    <a:pt x="2056237" y="0"/>
                  </a:lnTo>
                  <a:cubicBezTo>
                    <a:pt x="2069084" y="0"/>
                    <a:pt x="2081405" y="5104"/>
                    <a:pt x="2090489" y="14188"/>
                  </a:cubicBezTo>
                  <a:cubicBezTo>
                    <a:pt x="2099573" y="23272"/>
                    <a:pt x="2104677" y="35593"/>
                    <a:pt x="2104677" y="48440"/>
                  </a:cubicBezTo>
                  <a:lnTo>
                    <a:pt x="2104677" y="826370"/>
                  </a:lnTo>
                  <a:cubicBezTo>
                    <a:pt x="2104677" y="839217"/>
                    <a:pt x="2099573" y="851538"/>
                    <a:pt x="2090489" y="860623"/>
                  </a:cubicBezTo>
                  <a:cubicBezTo>
                    <a:pt x="2081405" y="869707"/>
                    <a:pt x="2069084" y="874811"/>
                    <a:pt x="2056237" y="874811"/>
                  </a:cubicBezTo>
                  <a:lnTo>
                    <a:pt x="48440" y="874811"/>
                  </a:lnTo>
                  <a:cubicBezTo>
                    <a:pt x="35593" y="874811"/>
                    <a:pt x="23272" y="869707"/>
                    <a:pt x="14188" y="860623"/>
                  </a:cubicBezTo>
                  <a:cubicBezTo>
                    <a:pt x="5104" y="851538"/>
                    <a:pt x="0" y="839217"/>
                    <a:pt x="0" y="826370"/>
                  </a:cubicBezTo>
                  <a:lnTo>
                    <a:pt x="0" y="48440"/>
                  </a:lnTo>
                  <a:cubicBezTo>
                    <a:pt x="0" y="35593"/>
                    <a:pt x="5104" y="23272"/>
                    <a:pt x="14188" y="14188"/>
                  </a:cubicBezTo>
                  <a:cubicBezTo>
                    <a:pt x="23272" y="5104"/>
                    <a:pt x="35593" y="0"/>
                    <a:pt x="48440" y="0"/>
                  </a:cubicBezTo>
                  <a:close/>
                </a:path>
              </a:pathLst>
            </a:custGeom>
            <a:ln w="9525" cap="rnd">
              <a:solidFill>
                <a:srgbClr val="FFFFFF"/>
              </a:solidFill>
              <a:prstDash val="solid"/>
              <a:round/>
            </a:ln>
          </p:spPr>
        </p:sp>
        <p:sp>
          <p:nvSpPr>
            <p:cNvPr name="TextBox 15" id="15"/>
            <p:cNvSpPr txBox="true"/>
            <p:nvPr/>
          </p:nvSpPr>
          <p:spPr>
            <a:xfrm>
              <a:off x="0" y="19050"/>
              <a:ext cx="2104677" cy="855761"/>
            </a:xfrm>
            <a:prstGeom prst="rect">
              <a:avLst/>
            </a:prstGeom>
          </p:spPr>
          <p:txBody>
            <a:bodyPr anchor="ctr" rtlCol="false" tIns="50800" lIns="50800" bIns="50800" rIns="50800"/>
            <a:lstStyle/>
            <a:p>
              <a:pPr algn="l" marL="410213" indent="-205106" lvl="1">
                <a:lnSpc>
                  <a:spcPts val="2090"/>
                </a:lnSpc>
                <a:buFont typeface="Arial"/>
                <a:buChar char="•"/>
              </a:pPr>
              <a:r>
                <a:rPr lang="en-US" sz="1900" spc="-95">
                  <a:solidFill>
                    <a:srgbClr val="FFFFFF"/>
                  </a:solidFill>
                  <a:latin typeface="Space Mono"/>
                  <a:ea typeface="Space Mono"/>
                  <a:cs typeface="Space Mono"/>
                  <a:sym typeface="Space Mono"/>
                </a:rPr>
                <a:t>Deployment (Vercel CLI): After detecting the first commit, RapidFire asks for confirmation, then shells out to the Vercel CLI to deploy the scaffolded frontend without leaving the CLI.</a:t>
              </a:r>
            </a:p>
            <a:p>
              <a:pPr algn="l">
                <a:lnSpc>
                  <a:spcPts val="2090"/>
                </a:lnSpc>
              </a:pPr>
            </a:p>
            <a:p>
              <a:pPr algn="l">
                <a:lnSpc>
                  <a:spcPts val="2090"/>
                </a:lnSpc>
              </a:pPr>
            </a:p>
            <a:p>
              <a:pPr algn="l">
                <a:lnSpc>
                  <a:spcPts val="2090"/>
                </a:lnSpc>
              </a:pPr>
            </a:p>
            <a:p>
              <a:pPr algn="l" marL="410213" indent="-205106" lvl="1">
                <a:lnSpc>
                  <a:spcPts val="2090"/>
                </a:lnSpc>
                <a:buFont typeface="Arial"/>
                <a:buChar char="•"/>
              </a:pPr>
              <a:r>
                <a:rPr lang="en-US" sz="1900" spc="-95">
                  <a:solidFill>
                    <a:srgbClr val="FFFFFF"/>
                  </a:solidFill>
                  <a:latin typeface="Space Mono"/>
                  <a:ea typeface="Space Mono"/>
                  <a:cs typeface="Space Mono"/>
                  <a:sym typeface="Space Mono"/>
                </a:rPr>
                <a:t>RapidFire Git-Leak: Scans every push for leaked secrets via an automatic pre-push hook, before code ever reaches GitHub.</a:t>
              </a:r>
            </a:p>
            <a:p>
              <a:pPr algn="l">
                <a:lnSpc>
                  <a:spcPts val="2090"/>
                </a:lnSpc>
              </a:pPr>
            </a:p>
          </p:txBody>
        </p:sp>
      </p:grpSp>
      <p:sp>
        <p:nvSpPr>
          <p:cNvPr name="TextBox 16" id="16"/>
          <p:cNvSpPr txBox="true"/>
          <p:nvPr/>
        </p:nvSpPr>
        <p:spPr>
          <a:xfrm rot="0">
            <a:off x="11592420" y="2061094"/>
            <a:ext cx="6695580" cy="618067"/>
          </a:xfrm>
          <a:prstGeom prst="rect">
            <a:avLst/>
          </a:prstGeom>
        </p:spPr>
        <p:txBody>
          <a:bodyPr anchor="t" rtlCol="false" tIns="0" lIns="0" bIns="0" rIns="0">
            <a:spAutoFit/>
          </a:bodyPr>
          <a:lstStyle/>
          <a:p>
            <a:pPr algn="just" marL="0" indent="0" lvl="0">
              <a:lnSpc>
                <a:spcPts val="4743"/>
              </a:lnSpc>
              <a:spcBef>
                <a:spcPct val="0"/>
              </a:spcBef>
            </a:pPr>
            <a:r>
              <a:rPr lang="en-US" b="true" sz="4311">
                <a:solidFill>
                  <a:srgbClr val="000000"/>
                </a:solidFill>
                <a:latin typeface="Space Mono Bold"/>
                <a:ea typeface="Space Mono Bold"/>
                <a:cs typeface="Space Mono Bold"/>
                <a:sym typeface="Space Mono Bold"/>
              </a:rPr>
              <a:t>CORE TECHNOLOGIES</a:t>
            </a:r>
          </a:p>
        </p:txBody>
      </p:sp>
      <p:sp>
        <p:nvSpPr>
          <p:cNvPr name="Freeform 17" id="17"/>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5"/>
            <a:stretch>
              <a:fillRect l="0" t="0" r="0" b="0"/>
            </a:stretch>
          </a:blipFill>
        </p:spPr>
      </p:sp>
      <p:sp>
        <p:nvSpPr>
          <p:cNvPr name="TextBox 18" id="18"/>
          <p:cNvSpPr txBox="true"/>
          <p:nvPr/>
        </p:nvSpPr>
        <p:spPr>
          <a:xfrm rot="0">
            <a:off x="16779613" y="77608"/>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grpSp>
        <p:nvGrpSpPr>
          <p:cNvPr name="Group 19" id="19"/>
          <p:cNvGrpSpPr/>
          <p:nvPr/>
        </p:nvGrpSpPr>
        <p:grpSpPr>
          <a:xfrm rot="0">
            <a:off x="1608658" y="380528"/>
            <a:ext cx="7365415" cy="2555808"/>
            <a:chOff x="0" y="0"/>
            <a:chExt cx="9820553" cy="3407744"/>
          </a:xfrm>
        </p:grpSpPr>
        <p:sp>
          <p:nvSpPr>
            <p:cNvPr name="Freeform 20" id="20"/>
            <p:cNvSpPr/>
            <p:nvPr/>
          </p:nvSpPr>
          <p:spPr>
            <a:xfrm flipH="false" flipV="false" rot="0">
              <a:off x="3553473" y="0"/>
              <a:ext cx="3496752" cy="3407744"/>
            </a:xfrm>
            <a:custGeom>
              <a:avLst/>
              <a:gdLst/>
              <a:ahLst/>
              <a:cxnLst/>
              <a:rect r="r" b="b" t="t" l="l"/>
              <a:pathLst>
                <a:path h="3407744" w="3496752">
                  <a:moveTo>
                    <a:pt x="0" y="0"/>
                  </a:moveTo>
                  <a:lnTo>
                    <a:pt x="3496752" y="0"/>
                  </a:lnTo>
                  <a:lnTo>
                    <a:pt x="3496752" y="3407744"/>
                  </a:lnTo>
                  <a:lnTo>
                    <a:pt x="0" y="34077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1" id="21"/>
            <p:cNvSpPr txBox="true"/>
            <p:nvPr/>
          </p:nvSpPr>
          <p:spPr>
            <a:xfrm rot="0">
              <a:off x="0" y="884195"/>
              <a:ext cx="9030678" cy="845179"/>
            </a:xfrm>
            <a:prstGeom prst="rect">
              <a:avLst/>
            </a:prstGeom>
          </p:spPr>
          <p:txBody>
            <a:bodyPr anchor="t" rtlCol="false" tIns="0" lIns="0" bIns="0" rIns="0">
              <a:spAutoFit/>
            </a:bodyPr>
            <a:lstStyle/>
            <a:p>
              <a:pPr algn="l">
                <a:lnSpc>
                  <a:spcPts val="4629"/>
                </a:lnSpc>
              </a:pPr>
              <a:r>
                <a:rPr lang="en-US" sz="4451">
                  <a:solidFill>
                    <a:srgbClr val="FFFFFF"/>
                  </a:solidFill>
                  <a:latin typeface="Bicubik"/>
                  <a:ea typeface="Bicubik"/>
                  <a:cs typeface="Bicubik"/>
                  <a:sym typeface="Bicubik"/>
                </a:rPr>
                <a:t>TECH STACK &amp; </a:t>
              </a:r>
            </a:p>
          </p:txBody>
        </p:sp>
        <p:sp>
          <p:nvSpPr>
            <p:cNvPr name="TextBox 22" id="22"/>
            <p:cNvSpPr txBox="true"/>
            <p:nvPr/>
          </p:nvSpPr>
          <p:spPr>
            <a:xfrm rot="0">
              <a:off x="2661298" y="1693318"/>
              <a:ext cx="7159255" cy="845179"/>
            </a:xfrm>
            <a:prstGeom prst="rect">
              <a:avLst/>
            </a:prstGeom>
          </p:spPr>
          <p:txBody>
            <a:bodyPr anchor="t" rtlCol="false" tIns="0" lIns="0" bIns="0" rIns="0">
              <a:spAutoFit/>
            </a:bodyPr>
            <a:lstStyle/>
            <a:p>
              <a:pPr algn="l">
                <a:lnSpc>
                  <a:spcPts val="4629"/>
                </a:lnSpc>
              </a:pPr>
              <a:r>
                <a:rPr lang="en-US" sz="4451">
                  <a:solidFill>
                    <a:srgbClr val="FFFFFF"/>
                  </a:solidFill>
                  <a:latin typeface="Bicubik"/>
                  <a:ea typeface="Bicubik"/>
                  <a:cs typeface="Bicubik"/>
                  <a:sym typeface="Bicubik"/>
                </a:rPr>
                <a:t>DEPENDENCIES</a:t>
              </a:r>
            </a:p>
          </p:txBody>
        </p:sp>
      </p:grpSp>
      <p:sp>
        <p:nvSpPr>
          <p:cNvPr name="TextBox 23" id="23"/>
          <p:cNvSpPr txBox="true"/>
          <p:nvPr/>
        </p:nvSpPr>
        <p:spPr>
          <a:xfrm rot="0">
            <a:off x="524240" y="4687398"/>
            <a:ext cx="8385433" cy="287797"/>
          </a:xfrm>
          <a:prstGeom prst="rect">
            <a:avLst/>
          </a:prstGeom>
        </p:spPr>
        <p:txBody>
          <a:bodyPr anchor="t" rtlCol="false" tIns="0" lIns="0" bIns="0" rIns="0">
            <a:spAutoFit/>
          </a:bodyPr>
          <a:lstStyle/>
          <a:p>
            <a:pPr algn="just">
              <a:lnSpc>
                <a:spcPts val="2218"/>
              </a:lnSpc>
            </a:pPr>
            <a:r>
              <a:rPr lang="en-US" b="true" sz="2017">
                <a:solidFill>
                  <a:srgbClr val="FFFFFF"/>
                </a:solidFill>
                <a:latin typeface="Space Mono Bold"/>
                <a:ea typeface="Space Mono Bold"/>
                <a:cs typeface="Space Mono Bold"/>
                <a:sym typeface="Space Mono Bold"/>
              </a:rPr>
              <a:t>NODE.JS LIBRARIES:-</a:t>
            </a:r>
          </a:p>
        </p:txBody>
      </p:sp>
      <p:sp>
        <p:nvSpPr>
          <p:cNvPr name="TextBox 24" id="24"/>
          <p:cNvSpPr txBox="true"/>
          <p:nvPr/>
        </p:nvSpPr>
        <p:spPr>
          <a:xfrm rot="0">
            <a:off x="66541" y="3507836"/>
            <a:ext cx="10056075" cy="429564"/>
          </a:xfrm>
          <a:prstGeom prst="rect">
            <a:avLst/>
          </a:prstGeom>
        </p:spPr>
        <p:txBody>
          <a:bodyPr anchor="t" rtlCol="false" tIns="0" lIns="0" bIns="0" rIns="0">
            <a:spAutoFit/>
          </a:bodyPr>
          <a:lstStyle/>
          <a:p>
            <a:pPr algn="ctr" marL="0" indent="0" lvl="0">
              <a:lnSpc>
                <a:spcPts val="3380"/>
              </a:lnSpc>
              <a:spcBef>
                <a:spcPct val="0"/>
              </a:spcBef>
            </a:pPr>
            <a:r>
              <a:rPr lang="en-US" b="true" sz="3073">
                <a:solidFill>
                  <a:srgbClr val="FFDE59"/>
                </a:solidFill>
                <a:latin typeface="Space Mono Bold"/>
                <a:ea typeface="Space Mono Bold"/>
                <a:cs typeface="Space Mono Bold"/>
                <a:sym typeface="Space Mono Bold"/>
              </a:rPr>
              <a:t>(AI SUGGESTION → BUILD → DEPLOY)</a:t>
            </a:r>
          </a:p>
        </p:txBody>
      </p:sp>
      <p:sp>
        <p:nvSpPr>
          <p:cNvPr name="TextBox 25" id="25"/>
          <p:cNvSpPr txBox="true"/>
          <p:nvPr/>
        </p:nvSpPr>
        <p:spPr>
          <a:xfrm rot="0">
            <a:off x="343815" y="4831297"/>
            <a:ext cx="8067909" cy="5148595"/>
          </a:xfrm>
          <a:prstGeom prst="rect">
            <a:avLst/>
          </a:prstGeom>
        </p:spPr>
        <p:txBody>
          <a:bodyPr anchor="t" rtlCol="false" tIns="0" lIns="0" bIns="0" rIns="0">
            <a:spAutoFit/>
          </a:bodyPr>
          <a:lstStyle/>
          <a:p>
            <a:pPr algn="just">
              <a:lnSpc>
                <a:spcPts val="1819"/>
              </a:lnSpc>
            </a:pPr>
          </a:p>
          <a:p>
            <a:pPr algn="just" marL="357121" indent="-178561" lvl="1">
              <a:lnSpc>
                <a:spcPts val="1819"/>
              </a:lnSpc>
              <a:buFont typeface="Arial"/>
              <a:buChar char="•"/>
            </a:pPr>
            <a:r>
              <a:rPr lang="en-US" sz="1654" spc="-82">
                <a:solidFill>
                  <a:srgbClr val="FFFFFF"/>
                </a:solidFill>
                <a:latin typeface="Space Mono"/>
                <a:ea typeface="Space Mono"/>
                <a:cs typeface="Space Mono"/>
                <a:sym typeface="Space Mono"/>
              </a:rPr>
              <a:t>node-pty – Spawns one persistent shell process (pwsh/bash), enabling real passthrough with cd and environment variable persistence the core overlay mechanism.</a:t>
            </a:r>
          </a:p>
          <a:p>
            <a:pPr algn="just">
              <a:lnSpc>
                <a:spcPts val="1819"/>
              </a:lnSpc>
            </a:pPr>
          </a:p>
          <a:p>
            <a:pPr algn="just" marL="357121" indent="-178561" lvl="1">
              <a:lnSpc>
                <a:spcPts val="1819"/>
              </a:lnSpc>
              <a:buFont typeface="Arial"/>
              <a:buChar char="•"/>
            </a:pPr>
            <a:r>
              <a:rPr lang="en-US" sz="1654" spc="-82">
                <a:solidFill>
                  <a:srgbClr val="FFFFFF"/>
                </a:solidFill>
                <a:latin typeface="Space Mono"/>
                <a:ea typeface="Space Mono"/>
                <a:cs typeface="Space Mono"/>
                <a:sym typeface="Space Mono"/>
              </a:rPr>
              <a:t>readline (built-in) – Reads terminal input and routes recognized commands vs. passthrough to the shell.</a:t>
            </a:r>
          </a:p>
          <a:p>
            <a:pPr algn="just">
              <a:lnSpc>
                <a:spcPts val="1819"/>
              </a:lnSpc>
            </a:pPr>
          </a:p>
          <a:p>
            <a:pPr algn="just" marL="357121" indent="-178561" lvl="1">
              <a:lnSpc>
                <a:spcPts val="1819"/>
              </a:lnSpc>
              <a:buFont typeface="Arial"/>
              <a:buChar char="•"/>
            </a:pPr>
            <a:r>
              <a:rPr lang="en-US" sz="1654" spc="-82">
                <a:solidFill>
                  <a:srgbClr val="FFFFFF"/>
                </a:solidFill>
                <a:latin typeface="Space Mono"/>
                <a:ea typeface="Space Mono"/>
                <a:cs typeface="Space Mono"/>
                <a:sym typeface="Space Mono"/>
              </a:rPr>
              <a:t>fs / fs-extra – Handles folder/file generation for scaffolding, and reads/writes JSON-based presets and the.rapidfire.json manifest.</a:t>
            </a:r>
          </a:p>
          <a:p>
            <a:pPr algn="just">
              <a:lnSpc>
                <a:spcPts val="1819"/>
              </a:lnSpc>
            </a:pPr>
          </a:p>
          <a:p>
            <a:pPr algn="just" marL="357121" indent="-178561" lvl="1">
              <a:lnSpc>
                <a:spcPts val="1819"/>
              </a:lnSpc>
              <a:buFont typeface="Arial"/>
              <a:buChar char="•"/>
            </a:pPr>
            <a:r>
              <a:rPr lang="en-US" sz="1654" spc="-82">
                <a:solidFill>
                  <a:srgbClr val="FFFFFF"/>
                </a:solidFill>
                <a:latin typeface="Space Mono"/>
                <a:ea typeface="Space Mono"/>
                <a:cs typeface="Space Mono"/>
                <a:sym typeface="Space Mono"/>
              </a:rPr>
              <a:t>gh CLI – Invoked via node-pty to authenticate and create GitHub repositories, using GitHub's own auth flow.</a:t>
            </a:r>
          </a:p>
          <a:p>
            <a:pPr algn="just">
              <a:lnSpc>
                <a:spcPts val="1819"/>
              </a:lnSpc>
            </a:pPr>
          </a:p>
          <a:p>
            <a:pPr algn="just" marL="357121" indent="-178561" lvl="1">
              <a:lnSpc>
                <a:spcPts val="1819"/>
              </a:lnSpc>
              <a:buFont typeface="Arial"/>
              <a:buChar char="•"/>
            </a:pPr>
            <a:r>
              <a:rPr lang="en-US" sz="1654" spc="-82">
                <a:solidFill>
                  <a:srgbClr val="FFFFFF"/>
                </a:solidFill>
                <a:latin typeface="Space Mono"/>
                <a:ea typeface="Space Mono"/>
                <a:cs typeface="Space Mono"/>
                <a:sym typeface="Space Mono"/>
              </a:rPr>
              <a:t>Vercel CLI – Invoked to deploy the scaffolded frontend, only after the user confirms following the first commit.</a:t>
            </a:r>
          </a:p>
          <a:p>
            <a:pPr algn="just">
              <a:lnSpc>
                <a:spcPts val="1819"/>
              </a:lnSpc>
            </a:pPr>
          </a:p>
          <a:p>
            <a:pPr algn="just" marL="357121" indent="-178561" lvl="1">
              <a:lnSpc>
                <a:spcPts val="1819"/>
              </a:lnSpc>
              <a:buFont typeface="Arial"/>
              <a:buChar char="•"/>
            </a:pPr>
            <a:r>
              <a:rPr lang="en-US" sz="1654" spc="-82">
                <a:solidFill>
                  <a:srgbClr val="FFFFFF"/>
                </a:solidFill>
                <a:latin typeface="Space Mono"/>
                <a:ea typeface="Space Mono"/>
                <a:cs typeface="Space Mono"/>
                <a:sym typeface="Space Mono"/>
              </a:rPr>
              <a:t>Gitleaks – The secret scanner binary, triggered as an automated pre-push hook.</a:t>
            </a:r>
          </a:p>
          <a:p>
            <a:pPr algn="just">
              <a:lnSpc>
                <a:spcPts val="1819"/>
              </a:lnSpc>
            </a:pPr>
          </a:p>
          <a:p>
            <a:pPr algn="just" marL="357121" indent="-178561" lvl="1">
              <a:lnSpc>
                <a:spcPts val="1819"/>
              </a:lnSpc>
              <a:buFont typeface="Arial"/>
              <a:buChar char="•"/>
            </a:pPr>
            <a:r>
              <a:rPr lang="en-US" sz="1654" spc="-82">
                <a:solidFill>
                  <a:srgbClr val="FFFFFF"/>
                </a:solidFill>
                <a:latin typeface="Space Mono"/>
                <a:ea typeface="Space Mono"/>
                <a:cs typeface="Space Mono"/>
                <a:sym typeface="Space Mono"/>
              </a:rPr>
              <a:t>@google/generative-ai – The official SDK to connect RapidFire to the Gemini API.</a:t>
            </a:r>
          </a:p>
        </p:txBody>
      </p:sp>
      <p:grpSp>
        <p:nvGrpSpPr>
          <p:cNvPr name="Group 26" id="26"/>
          <p:cNvGrpSpPr/>
          <p:nvPr/>
        </p:nvGrpSpPr>
        <p:grpSpPr>
          <a:xfrm rot="0">
            <a:off x="201095" y="4463001"/>
            <a:ext cx="9621976" cy="5634055"/>
            <a:chOff x="0" y="0"/>
            <a:chExt cx="2308873" cy="1351938"/>
          </a:xfrm>
        </p:grpSpPr>
        <p:sp>
          <p:nvSpPr>
            <p:cNvPr name="Freeform 27" id="27"/>
            <p:cNvSpPr/>
            <p:nvPr/>
          </p:nvSpPr>
          <p:spPr>
            <a:xfrm flipH="false" flipV="false" rot="0">
              <a:off x="0" y="0"/>
              <a:ext cx="2308873" cy="1351938"/>
            </a:xfrm>
            <a:custGeom>
              <a:avLst/>
              <a:gdLst/>
              <a:ahLst/>
              <a:cxnLst/>
              <a:rect r="r" b="b" t="t" l="l"/>
              <a:pathLst>
                <a:path h="1351938" w="2308873">
                  <a:moveTo>
                    <a:pt x="40230" y="0"/>
                  </a:moveTo>
                  <a:lnTo>
                    <a:pt x="2268642" y="0"/>
                  </a:lnTo>
                  <a:cubicBezTo>
                    <a:pt x="2290861" y="0"/>
                    <a:pt x="2308873" y="18012"/>
                    <a:pt x="2308873" y="40230"/>
                  </a:cubicBezTo>
                  <a:lnTo>
                    <a:pt x="2308873" y="1311708"/>
                  </a:lnTo>
                  <a:cubicBezTo>
                    <a:pt x="2308873" y="1322378"/>
                    <a:pt x="2304634" y="1332610"/>
                    <a:pt x="2297090" y="1340155"/>
                  </a:cubicBezTo>
                  <a:cubicBezTo>
                    <a:pt x="2289545" y="1347700"/>
                    <a:pt x="2279312" y="1351938"/>
                    <a:pt x="2268642" y="1351938"/>
                  </a:cubicBezTo>
                  <a:lnTo>
                    <a:pt x="40230" y="1351938"/>
                  </a:lnTo>
                  <a:cubicBezTo>
                    <a:pt x="29561" y="1351938"/>
                    <a:pt x="19328" y="1347700"/>
                    <a:pt x="11783" y="1340155"/>
                  </a:cubicBezTo>
                  <a:cubicBezTo>
                    <a:pt x="4239" y="1332610"/>
                    <a:pt x="0" y="1322378"/>
                    <a:pt x="0" y="1311708"/>
                  </a:cubicBezTo>
                  <a:lnTo>
                    <a:pt x="0" y="40230"/>
                  </a:lnTo>
                  <a:cubicBezTo>
                    <a:pt x="0" y="29561"/>
                    <a:pt x="4239" y="19328"/>
                    <a:pt x="11783" y="11783"/>
                  </a:cubicBezTo>
                  <a:cubicBezTo>
                    <a:pt x="19328" y="4239"/>
                    <a:pt x="29561" y="0"/>
                    <a:pt x="40230" y="0"/>
                  </a:cubicBezTo>
                  <a:close/>
                </a:path>
              </a:pathLst>
            </a:custGeom>
            <a:ln w="9525" cap="rnd">
              <a:solidFill>
                <a:srgbClr val="FFFFFF"/>
              </a:solidFill>
              <a:prstDash val="solid"/>
              <a:round/>
            </a:ln>
          </p:spPr>
        </p:sp>
        <p:sp>
          <p:nvSpPr>
            <p:cNvPr name="TextBox 28" id="28"/>
            <p:cNvSpPr txBox="true"/>
            <p:nvPr/>
          </p:nvSpPr>
          <p:spPr>
            <a:xfrm>
              <a:off x="0" y="9525"/>
              <a:ext cx="2308873" cy="1342413"/>
            </a:xfrm>
            <a:prstGeom prst="rect">
              <a:avLst/>
            </a:prstGeom>
          </p:spPr>
          <p:txBody>
            <a:bodyPr anchor="ctr" rtlCol="false" tIns="55757" lIns="55757" bIns="55757" rIns="55757"/>
            <a:lstStyle/>
            <a:p>
              <a:pPr algn="ctr">
                <a:lnSpc>
                  <a:spcPts val="1760"/>
                </a:lnSpc>
              </a:pPr>
            </a:p>
          </p:txBody>
        </p:sp>
      </p:grpSp>
      <p:sp>
        <p:nvSpPr>
          <p:cNvPr name="TextBox 29" id="29"/>
          <p:cNvSpPr txBox="true"/>
          <p:nvPr/>
        </p:nvSpPr>
        <p:spPr>
          <a:xfrm rot="0">
            <a:off x="10188960" y="7097022"/>
            <a:ext cx="7913026" cy="262255"/>
          </a:xfrm>
          <a:prstGeom prst="rect">
            <a:avLst/>
          </a:prstGeom>
        </p:spPr>
        <p:txBody>
          <a:bodyPr anchor="t" rtlCol="false" tIns="0" lIns="0" bIns="0" rIns="0">
            <a:spAutoFit/>
          </a:bodyPr>
          <a:lstStyle/>
          <a:p>
            <a:pPr algn="l">
              <a:lnSpc>
                <a:spcPts val="2090"/>
              </a:lnSpc>
              <a:spcBef>
                <a:spcPct val="0"/>
              </a:spcBef>
            </a:pPr>
          </a:p>
        </p:txBody>
      </p:sp>
      <p:sp>
        <p:nvSpPr>
          <p:cNvPr name="TextBox 30" id="30"/>
          <p:cNvSpPr txBox="true"/>
          <p:nvPr/>
        </p:nvSpPr>
        <p:spPr>
          <a:xfrm rot="0">
            <a:off x="10188960" y="7740277"/>
            <a:ext cx="7700878" cy="262255"/>
          </a:xfrm>
          <a:prstGeom prst="rect">
            <a:avLst/>
          </a:prstGeom>
        </p:spPr>
        <p:txBody>
          <a:bodyPr anchor="t" rtlCol="false" tIns="0" lIns="0" bIns="0" rIns="0">
            <a:spAutoFit/>
          </a:bodyPr>
          <a:lstStyle/>
          <a:p>
            <a:pPr algn="l">
              <a:lnSpc>
                <a:spcPts val="2090"/>
              </a:lnSpc>
              <a:spcBef>
                <a:spcPct val="0"/>
              </a:spcBef>
            </a:pPr>
          </a:p>
        </p:txBody>
      </p:sp>
      <p:grpSp>
        <p:nvGrpSpPr>
          <p:cNvPr name="Group 31" id="31"/>
          <p:cNvGrpSpPr/>
          <p:nvPr/>
        </p:nvGrpSpPr>
        <p:grpSpPr>
          <a:xfrm rot="0">
            <a:off x="10122617" y="7895472"/>
            <a:ext cx="7979370" cy="1925359"/>
            <a:chOff x="0" y="0"/>
            <a:chExt cx="10639159" cy="2567145"/>
          </a:xfrm>
        </p:grpSpPr>
        <p:grpSp>
          <p:nvGrpSpPr>
            <p:cNvPr name="Group 32" id="32"/>
            <p:cNvGrpSpPr/>
            <p:nvPr/>
          </p:nvGrpSpPr>
          <p:grpSpPr>
            <a:xfrm rot="0">
              <a:off x="0" y="0"/>
              <a:ext cx="10639159" cy="2567145"/>
              <a:chOff x="0" y="0"/>
              <a:chExt cx="2101562" cy="507090"/>
            </a:xfrm>
          </p:grpSpPr>
          <p:sp>
            <p:nvSpPr>
              <p:cNvPr name="Freeform 33" id="33"/>
              <p:cNvSpPr/>
              <p:nvPr/>
            </p:nvSpPr>
            <p:spPr>
              <a:xfrm flipH="false" flipV="false" rot="0">
                <a:off x="0" y="0"/>
                <a:ext cx="2101562" cy="507090"/>
              </a:xfrm>
              <a:custGeom>
                <a:avLst/>
                <a:gdLst/>
                <a:ahLst/>
                <a:cxnLst/>
                <a:rect r="r" b="b" t="t" l="l"/>
                <a:pathLst>
                  <a:path h="507090" w="2101562">
                    <a:moveTo>
                      <a:pt x="48512" y="0"/>
                    </a:moveTo>
                    <a:lnTo>
                      <a:pt x="2053050" y="0"/>
                    </a:lnTo>
                    <a:cubicBezTo>
                      <a:pt x="2079843" y="0"/>
                      <a:pt x="2101562" y="21720"/>
                      <a:pt x="2101562" y="48512"/>
                    </a:cubicBezTo>
                    <a:lnTo>
                      <a:pt x="2101562" y="458578"/>
                    </a:lnTo>
                    <a:cubicBezTo>
                      <a:pt x="2101562" y="485371"/>
                      <a:pt x="2079843" y="507090"/>
                      <a:pt x="2053050" y="507090"/>
                    </a:cubicBezTo>
                    <a:lnTo>
                      <a:pt x="48512" y="507090"/>
                    </a:lnTo>
                    <a:cubicBezTo>
                      <a:pt x="21720" y="507090"/>
                      <a:pt x="0" y="485371"/>
                      <a:pt x="0" y="458578"/>
                    </a:cubicBezTo>
                    <a:lnTo>
                      <a:pt x="0" y="48512"/>
                    </a:lnTo>
                    <a:cubicBezTo>
                      <a:pt x="0" y="21720"/>
                      <a:pt x="21720" y="0"/>
                      <a:pt x="48512" y="0"/>
                    </a:cubicBezTo>
                    <a:close/>
                  </a:path>
                </a:pathLst>
              </a:custGeom>
              <a:ln w="9525" cap="rnd">
                <a:solidFill>
                  <a:srgbClr val="FFFFFF"/>
                </a:solidFill>
                <a:prstDash val="solid"/>
                <a:round/>
              </a:ln>
            </p:spPr>
          </p:sp>
          <p:sp>
            <p:nvSpPr>
              <p:cNvPr name="TextBox 34" id="34"/>
              <p:cNvSpPr txBox="true"/>
              <p:nvPr/>
            </p:nvSpPr>
            <p:spPr>
              <a:xfrm>
                <a:off x="0" y="9525"/>
                <a:ext cx="2101562" cy="497565"/>
              </a:xfrm>
              <a:prstGeom prst="rect">
                <a:avLst/>
              </a:prstGeom>
            </p:spPr>
            <p:txBody>
              <a:bodyPr anchor="ctr" rtlCol="false" tIns="50800" lIns="50800" bIns="50800" rIns="50800"/>
              <a:lstStyle/>
              <a:p>
                <a:pPr algn="l" marL="345444" indent="-172722" lvl="1">
                  <a:lnSpc>
                    <a:spcPts val="1760"/>
                  </a:lnSpc>
                  <a:buFont typeface="Arial"/>
                  <a:buChar char="•"/>
                </a:pPr>
              </a:p>
            </p:txBody>
          </p:sp>
        </p:grpSp>
        <p:sp>
          <p:nvSpPr>
            <p:cNvPr name="TextBox 35" id="35"/>
            <p:cNvSpPr txBox="true"/>
            <p:nvPr/>
          </p:nvSpPr>
          <p:spPr>
            <a:xfrm rot="0">
              <a:off x="287875" y="558674"/>
              <a:ext cx="10063410" cy="1478372"/>
            </a:xfrm>
            <a:prstGeom prst="rect">
              <a:avLst/>
            </a:prstGeom>
          </p:spPr>
          <p:txBody>
            <a:bodyPr anchor="t" rtlCol="false" tIns="0" lIns="0" bIns="0" rIns="0">
              <a:spAutoFit/>
            </a:bodyPr>
            <a:lstStyle/>
            <a:p>
              <a:pPr algn="l">
                <a:lnSpc>
                  <a:spcPts val="2192"/>
                </a:lnSpc>
                <a:spcBef>
                  <a:spcPct val="0"/>
                </a:spcBef>
              </a:pPr>
              <a:r>
                <a:rPr lang="en-US" sz="1992" spc="-99">
                  <a:solidFill>
                    <a:srgbClr val="FFFFFF"/>
                  </a:solidFill>
                  <a:latin typeface="Space Mono"/>
                  <a:ea typeface="Space Mono"/>
                  <a:cs typeface="Space Mono"/>
                  <a:sym typeface="Space Mono"/>
                </a:rPr>
                <a:t>LLM API (Gemini): Suggests a frontend/backend/database</a:t>
              </a:r>
              <a:r>
                <a:rPr lang="en-US" sz="1992" spc="-99">
                  <a:solidFill>
                    <a:srgbClr val="FFFFFF"/>
                  </a:solidFill>
                  <a:latin typeface="Space Mono"/>
                  <a:ea typeface="Space Mono"/>
                  <a:cs typeface="Space Mono"/>
                  <a:sym typeface="Space Mono"/>
                </a:rPr>
                <a:t> stack when the user opts in, and answers technical questions directly in the terminal via ask advisory only, never executes commands on its own.</a:t>
              </a:r>
            </a:p>
          </p:txBody>
        </p:sp>
      </p:grpSp>
      <p:grpSp>
        <p:nvGrpSpPr>
          <p:cNvPr name="Group 36" id="36"/>
          <p:cNvGrpSpPr/>
          <p:nvPr/>
        </p:nvGrpSpPr>
        <p:grpSpPr>
          <a:xfrm rot="0">
            <a:off x="10979280" y="1936770"/>
            <a:ext cx="7612755" cy="775026"/>
            <a:chOff x="0" y="0"/>
            <a:chExt cx="4819357" cy="490640"/>
          </a:xfrm>
        </p:grpSpPr>
        <p:sp>
          <p:nvSpPr>
            <p:cNvPr name="Freeform 37" id="37"/>
            <p:cNvSpPr/>
            <p:nvPr/>
          </p:nvSpPr>
          <p:spPr>
            <a:xfrm flipH="false" flipV="false" rot="0">
              <a:off x="0" y="0"/>
              <a:ext cx="4819357" cy="490640"/>
            </a:xfrm>
            <a:custGeom>
              <a:avLst/>
              <a:gdLst/>
              <a:ahLst/>
              <a:cxnLst/>
              <a:rect r="r" b="b" t="t" l="l"/>
              <a:pathLst>
                <a:path h="490640" w="4819357">
                  <a:moveTo>
                    <a:pt x="4819357" y="245320"/>
                  </a:moveTo>
                  <a:lnTo>
                    <a:pt x="4616157" y="490640"/>
                  </a:lnTo>
                  <a:lnTo>
                    <a:pt x="203200" y="490640"/>
                  </a:lnTo>
                  <a:lnTo>
                    <a:pt x="0" y="245320"/>
                  </a:lnTo>
                  <a:lnTo>
                    <a:pt x="203200" y="0"/>
                  </a:lnTo>
                  <a:lnTo>
                    <a:pt x="4616157" y="0"/>
                  </a:lnTo>
                  <a:lnTo>
                    <a:pt x="4819357" y="245320"/>
                  </a:lnTo>
                  <a:close/>
                </a:path>
              </a:pathLst>
            </a:custGeom>
            <a:ln w="9525" cap="sq">
              <a:solidFill>
                <a:srgbClr val="FFFFFF"/>
              </a:solidFill>
              <a:prstDash val="solid"/>
              <a:miter/>
            </a:ln>
          </p:spPr>
        </p:sp>
        <p:sp>
          <p:nvSpPr>
            <p:cNvPr name="TextBox 38" id="38"/>
            <p:cNvSpPr txBox="true"/>
            <p:nvPr/>
          </p:nvSpPr>
          <p:spPr>
            <a:xfrm>
              <a:off x="114300" y="9525"/>
              <a:ext cx="4590757" cy="481115"/>
            </a:xfrm>
            <a:prstGeom prst="rect">
              <a:avLst/>
            </a:prstGeom>
          </p:spPr>
          <p:txBody>
            <a:bodyPr anchor="ctr" rtlCol="false" tIns="50800" lIns="50800" bIns="50800" rIns="50800"/>
            <a:lstStyle/>
            <a:p>
              <a:pPr algn="ctr">
                <a:lnSpc>
                  <a:spcPts val="1760"/>
                </a:lnSpc>
              </a:pPr>
            </a:p>
          </p:txBody>
        </p:sp>
      </p:grpSp>
    </p:spTree>
  </p:cSld>
  <p:clrMapOvr>
    <a:masterClrMapping/>
  </p:clrMapOvr>
  <p:transition spd="slow">
    <p:push dir="u"/>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028700" y="720132"/>
            <a:ext cx="248998" cy="241301"/>
          </a:xfrm>
          <a:custGeom>
            <a:avLst/>
            <a:gdLst/>
            <a:ahLst/>
            <a:cxnLst/>
            <a:rect r="r" b="b" t="t" l="l"/>
            <a:pathLst>
              <a:path h="241301" w="248998">
                <a:moveTo>
                  <a:pt x="0" y="0"/>
                </a:moveTo>
                <a:lnTo>
                  <a:pt x="248998" y="0"/>
                </a:lnTo>
                <a:lnTo>
                  <a:pt x="248998" y="241302"/>
                </a:lnTo>
                <a:lnTo>
                  <a:pt x="0" y="241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7603216" y="9618883"/>
            <a:ext cx="579958" cy="579958"/>
          </a:xfrm>
          <a:custGeom>
            <a:avLst/>
            <a:gdLst/>
            <a:ahLst/>
            <a:cxnLst/>
            <a:rect r="r" b="b" t="t" l="l"/>
            <a:pathLst>
              <a:path h="579958" w="579958">
                <a:moveTo>
                  <a:pt x="0" y="0"/>
                </a:moveTo>
                <a:lnTo>
                  <a:pt x="579957" y="0"/>
                </a:lnTo>
                <a:lnTo>
                  <a:pt x="579957" y="579958"/>
                </a:lnTo>
                <a:lnTo>
                  <a:pt x="0" y="5799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24240" y="221584"/>
            <a:ext cx="937440" cy="937440"/>
          </a:xfrm>
          <a:custGeom>
            <a:avLst/>
            <a:gdLst/>
            <a:ahLst/>
            <a:cxnLst/>
            <a:rect r="r" b="b" t="t" l="l"/>
            <a:pathLst>
              <a:path h="937440" w="937440">
                <a:moveTo>
                  <a:pt x="0" y="0"/>
                </a:moveTo>
                <a:lnTo>
                  <a:pt x="937440" y="0"/>
                </a:lnTo>
                <a:lnTo>
                  <a:pt x="937440" y="937440"/>
                </a:lnTo>
                <a:lnTo>
                  <a:pt x="0" y="937440"/>
                </a:lnTo>
                <a:lnTo>
                  <a:pt x="0" y="0"/>
                </a:lnTo>
                <a:close/>
              </a:path>
            </a:pathLst>
          </a:custGeom>
          <a:blipFill>
            <a:blip r:embed="rId7"/>
            <a:stretch>
              <a:fillRect l="0" t="0" r="0" b="0"/>
            </a:stretch>
          </a:blipFill>
        </p:spPr>
      </p:sp>
      <p:sp>
        <p:nvSpPr>
          <p:cNvPr name="TextBox 6" id="6"/>
          <p:cNvSpPr txBox="true"/>
          <p:nvPr/>
        </p:nvSpPr>
        <p:spPr>
          <a:xfrm rot="0">
            <a:off x="95440" y="8171743"/>
            <a:ext cx="3085134" cy="652786"/>
          </a:xfrm>
          <a:prstGeom prst="rect">
            <a:avLst/>
          </a:prstGeom>
        </p:spPr>
        <p:txBody>
          <a:bodyPr anchor="t" rtlCol="false" tIns="0" lIns="0" bIns="0" rIns="0">
            <a:spAutoFit/>
          </a:bodyPr>
          <a:lstStyle/>
          <a:p>
            <a:pPr algn="l">
              <a:lnSpc>
                <a:spcPts val="4946"/>
              </a:lnSpc>
            </a:pPr>
            <a:r>
              <a:rPr lang="en-US" sz="4755">
                <a:solidFill>
                  <a:srgbClr val="FFFFFF"/>
                </a:solidFill>
                <a:latin typeface="Bicubik"/>
                <a:ea typeface="Bicubik"/>
                <a:cs typeface="Bicubik"/>
                <a:sym typeface="Bicubik"/>
              </a:rPr>
              <a:t>SYSTEM </a:t>
            </a:r>
          </a:p>
        </p:txBody>
      </p:sp>
      <p:sp>
        <p:nvSpPr>
          <p:cNvPr name="TextBox 7" id="7"/>
          <p:cNvSpPr txBox="true"/>
          <p:nvPr/>
        </p:nvSpPr>
        <p:spPr>
          <a:xfrm rot="0">
            <a:off x="1638007" y="8699281"/>
            <a:ext cx="4132453" cy="652786"/>
          </a:xfrm>
          <a:prstGeom prst="rect">
            <a:avLst/>
          </a:prstGeom>
        </p:spPr>
        <p:txBody>
          <a:bodyPr anchor="t" rtlCol="false" tIns="0" lIns="0" bIns="0" rIns="0">
            <a:spAutoFit/>
          </a:bodyPr>
          <a:lstStyle/>
          <a:p>
            <a:pPr algn="l">
              <a:lnSpc>
                <a:spcPts val="4946"/>
              </a:lnSpc>
            </a:pPr>
            <a:r>
              <a:rPr lang="en-US" sz="4755">
                <a:solidFill>
                  <a:srgbClr val="FFFFFF"/>
                </a:solidFill>
                <a:latin typeface="Bicubik"/>
                <a:ea typeface="Bicubik"/>
                <a:cs typeface="Bicubik"/>
                <a:sym typeface="Bicubik"/>
              </a:rPr>
              <a:t>WORKFLOW</a:t>
            </a:r>
          </a:p>
        </p:txBody>
      </p:sp>
      <p:sp>
        <p:nvSpPr>
          <p:cNvPr name="Freeform 8" id="8"/>
          <p:cNvSpPr/>
          <p:nvPr/>
        </p:nvSpPr>
        <p:spPr>
          <a:xfrm flipH="false" flipV="false" rot="0">
            <a:off x="1258977" y="7525849"/>
            <a:ext cx="2445256" cy="2383013"/>
          </a:xfrm>
          <a:custGeom>
            <a:avLst/>
            <a:gdLst/>
            <a:ahLst/>
            <a:cxnLst/>
            <a:rect r="r" b="b" t="t" l="l"/>
            <a:pathLst>
              <a:path h="2383013" w="2445256">
                <a:moveTo>
                  <a:pt x="0" y="0"/>
                </a:moveTo>
                <a:lnTo>
                  <a:pt x="2445256" y="0"/>
                </a:lnTo>
                <a:lnTo>
                  <a:pt x="2445256" y="2383013"/>
                </a:lnTo>
                <a:lnTo>
                  <a:pt x="0" y="23830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6180583" y="2723222"/>
            <a:ext cx="1950831" cy="467370"/>
            <a:chOff x="0" y="0"/>
            <a:chExt cx="1607439" cy="384951"/>
          </a:xfrm>
        </p:grpSpPr>
        <p:sp>
          <p:nvSpPr>
            <p:cNvPr name="Freeform 10" id="10"/>
            <p:cNvSpPr/>
            <p:nvPr/>
          </p:nvSpPr>
          <p:spPr>
            <a:xfrm flipH="false" flipV="false" rot="0">
              <a:off x="13116" y="0"/>
              <a:ext cx="1581207" cy="384340"/>
            </a:xfrm>
            <a:custGeom>
              <a:avLst/>
              <a:gdLst/>
              <a:ahLst/>
              <a:cxnLst/>
              <a:rect r="r" b="b" t="t" l="l"/>
              <a:pathLst>
                <a:path h="384340" w="1581207">
                  <a:moveTo>
                    <a:pt x="1061859" y="11591"/>
                  </a:moveTo>
                  <a:lnTo>
                    <a:pt x="1083971" y="13554"/>
                  </a:lnTo>
                  <a:cubicBezTo>
                    <a:pt x="1156243" y="19968"/>
                    <a:pt x="1228100" y="30413"/>
                    <a:pt x="1299207" y="44840"/>
                  </a:cubicBezTo>
                  <a:lnTo>
                    <a:pt x="1331178" y="51326"/>
                  </a:lnTo>
                  <a:cubicBezTo>
                    <a:pt x="1380905" y="61415"/>
                    <a:pt x="1429508" y="76408"/>
                    <a:pt x="1476277" y="96085"/>
                  </a:cubicBezTo>
                  <a:lnTo>
                    <a:pt x="1508881" y="109803"/>
                  </a:lnTo>
                  <a:cubicBezTo>
                    <a:pt x="1533547" y="120180"/>
                    <a:pt x="1554860" y="137181"/>
                    <a:pt x="1570463" y="158922"/>
                  </a:cubicBezTo>
                  <a:lnTo>
                    <a:pt x="1570463" y="158922"/>
                  </a:lnTo>
                  <a:cubicBezTo>
                    <a:pt x="1584736" y="178811"/>
                    <a:pt x="1584793" y="205571"/>
                    <a:pt x="1570606" y="225521"/>
                  </a:cubicBezTo>
                  <a:lnTo>
                    <a:pt x="1570463" y="225724"/>
                  </a:lnTo>
                  <a:cubicBezTo>
                    <a:pt x="1554869" y="247652"/>
                    <a:pt x="1533433" y="264761"/>
                    <a:pt x="1508593" y="275104"/>
                  </a:cubicBezTo>
                  <a:lnTo>
                    <a:pt x="1476277" y="288560"/>
                  </a:lnTo>
                  <a:cubicBezTo>
                    <a:pt x="1429504" y="308036"/>
                    <a:pt x="1380948" y="322916"/>
                    <a:pt x="1331294" y="332991"/>
                  </a:cubicBezTo>
                  <a:lnTo>
                    <a:pt x="1299207" y="339501"/>
                  </a:lnTo>
                  <a:cubicBezTo>
                    <a:pt x="1228100" y="353928"/>
                    <a:pt x="1156243" y="364373"/>
                    <a:pt x="1083971" y="370787"/>
                  </a:cubicBezTo>
                  <a:lnTo>
                    <a:pt x="1061859" y="372749"/>
                  </a:lnTo>
                  <a:cubicBezTo>
                    <a:pt x="974832" y="380473"/>
                    <a:pt x="887506" y="384340"/>
                    <a:pt x="800137" y="384340"/>
                  </a:cubicBezTo>
                  <a:lnTo>
                    <a:pt x="781070" y="384340"/>
                  </a:lnTo>
                  <a:cubicBezTo>
                    <a:pt x="693701" y="384340"/>
                    <a:pt x="606375" y="380473"/>
                    <a:pt x="519348" y="372749"/>
                  </a:cubicBezTo>
                  <a:lnTo>
                    <a:pt x="497236" y="370787"/>
                  </a:lnTo>
                  <a:cubicBezTo>
                    <a:pt x="424964" y="364373"/>
                    <a:pt x="353107" y="353928"/>
                    <a:pt x="282000" y="339501"/>
                  </a:cubicBezTo>
                  <a:lnTo>
                    <a:pt x="249913" y="332991"/>
                  </a:lnTo>
                  <a:cubicBezTo>
                    <a:pt x="200259" y="322916"/>
                    <a:pt x="151703" y="308036"/>
                    <a:pt x="104930" y="288560"/>
                  </a:cubicBezTo>
                  <a:lnTo>
                    <a:pt x="72614" y="275104"/>
                  </a:lnTo>
                  <a:cubicBezTo>
                    <a:pt x="47774" y="264761"/>
                    <a:pt x="26338" y="247652"/>
                    <a:pt x="10744" y="225724"/>
                  </a:cubicBezTo>
                  <a:lnTo>
                    <a:pt x="10601" y="225521"/>
                  </a:lnTo>
                  <a:cubicBezTo>
                    <a:pt x="-3586" y="205571"/>
                    <a:pt x="-3529" y="178811"/>
                    <a:pt x="10744" y="158922"/>
                  </a:cubicBezTo>
                  <a:lnTo>
                    <a:pt x="10744" y="158922"/>
                  </a:lnTo>
                  <a:cubicBezTo>
                    <a:pt x="26347" y="137181"/>
                    <a:pt x="47660" y="120180"/>
                    <a:pt x="72326" y="109803"/>
                  </a:cubicBezTo>
                  <a:lnTo>
                    <a:pt x="104930" y="96085"/>
                  </a:lnTo>
                  <a:cubicBezTo>
                    <a:pt x="151699" y="76408"/>
                    <a:pt x="200302" y="61415"/>
                    <a:pt x="250029" y="51326"/>
                  </a:cubicBezTo>
                  <a:lnTo>
                    <a:pt x="282000" y="44840"/>
                  </a:lnTo>
                  <a:cubicBezTo>
                    <a:pt x="353107" y="30413"/>
                    <a:pt x="424964" y="19968"/>
                    <a:pt x="497236" y="13554"/>
                  </a:cubicBezTo>
                  <a:lnTo>
                    <a:pt x="519348" y="11591"/>
                  </a:lnTo>
                  <a:cubicBezTo>
                    <a:pt x="606375" y="3868"/>
                    <a:pt x="693701" y="0"/>
                    <a:pt x="781070" y="0"/>
                  </a:cubicBezTo>
                  <a:lnTo>
                    <a:pt x="800137" y="0"/>
                  </a:lnTo>
                  <a:cubicBezTo>
                    <a:pt x="887506" y="0"/>
                    <a:pt x="974832" y="3868"/>
                    <a:pt x="1061859" y="11591"/>
                  </a:cubicBezTo>
                  <a:close/>
                </a:path>
              </a:pathLst>
            </a:custGeom>
            <a:solidFill>
              <a:srgbClr val="F7C215"/>
            </a:solidFill>
          </p:spPr>
        </p:sp>
        <p:sp>
          <p:nvSpPr>
            <p:cNvPr name="TextBox 11" id="11"/>
            <p:cNvSpPr txBox="true"/>
            <p:nvPr/>
          </p:nvSpPr>
          <p:spPr>
            <a:xfrm>
              <a:off x="241554" y="65232"/>
              <a:ext cx="1124331" cy="263479"/>
            </a:xfrm>
            <a:prstGeom prst="rect">
              <a:avLst/>
            </a:prstGeom>
          </p:spPr>
          <p:txBody>
            <a:bodyPr anchor="ctr" rtlCol="false" tIns="50800" lIns="50800" bIns="50800" rIns="50800"/>
            <a:lstStyle/>
            <a:p>
              <a:pPr algn="ctr">
                <a:lnSpc>
                  <a:spcPts val="1760"/>
                </a:lnSpc>
              </a:pPr>
            </a:p>
          </p:txBody>
        </p:sp>
      </p:grpSp>
      <p:grpSp>
        <p:nvGrpSpPr>
          <p:cNvPr name="Group 12" id="12"/>
          <p:cNvGrpSpPr/>
          <p:nvPr/>
        </p:nvGrpSpPr>
        <p:grpSpPr>
          <a:xfrm rot="0">
            <a:off x="11133857" y="920847"/>
            <a:ext cx="2114541" cy="838048"/>
            <a:chOff x="0" y="0"/>
            <a:chExt cx="1050731" cy="416432"/>
          </a:xfrm>
        </p:grpSpPr>
        <p:sp>
          <p:nvSpPr>
            <p:cNvPr name="Freeform 13" id="13"/>
            <p:cNvSpPr/>
            <p:nvPr/>
          </p:nvSpPr>
          <p:spPr>
            <a:xfrm flipH="false" flipV="false" rot="0">
              <a:off x="39641" y="11142"/>
              <a:ext cx="971449" cy="394149"/>
            </a:xfrm>
            <a:custGeom>
              <a:avLst/>
              <a:gdLst/>
              <a:ahLst/>
              <a:cxnLst/>
              <a:rect r="r" b="b" t="t" l="l"/>
              <a:pathLst>
                <a:path h="394149" w="971449">
                  <a:moveTo>
                    <a:pt x="539971" y="10357"/>
                  </a:moveTo>
                  <a:lnTo>
                    <a:pt x="956843" y="175575"/>
                  </a:lnTo>
                  <a:cubicBezTo>
                    <a:pt x="965659" y="179069"/>
                    <a:pt x="971449" y="187591"/>
                    <a:pt x="971449" y="197074"/>
                  </a:cubicBezTo>
                  <a:cubicBezTo>
                    <a:pt x="971449" y="206557"/>
                    <a:pt x="965659" y="215079"/>
                    <a:pt x="956843" y="218573"/>
                  </a:cubicBezTo>
                  <a:lnTo>
                    <a:pt x="539971" y="383791"/>
                  </a:lnTo>
                  <a:cubicBezTo>
                    <a:pt x="505125" y="397601"/>
                    <a:pt x="466324" y="397601"/>
                    <a:pt x="431478" y="383791"/>
                  </a:cubicBezTo>
                  <a:lnTo>
                    <a:pt x="14606" y="218573"/>
                  </a:lnTo>
                  <a:cubicBezTo>
                    <a:pt x="5790" y="215079"/>
                    <a:pt x="0" y="206557"/>
                    <a:pt x="0" y="197074"/>
                  </a:cubicBezTo>
                  <a:cubicBezTo>
                    <a:pt x="0" y="187591"/>
                    <a:pt x="5790" y="179069"/>
                    <a:pt x="14606" y="175575"/>
                  </a:cubicBezTo>
                  <a:lnTo>
                    <a:pt x="431478" y="10357"/>
                  </a:lnTo>
                  <a:cubicBezTo>
                    <a:pt x="466324" y="-3453"/>
                    <a:pt x="505125" y="-3453"/>
                    <a:pt x="539971" y="10357"/>
                  </a:cubicBezTo>
                  <a:close/>
                </a:path>
              </a:pathLst>
            </a:custGeom>
            <a:solidFill>
              <a:srgbClr val="F7C215"/>
            </a:solidFill>
          </p:spPr>
        </p:sp>
        <p:sp>
          <p:nvSpPr>
            <p:cNvPr name="TextBox 14" id="14"/>
            <p:cNvSpPr txBox="true"/>
            <p:nvPr/>
          </p:nvSpPr>
          <p:spPr>
            <a:xfrm>
              <a:off x="247231" y="100937"/>
              <a:ext cx="556269" cy="224083"/>
            </a:xfrm>
            <a:prstGeom prst="rect">
              <a:avLst/>
            </a:prstGeom>
          </p:spPr>
          <p:txBody>
            <a:bodyPr anchor="ctr" rtlCol="false" tIns="50800" lIns="50800" bIns="50800" rIns="50800"/>
            <a:lstStyle/>
            <a:p>
              <a:pPr algn="ctr">
                <a:lnSpc>
                  <a:spcPts val="1760"/>
                </a:lnSpc>
              </a:pPr>
            </a:p>
          </p:txBody>
        </p:sp>
      </p:grpSp>
      <p:grpSp>
        <p:nvGrpSpPr>
          <p:cNvPr name="Group 15" id="15"/>
          <p:cNvGrpSpPr/>
          <p:nvPr/>
        </p:nvGrpSpPr>
        <p:grpSpPr>
          <a:xfrm rot="0">
            <a:off x="9996492" y="2067065"/>
            <a:ext cx="2230113" cy="663228"/>
            <a:chOff x="0" y="0"/>
            <a:chExt cx="855559" cy="254440"/>
          </a:xfrm>
        </p:grpSpPr>
        <p:sp>
          <p:nvSpPr>
            <p:cNvPr name="Freeform 16" id="16"/>
            <p:cNvSpPr/>
            <p:nvPr/>
          </p:nvSpPr>
          <p:spPr>
            <a:xfrm flipH="false" flipV="false" rot="0">
              <a:off x="0" y="0"/>
              <a:ext cx="855559" cy="254440"/>
            </a:xfrm>
            <a:custGeom>
              <a:avLst/>
              <a:gdLst/>
              <a:ahLst/>
              <a:cxnLst/>
              <a:rect r="r" b="b" t="t" l="l"/>
              <a:pathLst>
                <a:path h="254440" w="855559">
                  <a:moveTo>
                    <a:pt x="67803" y="0"/>
                  </a:moveTo>
                  <a:lnTo>
                    <a:pt x="787755" y="0"/>
                  </a:lnTo>
                  <a:cubicBezTo>
                    <a:pt x="805738" y="0"/>
                    <a:pt x="822984" y="7144"/>
                    <a:pt x="835699" y="19859"/>
                  </a:cubicBezTo>
                  <a:cubicBezTo>
                    <a:pt x="848415" y="32575"/>
                    <a:pt x="855559" y="49821"/>
                    <a:pt x="855559" y="67803"/>
                  </a:cubicBezTo>
                  <a:lnTo>
                    <a:pt x="855559" y="186637"/>
                  </a:lnTo>
                  <a:cubicBezTo>
                    <a:pt x="855559" y="204619"/>
                    <a:pt x="848415" y="221866"/>
                    <a:pt x="835699" y="234581"/>
                  </a:cubicBezTo>
                  <a:cubicBezTo>
                    <a:pt x="822984" y="247297"/>
                    <a:pt x="805738" y="254440"/>
                    <a:pt x="787755" y="254440"/>
                  </a:cubicBezTo>
                  <a:lnTo>
                    <a:pt x="67803" y="254440"/>
                  </a:lnTo>
                  <a:cubicBezTo>
                    <a:pt x="49821" y="254440"/>
                    <a:pt x="32575" y="247297"/>
                    <a:pt x="19859" y="234581"/>
                  </a:cubicBezTo>
                  <a:cubicBezTo>
                    <a:pt x="7144" y="221866"/>
                    <a:pt x="0" y="204619"/>
                    <a:pt x="0" y="186637"/>
                  </a:cubicBezTo>
                  <a:lnTo>
                    <a:pt x="0" y="67803"/>
                  </a:lnTo>
                  <a:cubicBezTo>
                    <a:pt x="0" y="49821"/>
                    <a:pt x="7144" y="32575"/>
                    <a:pt x="19859" y="19859"/>
                  </a:cubicBezTo>
                  <a:cubicBezTo>
                    <a:pt x="32575" y="7144"/>
                    <a:pt x="49821" y="0"/>
                    <a:pt x="67803" y="0"/>
                  </a:cubicBezTo>
                  <a:close/>
                </a:path>
              </a:pathLst>
            </a:custGeom>
            <a:solidFill>
              <a:srgbClr val="F7C215"/>
            </a:solidFill>
          </p:spPr>
        </p:sp>
        <p:sp>
          <p:nvSpPr>
            <p:cNvPr name="TextBox 17" id="17"/>
            <p:cNvSpPr txBox="true"/>
            <p:nvPr/>
          </p:nvSpPr>
          <p:spPr>
            <a:xfrm>
              <a:off x="0" y="9525"/>
              <a:ext cx="855559" cy="244915"/>
            </a:xfrm>
            <a:prstGeom prst="rect">
              <a:avLst/>
            </a:prstGeom>
          </p:spPr>
          <p:txBody>
            <a:bodyPr anchor="ctr" rtlCol="false" tIns="50800" lIns="50800" bIns="50800" rIns="50800"/>
            <a:lstStyle/>
            <a:p>
              <a:pPr algn="ctr">
                <a:lnSpc>
                  <a:spcPts val="1760"/>
                </a:lnSpc>
              </a:pPr>
            </a:p>
          </p:txBody>
        </p:sp>
      </p:grpSp>
      <p:sp>
        <p:nvSpPr>
          <p:cNvPr name="Freeform 18" id="18"/>
          <p:cNvSpPr/>
          <p:nvPr/>
        </p:nvSpPr>
        <p:spPr>
          <a:xfrm>
            <a:off x="10930851" y="1339872"/>
            <a:ext cx="312176" cy="727193"/>
          </a:xfrm>
          <a:custGeom>
            <a:avLst/>
            <a:gdLst/>
            <a:ahLst/>
            <a:cxnLst/>
            <a:rect r="r" b="b" t="t" l="l"/>
            <a:pathLst>
              <a:path h="727193" w="312176">
                <a:moveTo>
                  <a:pt x="312177" y="0"/>
                </a:moveTo>
                <a:lnTo>
                  <a:pt x="176511" y="0"/>
                </a:lnTo>
                <a:cubicBezTo>
                  <a:pt x="140531" y="0"/>
                  <a:pt x="106023" y="14293"/>
                  <a:pt x="80582" y="39735"/>
                </a:cubicBezTo>
                <a:cubicBezTo>
                  <a:pt x="55139" y="65177"/>
                  <a:pt x="40846" y="99684"/>
                  <a:pt x="40846" y="135665"/>
                </a:cubicBezTo>
                <a:lnTo>
                  <a:pt x="40846" y="706770"/>
                </a:lnTo>
                <a:cubicBezTo>
                  <a:pt x="40846" y="712186"/>
                  <a:pt x="38694" y="717381"/>
                  <a:pt x="34864" y="721211"/>
                </a:cubicBezTo>
                <a:cubicBezTo>
                  <a:pt x="31034" y="725041"/>
                  <a:pt x="25840" y="727193"/>
                  <a:pt x="20423" y="727193"/>
                </a:cubicBezTo>
                <a:lnTo>
                  <a:pt x="0" y="727193"/>
                </a:lnTo>
              </a:path>
            </a:pathLst>
          </a:custGeom>
          <a:ln cap="rnd" w="28575">
            <a:solidFill>
              <a:srgbClr val="ACB8C0"/>
            </a:solidFill>
            <a:prstDash val="solid"/>
            <a:headEnd type="none" len="sm" w="sm"/>
            <a:tailEnd type="arrow" len="sm" w="med"/>
          </a:ln>
        </p:spPr>
      </p:sp>
      <p:grpSp>
        <p:nvGrpSpPr>
          <p:cNvPr name="Group 19" id="19"/>
          <p:cNvGrpSpPr/>
          <p:nvPr/>
        </p:nvGrpSpPr>
        <p:grpSpPr>
          <a:xfrm rot="0">
            <a:off x="12690669" y="2009915"/>
            <a:ext cx="2159815" cy="663228"/>
            <a:chOff x="0" y="0"/>
            <a:chExt cx="828589" cy="254440"/>
          </a:xfrm>
        </p:grpSpPr>
        <p:sp>
          <p:nvSpPr>
            <p:cNvPr name="Freeform 20" id="20"/>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21" id="21"/>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sp>
        <p:nvSpPr>
          <p:cNvPr name="Freeform 22" id="22"/>
          <p:cNvSpPr/>
          <p:nvPr/>
        </p:nvSpPr>
        <p:spPr>
          <a:xfrm>
            <a:off x="13139227" y="1339872"/>
            <a:ext cx="569606" cy="594042"/>
          </a:xfrm>
          <a:custGeom>
            <a:avLst/>
            <a:gdLst/>
            <a:ahLst/>
            <a:cxnLst/>
            <a:rect r="r" b="b" t="t" l="l"/>
            <a:pathLst>
              <a:path h="594042" w="569606">
                <a:moveTo>
                  <a:pt x="0" y="0"/>
                </a:moveTo>
                <a:lnTo>
                  <a:pt x="128045" y="0"/>
                </a:lnTo>
                <a:cubicBezTo>
                  <a:pt x="198762" y="0"/>
                  <a:pt x="256089" y="57327"/>
                  <a:pt x="256089" y="128044"/>
                </a:cubicBezTo>
                <a:lnTo>
                  <a:pt x="256089" y="154833"/>
                </a:lnTo>
                <a:cubicBezTo>
                  <a:pt x="256089" y="195898"/>
                  <a:pt x="272401" y="235280"/>
                  <a:pt x="301438" y="264317"/>
                </a:cubicBezTo>
                <a:cubicBezTo>
                  <a:pt x="330475" y="293354"/>
                  <a:pt x="369858" y="309667"/>
                  <a:pt x="410923" y="309667"/>
                </a:cubicBezTo>
                <a:lnTo>
                  <a:pt x="427419" y="309667"/>
                </a:lnTo>
                <a:cubicBezTo>
                  <a:pt x="465130" y="309667"/>
                  <a:pt x="501295" y="324648"/>
                  <a:pt x="527960" y="351313"/>
                </a:cubicBezTo>
                <a:cubicBezTo>
                  <a:pt x="554626" y="377978"/>
                  <a:pt x="569606" y="414144"/>
                  <a:pt x="569606" y="451854"/>
                </a:cubicBezTo>
                <a:lnTo>
                  <a:pt x="569606" y="594041"/>
                </a:lnTo>
              </a:path>
            </a:pathLst>
          </a:custGeom>
          <a:ln cap="rnd" w="38100">
            <a:solidFill>
              <a:srgbClr val="ACB8C0"/>
            </a:solidFill>
            <a:prstDash val="solid"/>
            <a:headEnd type="none" len="sm" w="sm"/>
            <a:tailEnd type="arrow" len="sm" w="med"/>
          </a:ln>
        </p:spPr>
      </p:sp>
      <p:sp>
        <p:nvSpPr>
          <p:cNvPr name="Freeform 23" id="23"/>
          <p:cNvSpPr/>
          <p:nvPr/>
        </p:nvSpPr>
        <p:spPr>
          <a:xfrm>
            <a:off x="13417953" y="2890694"/>
            <a:ext cx="0" cy="268259"/>
          </a:xfrm>
          <a:custGeom>
            <a:avLst/>
            <a:gdLst/>
            <a:ahLst/>
            <a:cxnLst/>
            <a:rect r="r" b="b" t="t" l="l"/>
            <a:pathLst>
              <a:path h="268259" w="0">
                <a:moveTo>
                  <a:pt x="0" y="0"/>
                </a:moveTo>
                <a:lnTo>
                  <a:pt x="0" y="268259"/>
                </a:lnTo>
              </a:path>
            </a:pathLst>
          </a:custGeom>
          <a:ln cap="rnd" w="38100">
            <a:solidFill>
              <a:srgbClr val="ACB8C0"/>
            </a:solidFill>
            <a:prstDash val="solid"/>
            <a:headEnd type="none" len="sm" w="sm"/>
            <a:tailEnd type="arrow" len="sm" w="med"/>
          </a:ln>
        </p:spPr>
      </p:sp>
      <p:sp>
        <p:nvSpPr>
          <p:cNvPr name="Freeform 24" id="24"/>
          <p:cNvSpPr/>
          <p:nvPr/>
        </p:nvSpPr>
        <p:spPr>
          <a:xfrm>
            <a:off x="11111548" y="2730293"/>
            <a:ext cx="1115057" cy="1584868"/>
          </a:xfrm>
          <a:custGeom>
            <a:avLst/>
            <a:gdLst/>
            <a:ahLst/>
            <a:cxnLst/>
            <a:rect r="r" b="b" t="t" l="l"/>
            <a:pathLst>
              <a:path h="1584868" w="1115057">
                <a:moveTo>
                  <a:pt x="0" y="0"/>
                </a:moveTo>
                <a:lnTo>
                  <a:pt x="0" y="1133694"/>
                </a:lnTo>
                <a:cubicBezTo>
                  <a:pt x="0" y="1217862"/>
                  <a:pt x="68232" y="1286094"/>
                  <a:pt x="152400" y="1286094"/>
                </a:cubicBezTo>
                <a:lnTo>
                  <a:pt x="965670" y="1286094"/>
                </a:lnTo>
                <a:cubicBezTo>
                  <a:pt x="1048174" y="1286094"/>
                  <a:pt x="1115057" y="1352977"/>
                  <a:pt x="1115057" y="1435481"/>
                </a:cubicBezTo>
                <a:lnTo>
                  <a:pt x="1115057" y="1584868"/>
                </a:lnTo>
              </a:path>
            </a:pathLst>
          </a:custGeom>
          <a:ln cap="rnd" w="28575">
            <a:solidFill>
              <a:srgbClr val="ACB8C0"/>
            </a:solidFill>
            <a:prstDash val="solid"/>
            <a:headEnd type="none" len="sm" w="sm"/>
            <a:tailEnd type="arrow" len="sm" w="med"/>
          </a:ln>
        </p:spPr>
      </p:sp>
      <p:grpSp>
        <p:nvGrpSpPr>
          <p:cNvPr name="Group 25" id="25"/>
          <p:cNvGrpSpPr/>
          <p:nvPr/>
        </p:nvGrpSpPr>
        <p:grpSpPr>
          <a:xfrm rot="0">
            <a:off x="11169334" y="4284477"/>
            <a:ext cx="2114541" cy="838048"/>
            <a:chOff x="0" y="0"/>
            <a:chExt cx="1050731" cy="416432"/>
          </a:xfrm>
        </p:grpSpPr>
        <p:sp>
          <p:nvSpPr>
            <p:cNvPr name="Freeform 26" id="26"/>
            <p:cNvSpPr/>
            <p:nvPr/>
          </p:nvSpPr>
          <p:spPr>
            <a:xfrm flipH="false" flipV="false" rot="0">
              <a:off x="39641" y="11142"/>
              <a:ext cx="971449" cy="394149"/>
            </a:xfrm>
            <a:custGeom>
              <a:avLst/>
              <a:gdLst/>
              <a:ahLst/>
              <a:cxnLst/>
              <a:rect r="r" b="b" t="t" l="l"/>
              <a:pathLst>
                <a:path h="394149" w="971449">
                  <a:moveTo>
                    <a:pt x="539971" y="10357"/>
                  </a:moveTo>
                  <a:lnTo>
                    <a:pt x="956843" y="175575"/>
                  </a:lnTo>
                  <a:cubicBezTo>
                    <a:pt x="965659" y="179069"/>
                    <a:pt x="971449" y="187591"/>
                    <a:pt x="971449" y="197074"/>
                  </a:cubicBezTo>
                  <a:cubicBezTo>
                    <a:pt x="971449" y="206557"/>
                    <a:pt x="965659" y="215079"/>
                    <a:pt x="956843" y="218573"/>
                  </a:cubicBezTo>
                  <a:lnTo>
                    <a:pt x="539971" y="383791"/>
                  </a:lnTo>
                  <a:cubicBezTo>
                    <a:pt x="505125" y="397601"/>
                    <a:pt x="466324" y="397601"/>
                    <a:pt x="431478" y="383791"/>
                  </a:cubicBezTo>
                  <a:lnTo>
                    <a:pt x="14606" y="218573"/>
                  </a:lnTo>
                  <a:cubicBezTo>
                    <a:pt x="5790" y="215079"/>
                    <a:pt x="0" y="206557"/>
                    <a:pt x="0" y="197074"/>
                  </a:cubicBezTo>
                  <a:cubicBezTo>
                    <a:pt x="0" y="187591"/>
                    <a:pt x="5790" y="179069"/>
                    <a:pt x="14606" y="175575"/>
                  </a:cubicBezTo>
                  <a:lnTo>
                    <a:pt x="431478" y="10357"/>
                  </a:lnTo>
                  <a:cubicBezTo>
                    <a:pt x="466324" y="-3453"/>
                    <a:pt x="505125" y="-3453"/>
                    <a:pt x="539971" y="10357"/>
                  </a:cubicBezTo>
                  <a:close/>
                </a:path>
              </a:pathLst>
            </a:custGeom>
            <a:solidFill>
              <a:srgbClr val="F7C215"/>
            </a:solidFill>
          </p:spPr>
        </p:sp>
        <p:sp>
          <p:nvSpPr>
            <p:cNvPr name="TextBox 27" id="27"/>
            <p:cNvSpPr txBox="true"/>
            <p:nvPr/>
          </p:nvSpPr>
          <p:spPr>
            <a:xfrm>
              <a:off x="247231" y="100937"/>
              <a:ext cx="556269" cy="224083"/>
            </a:xfrm>
            <a:prstGeom prst="rect">
              <a:avLst/>
            </a:prstGeom>
          </p:spPr>
          <p:txBody>
            <a:bodyPr anchor="ctr" rtlCol="false" tIns="50800" lIns="50800" bIns="50800" rIns="50800"/>
            <a:lstStyle/>
            <a:p>
              <a:pPr algn="ctr">
                <a:lnSpc>
                  <a:spcPts val="1760"/>
                </a:lnSpc>
              </a:pPr>
            </a:p>
          </p:txBody>
        </p:sp>
      </p:grpSp>
      <p:sp>
        <p:nvSpPr>
          <p:cNvPr name="Freeform 28" id="28"/>
          <p:cNvSpPr/>
          <p:nvPr/>
        </p:nvSpPr>
        <p:spPr>
          <a:xfrm>
            <a:off x="12226605" y="3848684"/>
            <a:ext cx="1168711" cy="466477"/>
          </a:xfrm>
          <a:custGeom>
            <a:avLst/>
            <a:gdLst/>
            <a:ahLst/>
            <a:cxnLst/>
            <a:rect r="r" b="b" t="t" l="l"/>
            <a:pathLst>
              <a:path h="466477" w="1168711">
                <a:moveTo>
                  <a:pt x="1168711" y="0"/>
                </a:moveTo>
                <a:lnTo>
                  <a:pt x="1168711" y="83852"/>
                </a:lnTo>
                <a:cubicBezTo>
                  <a:pt x="1168711" y="130162"/>
                  <a:pt x="1131169" y="167703"/>
                  <a:pt x="1084858" y="167703"/>
                </a:cubicBezTo>
                <a:lnTo>
                  <a:pt x="149387" y="167703"/>
                </a:lnTo>
                <a:cubicBezTo>
                  <a:pt x="66883" y="167703"/>
                  <a:pt x="0" y="234586"/>
                  <a:pt x="0" y="317090"/>
                </a:cubicBezTo>
                <a:lnTo>
                  <a:pt x="0" y="466477"/>
                </a:lnTo>
              </a:path>
            </a:pathLst>
          </a:custGeom>
          <a:ln cap="rnd" w="28575">
            <a:solidFill>
              <a:srgbClr val="ACB8C0"/>
            </a:solidFill>
            <a:prstDash val="solid"/>
            <a:headEnd type="none" len="sm" w="sm"/>
            <a:tailEnd type="arrow" len="sm" w="med"/>
          </a:ln>
        </p:spPr>
      </p:sp>
      <p:grpSp>
        <p:nvGrpSpPr>
          <p:cNvPr name="Group 29" id="29"/>
          <p:cNvGrpSpPr/>
          <p:nvPr/>
        </p:nvGrpSpPr>
        <p:grpSpPr>
          <a:xfrm rot="0">
            <a:off x="11169334" y="6514933"/>
            <a:ext cx="2114541" cy="838048"/>
            <a:chOff x="0" y="0"/>
            <a:chExt cx="1050731" cy="416432"/>
          </a:xfrm>
        </p:grpSpPr>
        <p:sp>
          <p:nvSpPr>
            <p:cNvPr name="Freeform 30" id="30"/>
            <p:cNvSpPr/>
            <p:nvPr/>
          </p:nvSpPr>
          <p:spPr>
            <a:xfrm flipH="false" flipV="false" rot="0">
              <a:off x="39641" y="11142"/>
              <a:ext cx="971449" cy="394149"/>
            </a:xfrm>
            <a:custGeom>
              <a:avLst/>
              <a:gdLst/>
              <a:ahLst/>
              <a:cxnLst/>
              <a:rect r="r" b="b" t="t" l="l"/>
              <a:pathLst>
                <a:path h="394149" w="971449">
                  <a:moveTo>
                    <a:pt x="539971" y="10357"/>
                  </a:moveTo>
                  <a:lnTo>
                    <a:pt x="956843" y="175575"/>
                  </a:lnTo>
                  <a:cubicBezTo>
                    <a:pt x="965659" y="179069"/>
                    <a:pt x="971449" y="187591"/>
                    <a:pt x="971449" y="197074"/>
                  </a:cubicBezTo>
                  <a:cubicBezTo>
                    <a:pt x="971449" y="206557"/>
                    <a:pt x="965659" y="215079"/>
                    <a:pt x="956843" y="218573"/>
                  </a:cubicBezTo>
                  <a:lnTo>
                    <a:pt x="539971" y="383791"/>
                  </a:lnTo>
                  <a:cubicBezTo>
                    <a:pt x="505125" y="397601"/>
                    <a:pt x="466324" y="397601"/>
                    <a:pt x="431478" y="383791"/>
                  </a:cubicBezTo>
                  <a:lnTo>
                    <a:pt x="14606" y="218573"/>
                  </a:lnTo>
                  <a:cubicBezTo>
                    <a:pt x="5790" y="215079"/>
                    <a:pt x="0" y="206557"/>
                    <a:pt x="0" y="197074"/>
                  </a:cubicBezTo>
                  <a:cubicBezTo>
                    <a:pt x="0" y="187591"/>
                    <a:pt x="5790" y="179069"/>
                    <a:pt x="14606" y="175575"/>
                  </a:cubicBezTo>
                  <a:lnTo>
                    <a:pt x="431478" y="10357"/>
                  </a:lnTo>
                  <a:cubicBezTo>
                    <a:pt x="466324" y="-3453"/>
                    <a:pt x="505125" y="-3453"/>
                    <a:pt x="539971" y="10357"/>
                  </a:cubicBezTo>
                  <a:close/>
                </a:path>
              </a:pathLst>
            </a:custGeom>
            <a:solidFill>
              <a:srgbClr val="F7C215"/>
            </a:solidFill>
          </p:spPr>
        </p:sp>
        <p:sp>
          <p:nvSpPr>
            <p:cNvPr name="TextBox 31" id="31"/>
            <p:cNvSpPr txBox="true"/>
            <p:nvPr/>
          </p:nvSpPr>
          <p:spPr>
            <a:xfrm>
              <a:off x="247231" y="100937"/>
              <a:ext cx="556269" cy="224083"/>
            </a:xfrm>
            <a:prstGeom prst="rect">
              <a:avLst/>
            </a:prstGeom>
          </p:spPr>
          <p:txBody>
            <a:bodyPr anchor="ctr" rtlCol="false" tIns="50800" lIns="50800" bIns="50800" rIns="50800"/>
            <a:lstStyle/>
            <a:p>
              <a:pPr algn="ctr">
                <a:lnSpc>
                  <a:spcPts val="1760"/>
                </a:lnSpc>
              </a:pPr>
            </a:p>
          </p:txBody>
        </p:sp>
      </p:grpSp>
      <p:sp>
        <p:nvSpPr>
          <p:cNvPr name="Freeform 32" id="32"/>
          <p:cNvSpPr/>
          <p:nvPr/>
        </p:nvSpPr>
        <p:spPr>
          <a:xfrm>
            <a:off x="12226605" y="5281273"/>
            <a:ext cx="0" cy="189431"/>
          </a:xfrm>
          <a:custGeom>
            <a:avLst/>
            <a:gdLst/>
            <a:ahLst/>
            <a:cxnLst/>
            <a:rect r="r" b="b" t="t" l="l"/>
            <a:pathLst>
              <a:path h="189431" w="0">
                <a:moveTo>
                  <a:pt x="0" y="0"/>
                </a:moveTo>
                <a:lnTo>
                  <a:pt x="0" y="189432"/>
                </a:lnTo>
              </a:path>
            </a:pathLst>
          </a:custGeom>
          <a:ln cap="rnd" w="28575">
            <a:solidFill>
              <a:srgbClr val="ACB8C0"/>
            </a:solidFill>
            <a:prstDash val="solid"/>
            <a:headEnd type="none" len="sm" w="sm"/>
            <a:tailEnd type="arrow" len="sm" w="med"/>
          </a:ln>
        </p:spPr>
      </p:sp>
      <p:sp>
        <p:nvSpPr>
          <p:cNvPr name="Freeform 33" id="33"/>
          <p:cNvSpPr/>
          <p:nvPr/>
        </p:nvSpPr>
        <p:spPr>
          <a:xfrm>
            <a:off x="13363849" y="6933957"/>
            <a:ext cx="189143" cy="0"/>
          </a:xfrm>
          <a:custGeom>
            <a:avLst/>
            <a:gdLst/>
            <a:ahLst/>
            <a:cxnLst/>
            <a:rect r="r" b="b" t="t" l="l"/>
            <a:pathLst>
              <a:path h="0" w="189143">
                <a:moveTo>
                  <a:pt x="0" y="0"/>
                </a:moveTo>
                <a:lnTo>
                  <a:pt x="189144" y="0"/>
                </a:lnTo>
              </a:path>
            </a:pathLst>
          </a:custGeom>
          <a:ln cap="rnd" w="38100">
            <a:solidFill>
              <a:srgbClr val="ACB8C0"/>
            </a:solidFill>
            <a:prstDash val="solid"/>
            <a:headEnd type="none" len="sm" w="sm"/>
            <a:tailEnd type="arrow" len="sm" w="med"/>
          </a:ln>
        </p:spPr>
      </p:sp>
      <p:grpSp>
        <p:nvGrpSpPr>
          <p:cNvPr name="Group 34" id="34"/>
          <p:cNvGrpSpPr/>
          <p:nvPr/>
        </p:nvGrpSpPr>
        <p:grpSpPr>
          <a:xfrm rot="0">
            <a:off x="13552993" y="6602343"/>
            <a:ext cx="2159815" cy="663228"/>
            <a:chOff x="0" y="0"/>
            <a:chExt cx="828589" cy="254440"/>
          </a:xfrm>
        </p:grpSpPr>
        <p:sp>
          <p:nvSpPr>
            <p:cNvPr name="Freeform 35" id="35"/>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36" id="36"/>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grpSp>
        <p:nvGrpSpPr>
          <p:cNvPr name="Group 37" id="37"/>
          <p:cNvGrpSpPr/>
          <p:nvPr/>
        </p:nvGrpSpPr>
        <p:grpSpPr>
          <a:xfrm rot="0">
            <a:off x="8552385" y="7005683"/>
            <a:ext cx="2114541" cy="838048"/>
            <a:chOff x="0" y="0"/>
            <a:chExt cx="1050731" cy="416432"/>
          </a:xfrm>
        </p:grpSpPr>
        <p:sp>
          <p:nvSpPr>
            <p:cNvPr name="Freeform 38" id="38"/>
            <p:cNvSpPr/>
            <p:nvPr/>
          </p:nvSpPr>
          <p:spPr>
            <a:xfrm flipH="false" flipV="false" rot="0">
              <a:off x="39641" y="11142"/>
              <a:ext cx="971449" cy="394149"/>
            </a:xfrm>
            <a:custGeom>
              <a:avLst/>
              <a:gdLst/>
              <a:ahLst/>
              <a:cxnLst/>
              <a:rect r="r" b="b" t="t" l="l"/>
              <a:pathLst>
                <a:path h="394149" w="971449">
                  <a:moveTo>
                    <a:pt x="539971" y="10357"/>
                  </a:moveTo>
                  <a:lnTo>
                    <a:pt x="956843" y="175575"/>
                  </a:lnTo>
                  <a:cubicBezTo>
                    <a:pt x="965659" y="179069"/>
                    <a:pt x="971449" y="187591"/>
                    <a:pt x="971449" y="197074"/>
                  </a:cubicBezTo>
                  <a:cubicBezTo>
                    <a:pt x="971449" y="206557"/>
                    <a:pt x="965659" y="215079"/>
                    <a:pt x="956843" y="218573"/>
                  </a:cubicBezTo>
                  <a:lnTo>
                    <a:pt x="539971" y="383791"/>
                  </a:lnTo>
                  <a:cubicBezTo>
                    <a:pt x="505125" y="397601"/>
                    <a:pt x="466324" y="397601"/>
                    <a:pt x="431478" y="383791"/>
                  </a:cubicBezTo>
                  <a:lnTo>
                    <a:pt x="14606" y="218573"/>
                  </a:lnTo>
                  <a:cubicBezTo>
                    <a:pt x="5790" y="215079"/>
                    <a:pt x="0" y="206557"/>
                    <a:pt x="0" y="197074"/>
                  </a:cubicBezTo>
                  <a:cubicBezTo>
                    <a:pt x="0" y="187591"/>
                    <a:pt x="5790" y="179069"/>
                    <a:pt x="14606" y="175575"/>
                  </a:cubicBezTo>
                  <a:lnTo>
                    <a:pt x="431478" y="10357"/>
                  </a:lnTo>
                  <a:cubicBezTo>
                    <a:pt x="466324" y="-3453"/>
                    <a:pt x="505125" y="-3453"/>
                    <a:pt x="539971" y="10357"/>
                  </a:cubicBezTo>
                  <a:close/>
                </a:path>
              </a:pathLst>
            </a:custGeom>
            <a:solidFill>
              <a:srgbClr val="F7C215"/>
            </a:solidFill>
          </p:spPr>
        </p:sp>
        <p:sp>
          <p:nvSpPr>
            <p:cNvPr name="TextBox 39" id="39"/>
            <p:cNvSpPr txBox="true"/>
            <p:nvPr/>
          </p:nvSpPr>
          <p:spPr>
            <a:xfrm>
              <a:off x="247231" y="100937"/>
              <a:ext cx="556269" cy="224083"/>
            </a:xfrm>
            <a:prstGeom prst="rect">
              <a:avLst/>
            </a:prstGeom>
          </p:spPr>
          <p:txBody>
            <a:bodyPr anchor="ctr" rtlCol="false" tIns="50800" lIns="50800" bIns="50800" rIns="50800"/>
            <a:lstStyle/>
            <a:p>
              <a:pPr algn="ctr">
                <a:lnSpc>
                  <a:spcPts val="1760"/>
                </a:lnSpc>
              </a:pPr>
            </a:p>
          </p:txBody>
        </p:sp>
      </p:grpSp>
      <p:grpSp>
        <p:nvGrpSpPr>
          <p:cNvPr name="Group 40" id="40"/>
          <p:cNvGrpSpPr/>
          <p:nvPr/>
        </p:nvGrpSpPr>
        <p:grpSpPr>
          <a:xfrm rot="0">
            <a:off x="5568485" y="7077397"/>
            <a:ext cx="2159815" cy="663228"/>
            <a:chOff x="0" y="0"/>
            <a:chExt cx="828589" cy="254440"/>
          </a:xfrm>
        </p:grpSpPr>
        <p:sp>
          <p:nvSpPr>
            <p:cNvPr name="Freeform 41" id="41"/>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42" id="42"/>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grpSp>
        <p:nvGrpSpPr>
          <p:cNvPr name="Group 43" id="43"/>
          <p:cNvGrpSpPr/>
          <p:nvPr/>
        </p:nvGrpSpPr>
        <p:grpSpPr>
          <a:xfrm rot="0">
            <a:off x="11146697" y="7597277"/>
            <a:ext cx="2159815" cy="663228"/>
            <a:chOff x="0" y="0"/>
            <a:chExt cx="828589" cy="254440"/>
          </a:xfrm>
        </p:grpSpPr>
        <p:sp>
          <p:nvSpPr>
            <p:cNvPr name="Freeform 44" id="44"/>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45" id="45"/>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sp>
        <p:nvSpPr>
          <p:cNvPr name="Freeform 46" id="46"/>
          <p:cNvSpPr/>
          <p:nvPr/>
        </p:nvSpPr>
        <p:spPr>
          <a:xfrm>
            <a:off x="12226605" y="7459787"/>
            <a:ext cx="0" cy="137490"/>
          </a:xfrm>
          <a:custGeom>
            <a:avLst/>
            <a:gdLst/>
            <a:ahLst/>
            <a:cxnLst/>
            <a:rect r="r" b="b" t="t" l="l"/>
            <a:pathLst>
              <a:path h="137490" w="0">
                <a:moveTo>
                  <a:pt x="0" y="0"/>
                </a:moveTo>
                <a:lnTo>
                  <a:pt x="0" y="137490"/>
                </a:lnTo>
              </a:path>
            </a:pathLst>
          </a:custGeom>
          <a:ln cap="rnd" w="28575">
            <a:solidFill>
              <a:srgbClr val="ACB8C0"/>
            </a:solidFill>
            <a:prstDash val="solid"/>
            <a:headEnd type="none" len="sm" w="sm"/>
            <a:tailEnd type="arrow" len="sm" w="med"/>
          </a:ln>
        </p:spPr>
      </p:sp>
      <p:grpSp>
        <p:nvGrpSpPr>
          <p:cNvPr name="Group 47" id="47"/>
          <p:cNvGrpSpPr/>
          <p:nvPr/>
        </p:nvGrpSpPr>
        <p:grpSpPr>
          <a:xfrm rot="0">
            <a:off x="13417953" y="4616091"/>
            <a:ext cx="2159815" cy="663228"/>
            <a:chOff x="0" y="0"/>
            <a:chExt cx="828589" cy="254440"/>
          </a:xfrm>
        </p:grpSpPr>
        <p:sp>
          <p:nvSpPr>
            <p:cNvPr name="Freeform 48" id="48"/>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49" id="49"/>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sp>
        <p:nvSpPr>
          <p:cNvPr name="Freeform 50" id="50"/>
          <p:cNvSpPr/>
          <p:nvPr/>
        </p:nvSpPr>
        <p:spPr>
          <a:xfrm>
            <a:off x="13174704" y="4703501"/>
            <a:ext cx="243249" cy="244204"/>
          </a:xfrm>
          <a:custGeom>
            <a:avLst/>
            <a:gdLst/>
            <a:ahLst/>
            <a:cxnLst/>
            <a:rect r="r" b="b" t="t" l="l"/>
            <a:pathLst>
              <a:path h="244204" w="243249">
                <a:moveTo>
                  <a:pt x="0" y="0"/>
                </a:moveTo>
                <a:lnTo>
                  <a:pt x="0" y="61051"/>
                </a:lnTo>
                <a:cubicBezTo>
                  <a:pt x="0" y="77243"/>
                  <a:pt x="6433" y="92771"/>
                  <a:pt x="17881" y="104221"/>
                </a:cubicBezTo>
                <a:cubicBezTo>
                  <a:pt x="29330" y="115670"/>
                  <a:pt x="44860" y="122102"/>
                  <a:pt x="61051" y="122102"/>
                </a:cubicBezTo>
                <a:lnTo>
                  <a:pt x="182199" y="122102"/>
                </a:lnTo>
                <a:cubicBezTo>
                  <a:pt x="198390" y="122102"/>
                  <a:pt x="213919" y="128534"/>
                  <a:pt x="225368" y="139984"/>
                </a:cubicBezTo>
                <a:cubicBezTo>
                  <a:pt x="236817" y="151433"/>
                  <a:pt x="243249" y="166961"/>
                  <a:pt x="243249" y="183153"/>
                </a:cubicBezTo>
                <a:lnTo>
                  <a:pt x="243249" y="244204"/>
                </a:lnTo>
              </a:path>
            </a:pathLst>
          </a:custGeom>
          <a:ln cap="rnd" w="28575">
            <a:solidFill>
              <a:srgbClr val="ACB8C0"/>
            </a:solidFill>
            <a:prstDash val="solid"/>
            <a:headEnd type="none" len="sm" w="sm"/>
            <a:tailEnd type="arrow" len="sm" w="med"/>
          </a:ln>
        </p:spPr>
      </p:sp>
      <p:grpSp>
        <p:nvGrpSpPr>
          <p:cNvPr name="Group 51" id="51"/>
          <p:cNvGrpSpPr/>
          <p:nvPr/>
        </p:nvGrpSpPr>
        <p:grpSpPr>
          <a:xfrm rot="0">
            <a:off x="11146697" y="5470705"/>
            <a:ext cx="2159815" cy="663228"/>
            <a:chOff x="0" y="0"/>
            <a:chExt cx="828589" cy="254440"/>
          </a:xfrm>
        </p:grpSpPr>
        <p:sp>
          <p:nvSpPr>
            <p:cNvPr name="Freeform 52" id="52"/>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53" id="53"/>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sp>
        <p:nvSpPr>
          <p:cNvPr name="Freeform 54" id="54"/>
          <p:cNvSpPr/>
          <p:nvPr/>
        </p:nvSpPr>
        <p:spPr>
          <a:xfrm>
            <a:off x="12226605" y="6339775"/>
            <a:ext cx="0" cy="205842"/>
          </a:xfrm>
          <a:custGeom>
            <a:avLst/>
            <a:gdLst/>
            <a:ahLst/>
            <a:cxnLst/>
            <a:rect r="r" b="b" t="t" l="l"/>
            <a:pathLst>
              <a:path h="205842" w="0">
                <a:moveTo>
                  <a:pt x="0" y="0"/>
                </a:moveTo>
                <a:lnTo>
                  <a:pt x="0" y="205842"/>
                </a:lnTo>
              </a:path>
            </a:pathLst>
          </a:custGeom>
          <a:ln cap="rnd" w="28575">
            <a:solidFill>
              <a:srgbClr val="ACB8C0"/>
            </a:solidFill>
            <a:prstDash val="solid"/>
            <a:headEnd type="none" len="sm" w="sm"/>
            <a:tailEnd type="arrow" len="sm" w="med"/>
          </a:ln>
        </p:spPr>
      </p:sp>
      <p:grpSp>
        <p:nvGrpSpPr>
          <p:cNvPr name="Group 55" id="55"/>
          <p:cNvGrpSpPr/>
          <p:nvPr/>
        </p:nvGrpSpPr>
        <p:grpSpPr>
          <a:xfrm rot="0">
            <a:off x="4404610" y="1040368"/>
            <a:ext cx="2114541" cy="838048"/>
            <a:chOff x="0" y="0"/>
            <a:chExt cx="1050731" cy="416432"/>
          </a:xfrm>
        </p:grpSpPr>
        <p:sp>
          <p:nvSpPr>
            <p:cNvPr name="Freeform 56" id="56"/>
            <p:cNvSpPr/>
            <p:nvPr/>
          </p:nvSpPr>
          <p:spPr>
            <a:xfrm flipH="false" flipV="false" rot="0">
              <a:off x="39641" y="11142"/>
              <a:ext cx="971449" cy="394149"/>
            </a:xfrm>
            <a:custGeom>
              <a:avLst/>
              <a:gdLst/>
              <a:ahLst/>
              <a:cxnLst/>
              <a:rect r="r" b="b" t="t" l="l"/>
              <a:pathLst>
                <a:path h="394149" w="971449">
                  <a:moveTo>
                    <a:pt x="539971" y="10357"/>
                  </a:moveTo>
                  <a:lnTo>
                    <a:pt x="956843" y="175575"/>
                  </a:lnTo>
                  <a:cubicBezTo>
                    <a:pt x="965659" y="179069"/>
                    <a:pt x="971449" y="187591"/>
                    <a:pt x="971449" y="197074"/>
                  </a:cubicBezTo>
                  <a:cubicBezTo>
                    <a:pt x="971449" y="206557"/>
                    <a:pt x="965659" y="215079"/>
                    <a:pt x="956843" y="218573"/>
                  </a:cubicBezTo>
                  <a:lnTo>
                    <a:pt x="539971" y="383791"/>
                  </a:lnTo>
                  <a:cubicBezTo>
                    <a:pt x="505125" y="397601"/>
                    <a:pt x="466324" y="397601"/>
                    <a:pt x="431478" y="383791"/>
                  </a:cubicBezTo>
                  <a:lnTo>
                    <a:pt x="14606" y="218573"/>
                  </a:lnTo>
                  <a:cubicBezTo>
                    <a:pt x="5790" y="215079"/>
                    <a:pt x="0" y="206557"/>
                    <a:pt x="0" y="197074"/>
                  </a:cubicBezTo>
                  <a:cubicBezTo>
                    <a:pt x="0" y="187591"/>
                    <a:pt x="5790" y="179069"/>
                    <a:pt x="14606" y="175575"/>
                  </a:cubicBezTo>
                  <a:lnTo>
                    <a:pt x="431478" y="10357"/>
                  </a:lnTo>
                  <a:cubicBezTo>
                    <a:pt x="466324" y="-3453"/>
                    <a:pt x="505125" y="-3453"/>
                    <a:pt x="539971" y="10357"/>
                  </a:cubicBezTo>
                  <a:close/>
                </a:path>
              </a:pathLst>
            </a:custGeom>
            <a:solidFill>
              <a:srgbClr val="F7C215"/>
            </a:solidFill>
          </p:spPr>
        </p:sp>
        <p:sp>
          <p:nvSpPr>
            <p:cNvPr name="TextBox 57" id="57"/>
            <p:cNvSpPr txBox="true"/>
            <p:nvPr/>
          </p:nvSpPr>
          <p:spPr>
            <a:xfrm>
              <a:off x="247231" y="100937"/>
              <a:ext cx="556269" cy="224083"/>
            </a:xfrm>
            <a:prstGeom prst="rect">
              <a:avLst/>
            </a:prstGeom>
          </p:spPr>
          <p:txBody>
            <a:bodyPr anchor="ctr" rtlCol="false" tIns="50800" lIns="50800" bIns="50800" rIns="50800"/>
            <a:lstStyle/>
            <a:p>
              <a:pPr algn="ctr">
                <a:lnSpc>
                  <a:spcPts val="1760"/>
                </a:lnSpc>
              </a:pPr>
            </a:p>
          </p:txBody>
        </p:sp>
      </p:grpSp>
      <p:grpSp>
        <p:nvGrpSpPr>
          <p:cNvPr name="Group 58" id="58"/>
          <p:cNvGrpSpPr/>
          <p:nvPr/>
        </p:nvGrpSpPr>
        <p:grpSpPr>
          <a:xfrm rot="0">
            <a:off x="2091563" y="1131739"/>
            <a:ext cx="2159815" cy="663228"/>
            <a:chOff x="0" y="0"/>
            <a:chExt cx="828589" cy="254440"/>
          </a:xfrm>
        </p:grpSpPr>
        <p:sp>
          <p:nvSpPr>
            <p:cNvPr name="Freeform 59" id="59"/>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60" id="60"/>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sp>
        <p:nvSpPr>
          <p:cNvPr name="Freeform 61" id="61"/>
          <p:cNvSpPr/>
          <p:nvPr/>
        </p:nvSpPr>
        <p:spPr>
          <a:xfrm>
            <a:off x="4251378" y="1459392"/>
            <a:ext cx="262403" cy="3961"/>
          </a:xfrm>
          <a:custGeom>
            <a:avLst/>
            <a:gdLst/>
            <a:ahLst/>
            <a:cxnLst/>
            <a:rect r="r" b="b" t="t" l="l"/>
            <a:pathLst>
              <a:path h="3961" w="262403">
                <a:moveTo>
                  <a:pt x="262403" y="0"/>
                </a:moveTo>
                <a:lnTo>
                  <a:pt x="133183" y="0"/>
                </a:lnTo>
                <a:cubicBezTo>
                  <a:pt x="132089" y="0"/>
                  <a:pt x="131202" y="887"/>
                  <a:pt x="131202" y="1981"/>
                </a:cubicBezTo>
                <a:lnTo>
                  <a:pt x="131202" y="1981"/>
                </a:lnTo>
                <a:cubicBezTo>
                  <a:pt x="131202" y="2506"/>
                  <a:pt x="130993" y="3010"/>
                  <a:pt x="130622" y="3381"/>
                </a:cubicBezTo>
                <a:cubicBezTo>
                  <a:pt x="130250" y="3753"/>
                  <a:pt x="129746" y="3961"/>
                  <a:pt x="129221" y="3961"/>
                </a:cubicBezTo>
                <a:lnTo>
                  <a:pt x="0" y="3961"/>
                </a:lnTo>
              </a:path>
            </a:pathLst>
          </a:custGeom>
          <a:ln cap="rnd" w="38100">
            <a:solidFill>
              <a:srgbClr val="ACB8C0"/>
            </a:solidFill>
            <a:prstDash val="solid"/>
            <a:headEnd type="none" len="sm" w="sm"/>
            <a:tailEnd type="arrow" len="sm" w="med"/>
          </a:ln>
        </p:spPr>
      </p:sp>
      <p:sp>
        <p:nvSpPr>
          <p:cNvPr name="TextBox 62" id="62"/>
          <p:cNvSpPr txBox="true"/>
          <p:nvPr/>
        </p:nvSpPr>
        <p:spPr>
          <a:xfrm rot="0">
            <a:off x="16720964" y="34561"/>
            <a:ext cx="1322373" cy="556092"/>
          </a:xfrm>
          <a:prstGeom prst="rect">
            <a:avLst/>
          </a:prstGeom>
        </p:spPr>
        <p:txBody>
          <a:bodyPr anchor="t" rtlCol="false" tIns="0" lIns="0" bIns="0" rIns="0">
            <a:spAutoFit/>
          </a:bodyPr>
          <a:lstStyle/>
          <a:p>
            <a:pPr algn="ctr">
              <a:lnSpc>
                <a:spcPts val="4423"/>
              </a:lnSpc>
              <a:spcBef>
                <a:spcPct val="0"/>
              </a:spcBef>
            </a:pPr>
            <a:r>
              <a:rPr lang="en-US" sz="3159">
                <a:solidFill>
                  <a:srgbClr val="FFDE59"/>
                </a:solidFill>
                <a:latin typeface="Bicubik"/>
                <a:ea typeface="Bicubik"/>
                <a:cs typeface="Bicubik"/>
                <a:sym typeface="Bicubik"/>
              </a:rPr>
              <a:t>GNIOT</a:t>
            </a:r>
          </a:p>
        </p:txBody>
      </p:sp>
      <p:sp>
        <p:nvSpPr>
          <p:cNvPr name="TextBox 63" id="63"/>
          <p:cNvSpPr txBox="true"/>
          <p:nvPr/>
        </p:nvSpPr>
        <p:spPr>
          <a:xfrm rot="0">
            <a:off x="15145310" y="2832295"/>
            <a:ext cx="4102229" cy="233639"/>
          </a:xfrm>
          <a:prstGeom prst="rect">
            <a:avLst/>
          </a:prstGeom>
        </p:spPr>
        <p:txBody>
          <a:bodyPr anchor="t" rtlCol="false" tIns="0" lIns="0" bIns="0" rIns="0">
            <a:spAutoFit/>
          </a:bodyPr>
          <a:lstStyle/>
          <a:p>
            <a:pPr algn="ctr" marL="0" indent="0" lvl="0">
              <a:lnSpc>
                <a:spcPts val="1757"/>
              </a:lnSpc>
              <a:spcBef>
                <a:spcPct val="0"/>
              </a:spcBef>
            </a:pPr>
            <a:r>
              <a:rPr lang="en-US" b="true" sz="1597">
                <a:solidFill>
                  <a:srgbClr val="000000"/>
                </a:solidFill>
                <a:latin typeface="Space Mono Bold"/>
                <a:ea typeface="Space Mono Bold"/>
                <a:cs typeface="Space Mono Bold"/>
                <a:sym typeface="Space Mono Bold"/>
              </a:rPr>
              <a:t>START</a:t>
            </a:r>
          </a:p>
        </p:txBody>
      </p:sp>
      <p:sp>
        <p:nvSpPr>
          <p:cNvPr name="TextBox 64" id="64"/>
          <p:cNvSpPr txBox="true"/>
          <p:nvPr/>
        </p:nvSpPr>
        <p:spPr>
          <a:xfrm rot="0">
            <a:off x="10341967" y="1196159"/>
            <a:ext cx="3698321" cy="401099"/>
          </a:xfrm>
          <a:prstGeom prst="rect">
            <a:avLst/>
          </a:prstGeom>
        </p:spPr>
        <p:txBody>
          <a:bodyPr anchor="t" rtlCol="false" tIns="0" lIns="0" bIns="0" rIns="0">
            <a:spAutoFit/>
          </a:bodyPr>
          <a:lstStyle/>
          <a:p>
            <a:pPr algn="ctr">
              <a:lnSpc>
                <a:spcPts val="1584"/>
              </a:lnSpc>
            </a:pPr>
            <a:r>
              <a:rPr lang="en-US" b="true" sz="1440">
                <a:solidFill>
                  <a:srgbClr val="000000"/>
                </a:solidFill>
                <a:latin typeface="Space Mono Bold"/>
                <a:ea typeface="Space Mono Bold"/>
                <a:cs typeface="Space Mono Bold"/>
                <a:sym typeface="Space Mono Bold"/>
              </a:rPr>
              <a:t>AI SUGGESTION</a:t>
            </a:r>
          </a:p>
          <a:p>
            <a:pPr algn="ctr" marL="0" indent="0" lvl="0">
              <a:lnSpc>
                <a:spcPts val="1584"/>
              </a:lnSpc>
              <a:spcBef>
                <a:spcPct val="0"/>
              </a:spcBef>
            </a:pPr>
            <a:r>
              <a:rPr lang="en-US" b="true" sz="1440">
                <a:solidFill>
                  <a:srgbClr val="000000"/>
                </a:solidFill>
                <a:latin typeface="Space Mono Bold"/>
                <a:ea typeface="Space Mono Bold"/>
                <a:cs typeface="Space Mono Bold"/>
                <a:sym typeface="Space Mono Bold"/>
              </a:rPr>
              <a:t>OPTED?</a:t>
            </a:r>
          </a:p>
        </p:txBody>
      </p:sp>
      <p:sp>
        <p:nvSpPr>
          <p:cNvPr name="TextBox 65" id="65"/>
          <p:cNvSpPr txBox="true"/>
          <p:nvPr/>
        </p:nvSpPr>
        <p:spPr>
          <a:xfrm rot="0">
            <a:off x="11898778" y="2170952"/>
            <a:ext cx="3698321" cy="401099"/>
          </a:xfrm>
          <a:prstGeom prst="rect">
            <a:avLst/>
          </a:prstGeom>
        </p:spPr>
        <p:txBody>
          <a:bodyPr anchor="t" rtlCol="false" tIns="0" lIns="0" bIns="0" rIns="0">
            <a:spAutoFit/>
          </a:bodyPr>
          <a:lstStyle/>
          <a:p>
            <a:pPr algn="ctr">
              <a:lnSpc>
                <a:spcPts val="1584"/>
              </a:lnSpc>
            </a:pPr>
            <a:r>
              <a:rPr lang="en-US" b="true" sz="1440">
                <a:solidFill>
                  <a:srgbClr val="000000"/>
                </a:solidFill>
                <a:latin typeface="Space Mono Bold"/>
                <a:ea typeface="Space Mono Bold"/>
                <a:cs typeface="Space Mono Bold"/>
                <a:sym typeface="Space Mono Bold"/>
              </a:rPr>
              <a:t>LLM SUGGESTS</a:t>
            </a:r>
          </a:p>
          <a:p>
            <a:pPr algn="ctr" marL="0" indent="0" lvl="0">
              <a:lnSpc>
                <a:spcPts val="1584"/>
              </a:lnSpc>
              <a:spcBef>
                <a:spcPct val="0"/>
              </a:spcBef>
            </a:pPr>
            <a:r>
              <a:rPr lang="en-US" b="true" sz="1440">
                <a:solidFill>
                  <a:srgbClr val="000000"/>
                </a:solidFill>
                <a:latin typeface="Space Mono Bold"/>
                <a:ea typeface="Space Mono Bold"/>
                <a:cs typeface="Space Mono Bold"/>
                <a:sym typeface="Space Mono Bold"/>
              </a:rPr>
              <a:t>TEMPLATE</a:t>
            </a:r>
          </a:p>
        </p:txBody>
      </p:sp>
      <p:sp>
        <p:nvSpPr>
          <p:cNvPr name="TextBox 66" id="66"/>
          <p:cNvSpPr txBox="true"/>
          <p:nvPr/>
        </p:nvSpPr>
        <p:spPr>
          <a:xfrm rot="0">
            <a:off x="9419341" y="2214798"/>
            <a:ext cx="3499987" cy="401099"/>
          </a:xfrm>
          <a:prstGeom prst="rect">
            <a:avLst/>
          </a:prstGeom>
        </p:spPr>
        <p:txBody>
          <a:bodyPr anchor="t" rtlCol="false" tIns="0" lIns="0" bIns="0" rIns="0">
            <a:spAutoFit/>
          </a:bodyPr>
          <a:lstStyle/>
          <a:p>
            <a:pPr algn="ctr">
              <a:lnSpc>
                <a:spcPts val="1584"/>
              </a:lnSpc>
            </a:pPr>
            <a:r>
              <a:rPr lang="en-US" b="true" sz="1440">
                <a:solidFill>
                  <a:srgbClr val="000000"/>
                </a:solidFill>
                <a:latin typeface="Space Mono Bold"/>
                <a:ea typeface="Space Mono Bold"/>
                <a:cs typeface="Space Mono Bold"/>
                <a:sym typeface="Space Mono Bold"/>
              </a:rPr>
              <a:t>USER PICKS TEMPLATE</a:t>
            </a:r>
          </a:p>
          <a:p>
            <a:pPr algn="ctr" marL="0" indent="0" lvl="0">
              <a:lnSpc>
                <a:spcPts val="1584"/>
              </a:lnSpc>
              <a:spcBef>
                <a:spcPct val="0"/>
              </a:spcBef>
            </a:pPr>
            <a:r>
              <a:rPr lang="en-US" b="true" sz="1440">
                <a:solidFill>
                  <a:srgbClr val="000000"/>
                </a:solidFill>
                <a:latin typeface="Space Mono Bold"/>
                <a:ea typeface="Space Mono Bold"/>
                <a:cs typeface="Space Mono Bold"/>
                <a:sym typeface="Space Mono Bold"/>
              </a:rPr>
              <a:t>MANUALLY</a:t>
            </a:r>
          </a:p>
        </p:txBody>
      </p:sp>
      <p:grpSp>
        <p:nvGrpSpPr>
          <p:cNvPr name="Group 67" id="67"/>
          <p:cNvGrpSpPr/>
          <p:nvPr/>
        </p:nvGrpSpPr>
        <p:grpSpPr>
          <a:xfrm rot="0">
            <a:off x="12315409" y="3185455"/>
            <a:ext cx="2159815" cy="663228"/>
            <a:chOff x="0" y="0"/>
            <a:chExt cx="828589" cy="254440"/>
          </a:xfrm>
        </p:grpSpPr>
        <p:sp>
          <p:nvSpPr>
            <p:cNvPr name="Freeform 68" id="68"/>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69" id="69"/>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sp>
        <p:nvSpPr>
          <p:cNvPr name="TextBox 70" id="70"/>
          <p:cNvSpPr txBox="true"/>
          <p:nvPr/>
        </p:nvSpPr>
        <p:spPr>
          <a:xfrm rot="0">
            <a:off x="11645322" y="3328330"/>
            <a:ext cx="3499987" cy="401099"/>
          </a:xfrm>
          <a:prstGeom prst="rect">
            <a:avLst/>
          </a:prstGeom>
        </p:spPr>
        <p:txBody>
          <a:bodyPr anchor="t" rtlCol="false" tIns="0" lIns="0" bIns="0" rIns="0">
            <a:spAutoFit/>
          </a:bodyPr>
          <a:lstStyle/>
          <a:p>
            <a:pPr algn="ctr">
              <a:lnSpc>
                <a:spcPts val="1584"/>
              </a:lnSpc>
            </a:pPr>
            <a:r>
              <a:rPr lang="en-US" b="true" sz="1440">
                <a:solidFill>
                  <a:srgbClr val="000000"/>
                </a:solidFill>
                <a:latin typeface="Space Mono Bold"/>
                <a:ea typeface="Space Mono Bold"/>
                <a:cs typeface="Space Mono Bold"/>
                <a:sym typeface="Space Mono Bold"/>
              </a:rPr>
              <a:t>USER ACCEPTS</a:t>
            </a:r>
          </a:p>
          <a:p>
            <a:pPr algn="ctr" marL="0" indent="0" lvl="0">
              <a:lnSpc>
                <a:spcPts val="1584"/>
              </a:lnSpc>
              <a:spcBef>
                <a:spcPct val="0"/>
              </a:spcBef>
            </a:pPr>
            <a:r>
              <a:rPr lang="en-US" b="true" sz="1440">
                <a:solidFill>
                  <a:srgbClr val="000000"/>
                </a:solidFill>
                <a:latin typeface="Space Mono Bold"/>
                <a:ea typeface="Space Mono Bold"/>
                <a:cs typeface="Space Mono Bold"/>
                <a:sym typeface="Space Mono Bold"/>
              </a:rPr>
              <a:t>SUGGESTION</a:t>
            </a:r>
          </a:p>
        </p:txBody>
      </p:sp>
      <p:sp>
        <p:nvSpPr>
          <p:cNvPr name="TextBox 71" id="71"/>
          <p:cNvSpPr txBox="true"/>
          <p:nvPr/>
        </p:nvSpPr>
        <p:spPr>
          <a:xfrm rot="0">
            <a:off x="10705271" y="4558976"/>
            <a:ext cx="3042669" cy="346201"/>
          </a:xfrm>
          <a:prstGeom prst="rect">
            <a:avLst/>
          </a:prstGeom>
        </p:spPr>
        <p:txBody>
          <a:bodyPr anchor="t" rtlCol="false" tIns="0" lIns="0" bIns="0" rIns="0">
            <a:spAutoFit/>
          </a:bodyPr>
          <a:lstStyle/>
          <a:p>
            <a:pPr algn="ctr">
              <a:lnSpc>
                <a:spcPts val="1377"/>
              </a:lnSpc>
            </a:pPr>
            <a:r>
              <a:rPr lang="en-US" b="true" sz="1252">
                <a:solidFill>
                  <a:srgbClr val="000000"/>
                </a:solidFill>
                <a:latin typeface="Space Mono Bold"/>
                <a:ea typeface="Space Mono Bold"/>
                <a:cs typeface="Space Mono Bold"/>
                <a:sym typeface="Space Mono Bold"/>
              </a:rPr>
              <a:t>TEMPLATE EXIST</a:t>
            </a:r>
          </a:p>
          <a:p>
            <a:pPr algn="ctr" marL="0" indent="0" lvl="0">
              <a:lnSpc>
                <a:spcPts val="1377"/>
              </a:lnSpc>
              <a:spcBef>
                <a:spcPct val="0"/>
              </a:spcBef>
            </a:pPr>
            <a:r>
              <a:rPr lang="en-US" b="true" sz="1252">
                <a:solidFill>
                  <a:srgbClr val="000000"/>
                </a:solidFill>
                <a:latin typeface="Space Mono Bold"/>
                <a:ea typeface="Space Mono Bold"/>
                <a:cs typeface="Space Mono Bold"/>
                <a:sym typeface="Space Mono Bold"/>
              </a:rPr>
              <a:t>IN TEMPLATE</a:t>
            </a:r>
          </a:p>
        </p:txBody>
      </p:sp>
      <p:sp>
        <p:nvSpPr>
          <p:cNvPr name="TextBox 72" id="72"/>
          <p:cNvSpPr txBox="true"/>
          <p:nvPr/>
        </p:nvSpPr>
        <p:spPr>
          <a:xfrm rot="0">
            <a:off x="10557595" y="5632630"/>
            <a:ext cx="3190345" cy="373453"/>
          </a:xfrm>
          <a:prstGeom prst="rect">
            <a:avLst/>
          </a:prstGeom>
        </p:spPr>
        <p:txBody>
          <a:bodyPr anchor="t" rtlCol="false" tIns="0" lIns="0" bIns="0" rIns="0">
            <a:spAutoFit/>
          </a:bodyPr>
          <a:lstStyle/>
          <a:p>
            <a:pPr algn="ctr">
              <a:lnSpc>
                <a:spcPts val="1444"/>
              </a:lnSpc>
            </a:pPr>
            <a:r>
              <a:rPr lang="en-US" b="true" sz="1313">
                <a:solidFill>
                  <a:srgbClr val="000000"/>
                </a:solidFill>
                <a:latin typeface="Space Mono Bold"/>
                <a:ea typeface="Space Mono Bold"/>
                <a:cs typeface="Space Mono Bold"/>
                <a:sym typeface="Space Mono Bold"/>
              </a:rPr>
              <a:t>SCAFFOLD PROJECT</a:t>
            </a:r>
          </a:p>
          <a:p>
            <a:pPr algn="ctr" marL="0" indent="0" lvl="0">
              <a:lnSpc>
                <a:spcPts val="1444"/>
              </a:lnSpc>
              <a:spcBef>
                <a:spcPct val="0"/>
              </a:spcBef>
            </a:pPr>
            <a:r>
              <a:rPr lang="en-US" b="true" sz="1313">
                <a:solidFill>
                  <a:srgbClr val="000000"/>
                </a:solidFill>
                <a:latin typeface="Space Mono Bold"/>
                <a:ea typeface="Space Mono Bold"/>
                <a:cs typeface="Space Mono Bold"/>
                <a:sym typeface="Space Mono Bold"/>
              </a:rPr>
              <a:t> FILES</a:t>
            </a:r>
          </a:p>
        </p:txBody>
      </p:sp>
      <p:sp>
        <p:nvSpPr>
          <p:cNvPr name="TextBox 73" id="73"/>
          <p:cNvSpPr txBox="true"/>
          <p:nvPr/>
        </p:nvSpPr>
        <p:spPr>
          <a:xfrm rot="0">
            <a:off x="12883851" y="4778051"/>
            <a:ext cx="3190345" cy="373453"/>
          </a:xfrm>
          <a:prstGeom prst="rect">
            <a:avLst/>
          </a:prstGeom>
        </p:spPr>
        <p:txBody>
          <a:bodyPr anchor="t" rtlCol="false" tIns="0" lIns="0" bIns="0" rIns="0">
            <a:spAutoFit/>
          </a:bodyPr>
          <a:lstStyle/>
          <a:p>
            <a:pPr algn="ctr">
              <a:lnSpc>
                <a:spcPts val="1444"/>
              </a:lnSpc>
            </a:pPr>
            <a:r>
              <a:rPr lang="en-US" b="true" sz="1313">
                <a:solidFill>
                  <a:srgbClr val="000000"/>
                </a:solidFill>
                <a:latin typeface="Space Mono Bold"/>
                <a:ea typeface="Space Mono Bold"/>
                <a:cs typeface="Space Mono Bold"/>
                <a:sym typeface="Space Mono Bold"/>
              </a:rPr>
              <a:t>FAILED: UNKNOWN</a:t>
            </a:r>
          </a:p>
          <a:p>
            <a:pPr algn="ctr" marL="0" indent="0" lvl="0">
              <a:lnSpc>
                <a:spcPts val="1444"/>
              </a:lnSpc>
              <a:spcBef>
                <a:spcPct val="0"/>
              </a:spcBef>
            </a:pPr>
            <a:r>
              <a:rPr lang="en-US" b="true" sz="1313">
                <a:solidFill>
                  <a:srgbClr val="000000"/>
                </a:solidFill>
                <a:latin typeface="Space Mono Bold"/>
                <a:ea typeface="Space Mono Bold"/>
                <a:cs typeface="Space Mono Bold"/>
                <a:sym typeface="Space Mono Bold"/>
              </a:rPr>
              <a:t>TEMPLATE,EXIT</a:t>
            </a:r>
          </a:p>
        </p:txBody>
      </p:sp>
      <p:sp>
        <p:nvSpPr>
          <p:cNvPr name="TextBox 74" id="74"/>
          <p:cNvSpPr txBox="true"/>
          <p:nvPr/>
        </p:nvSpPr>
        <p:spPr>
          <a:xfrm rot="0">
            <a:off x="13037728" y="6824772"/>
            <a:ext cx="3190345" cy="373453"/>
          </a:xfrm>
          <a:prstGeom prst="rect">
            <a:avLst/>
          </a:prstGeom>
        </p:spPr>
        <p:txBody>
          <a:bodyPr anchor="t" rtlCol="false" tIns="0" lIns="0" bIns="0" rIns="0">
            <a:spAutoFit/>
          </a:bodyPr>
          <a:lstStyle/>
          <a:p>
            <a:pPr algn="ctr">
              <a:lnSpc>
                <a:spcPts val="1444"/>
              </a:lnSpc>
            </a:pPr>
            <a:r>
              <a:rPr lang="en-US" b="true" sz="1313">
                <a:solidFill>
                  <a:srgbClr val="000000"/>
                </a:solidFill>
                <a:latin typeface="Space Mono Bold"/>
                <a:ea typeface="Space Mono Bold"/>
                <a:cs typeface="Space Mono Bold"/>
                <a:sym typeface="Space Mono Bold"/>
              </a:rPr>
              <a:t>GH AUTH REQUIRED,</a:t>
            </a:r>
          </a:p>
          <a:p>
            <a:pPr algn="ctr" marL="0" indent="0" lvl="0">
              <a:lnSpc>
                <a:spcPts val="1444"/>
              </a:lnSpc>
              <a:spcBef>
                <a:spcPct val="0"/>
              </a:spcBef>
            </a:pPr>
            <a:r>
              <a:rPr lang="en-US" b="true" sz="1313">
                <a:solidFill>
                  <a:srgbClr val="000000"/>
                </a:solidFill>
                <a:latin typeface="Space Mono Bold"/>
                <a:ea typeface="Space Mono Bold"/>
                <a:cs typeface="Space Mono Bold"/>
                <a:sym typeface="Space Mono Bold"/>
              </a:rPr>
              <a:t> EXIT</a:t>
            </a:r>
          </a:p>
        </p:txBody>
      </p:sp>
      <p:sp>
        <p:nvSpPr>
          <p:cNvPr name="TextBox 75" id="75"/>
          <p:cNvSpPr txBox="true"/>
          <p:nvPr/>
        </p:nvSpPr>
        <p:spPr>
          <a:xfrm rot="0">
            <a:off x="10868751" y="7746927"/>
            <a:ext cx="2292844" cy="373453"/>
          </a:xfrm>
          <a:prstGeom prst="rect">
            <a:avLst/>
          </a:prstGeom>
        </p:spPr>
        <p:txBody>
          <a:bodyPr anchor="t" rtlCol="false" tIns="0" lIns="0" bIns="0" rIns="0">
            <a:spAutoFit/>
          </a:bodyPr>
          <a:lstStyle/>
          <a:p>
            <a:pPr algn="ctr">
              <a:lnSpc>
                <a:spcPts val="1444"/>
              </a:lnSpc>
            </a:pPr>
            <a:r>
              <a:rPr lang="en-US" b="true" sz="1313">
                <a:solidFill>
                  <a:srgbClr val="000000"/>
                </a:solidFill>
                <a:latin typeface="Space Mono Bold"/>
                <a:ea typeface="Space Mono Bold"/>
                <a:cs typeface="Space Mono Bold"/>
                <a:sym typeface="Space Mono Bold"/>
              </a:rPr>
              <a:t>GH CLI:</a:t>
            </a:r>
          </a:p>
          <a:p>
            <a:pPr algn="ctr" marL="0" indent="0" lvl="0">
              <a:lnSpc>
                <a:spcPts val="1444"/>
              </a:lnSpc>
              <a:spcBef>
                <a:spcPct val="0"/>
              </a:spcBef>
            </a:pPr>
            <a:r>
              <a:rPr lang="en-US" b="true" sz="1313">
                <a:solidFill>
                  <a:srgbClr val="000000"/>
                </a:solidFill>
                <a:latin typeface="Space Mono Bold"/>
                <a:ea typeface="Space Mono Bold"/>
                <a:cs typeface="Space Mono Bold"/>
                <a:sym typeface="Space Mono Bold"/>
              </a:rPr>
              <a:t> CREATE REPO</a:t>
            </a:r>
          </a:p>
        </p:txBody>
      </p:sp>
      <p:sp>
        <p:nvSpPr>
          <p:cNvPr name="TextBox 76" id="76"/>
          <p:cNvSpPr txBox="true"/>
          <p:nvPr/>
        </p:nvSpPr>
        <p:spPr>
          <a:xfrm rot="0">
            <a:off x="2055182" y="1343634"/>
            <a:ext cx="2292844" cy="190303"/>
          </a:xfrm>
          <a:prstGeom prst="rect">
            <a:avLst/>
          </a:prstGeom>
        </p:spPr>
        <p:txBody>
          <a:bodyPr anchor="t" rtlCol="false" tIns="0" lIns="0" bIns="0" rIns="0">
            <a:spAutoFit/>
          </a:bodyPr>
          <a:lstStyle/>
          <a:p>
            <a:pPr algn="ctr" marL="0" indent="0" lvl="0">
              <a:lnSpc>
                <a:spcPts val="1444"/>
              </a:lnSpc>
              <a:spcBef>
                <a:spcPct val="0"/>
              </a:spcBef>
            </a:pPr>
            <a:r>
              <a:rPr lang="en-US" b="true" sz="1313">
                <a:solidFill>
                  <a:srgbClr val="000000"/>
                </a:solidFill>
                <a:latin typeface="Space Mono Bold"/>
                <a:ea typeface="Space Mono Bold"/>
                <a:cs typeface="Space Mono Bold"/>
                <a:sym typeface="Space Mono Bold"/>
              </a:rPr>
              <a:t>DONE: REPO ONLY</a:t>
            </a:r>
          </a:p>
        </p:txBody>
      </p:sp>
      <p:sp>
        <p:nvSpPr>
          <p:cNvPr name="TextBox 77" id="77"/>
          <p:cNvSpPr txBox="true"/>
          <p:nvPr/>
        </p:nvSpPr>
        <p:spPr>
          <a:xfrm rot="0">
            <a:off x="4975628" y="7318622"/>
            <a:ext cx="3190345" cy="190303"/>
          </a:xfrm>
          <a:prstGeom prst="rect">
            <a:avLst/>
          </a:prstGeom>
        </p:spPr>
        <p:txBody>
          <a:bodyPr anchor="t" rtlCol="false" tIns="0" lIns="0" bIns="0" rIns="0">
            <a:spAutoFit/>
          </a:bodyPr>
          <a:lstStyle/>
          <a:p>
            <a:pPr algn="ctr" marL="0" indent="0" lvl="0">
              <a:lnSpc>
                <a:spcPts val="1444"/>
              </a:lnSpc>
              <a:spcBef>
                <a:spcPct val="0"/>
              </a:spcBef>
            </a:pPr>
            <a:r>
              <a:rPr lang="en-US" b="true" sz="1313">
                <a:solidFill>
                  <a:srgbClr val="000000"/>
                </a:solidFill>
                <a:latin typeface="Space Mono Bold"/>
                <a:ea typeface="Space Mono Bold"/>
                <a:cs typeface="Space Mono Bold"/>
                <a:sym typeface="Space Mono Bold"/>
              </a:rPr>
              <a:t>DONE: NO DEPLOY</a:t>
            </a:r>
          </a:p>
        </p:txBody>
      </p:sp>
      <p:sp>
        <p:nvSpPr>
          <p:cNvPr name="TextBox 78" id="78"/>
          <p:cNvSpPr txBox="true"/>
          <p:nvPr/>
        </p:nvSpPr>
        <p:spPr>
          <a:xfrm rot="0">
            <a:off x="4765690" y="1245248"/>
            <a:ext cx="1407004" cy="549719"/>
          </a:xfrm>
          <a:prstGeom prst="rect">
            <a:avLst/>
          </a:prstGeom>
        </p:spPr>
        <p:txBody>
          <a:bodyPr anchor="t" rtlCol="false" tIns="0" lIns="0" bIns="0" rIns="0">
            <a:spAutoFit/>
          </a:bodyPr>
          <a:lstStyle/>
          <a:p>
            <a:pPr algn="ctr">
              <a:lnSpc>
                <a:spcPts val="1426"/>
              </a:lnSpc>
            </a:pPr>
            <a:r>
              <a:rPr lang="en-US" b="true" sz="1297">
                <a:solidFill>
                  <a:srgbClr val="000000"/>
                </a:solidFill>
                <a:latin typeface="Space Mono Bold"/>
                <a:ea typeface="Space Mono Bold"/>
                <a:cs typeface="Space Mono Bold"/>
                <a:sym typeface="Space Mono Bold"/>
              </a:rPr>
              <a:t>USER WANTS TO DEPLOY?" OR "DEPLOY</a:t>
            </a:r>
          </a:p>
        </p:txBody>
      </p:sp>
      <p:sp>
        <p:nvSpPr>
          <p:cNvPr name="TextBox 79" id="79"/>
          <p:cNvSpPr txBox="true"/>
          <p:nvPr/>
        </p:nvSpPr>
        <p:spPr>
          <a:xfrm rot="0">
            <a:off x="8528916" y="7286947"/>
            <a:ext cx="2292844" cy="373453"/>
          </a:xfrm>
          <a:prstGeom prst="rect">
            <a:avLst/>
          </a:prstGeom>
        </p:spPr>
        <p:txBody>
          <a:bodyPr anchor="t" rtlCol="false" tIns="0" lIns="0" bIns="0" rIns="0">
            <a:spAutoFit/>
          </a:bodyPr>
          <a:lstStyle/>
          <a:p>
            <a:pPr algn="ctr">
              <a:lnSpc>
                <a:spcPts val="1444"/>
              </a:lnSpc>
            </a:pPr>
            <a:r>
              <a:rPr lang="en-US" b="true" sz="1313">
                <a:solidFill>
                  <a:srgbClr val="000000"/>
                </a:solidFill>
                <a:latin typeface="Space Mono Bold"/>
                <a:ea typeface="Space Mono Bold"/>
                <a:cs typeface="Space Mono Bold"/>
                <a:sym typeface="Space Mono Bold"/>
              </a:rPr>
              <a:t>FIRST COMMIT</a:t>
            </a:r>
          </a:p>
          <a:p>
            <a:pPr algn="ctr" marL="0" indent="0" lvl="0">
              <a:lnSpc>
                <a:spcPts val="1444"/>
              </a:lnSpc>
              <a:spcBef>
                <a:spcPct val="0"/>
              </a:spcBef>
            </a:pPr>
            <a:r>
              <a:rPr lang="en-US" b="true" sz="1313">
                <a:solidFill>
                  <a:srgbClr val="000000"/>
                </a:solidFill>
                <a:latin typeface="Space Mono Bold"/>
                <a:ea typeface="Space Mono Bold"/>
                <a:cs typeface="Space Mono Bold"/>
                <a:sym typeface="Space Mono Bold"/>
              </a:rPr>
              <a:t> DETECTED?</a:t>
            </a:r>
          </a:p>
        </p:txBody>
      </p:sp>
      <p:sp>
        <p:nvSpPr>
          <p:cNvPr name="TextBox 80" id="80"/>
          <p:cNvSpPr txBox="true"/>
          <p:nvPr/>
        </p:nvSpPr>
        <p:spPr>
          <a:xfrm rot="0">
            <a:off x="10999515" y="6703707"/>
            <a:ext cx="2373329" cy="377372"/>
          </a:xfrm>
          <a:prstGeom prst="rect">
            <a:avLst/>
          </a:prstGeom>
        </p:spPr>
        <p:txBody>
          <a:bodyPr anchor="t" rtlCol="false" tIns="0" lIns="0" bIns="0" rIns="0">
            <a:spAutoFit/>
          </a:bodyPr>
          <a:lstStyle/>
          <a:p>
            <a:pPr algn="ctr">
              <a:lnSpc>
                <a:spcPts val="1495"/>
              </a:lnSpc>
            </a:pPr>
            <a:r>
              <a:rPr lang="en-US" b="true" sz="1359">
                <a:solidFill>
                  <a:srgbClr val="000000"/>
                </a:solidFill>
                <a:latin typeface="Space Mono Bold"/>
                <a:ea typeface="Space Mono Bold"/>
                <a:cs typeface="Space Mono Bold"/>
                <a:sym typeface="Space Mono Bold"/>
              </a:rPr>
              <a:t>GH CLI</a:t>
            </a:r>
          </a:p>
          <a:p>
            <a:pPr algn="ctr" marL="0" indent="0" lvl="0">
              <a:lnSpc>
                <a:spcPts val="1495"/>
              </a:lnSpc>
              <a:spcBef>
                <a:spcPct val="0"/>
              </a:spcBef>
            </a:pPr>
            <a:r>
              <a:rPr lang="en-US" b="true" sz="1359">
                <a:solidFill>
                  <a:srgbClr val="000000"/>
                </a:solidFill>
                <a:latin typeface="Space Mono Bold"/>
                <a:ea typeface="Space Mono Bold"/>
                <a:cs typeface="Space Mono Bold"/>
                <a:sym typeface="Space Mono Bold"/>
              </a:rPr>
              <a:t> AUTHENTICATED?</a:t>
            </a:r>
          </a:p>
        </p:txBody>
      </p:sp>
      <p:sp>
        <p:nvSpPr>
          <p:cNvPr name="TextBox 81" id="81"/>
          <p:cNvSpPr txBox="true"/>
          <p:nvPr/>
        </p:nvSpPr>
        <p:spPr>
          <a:xfrm rot="0">
            <a:off x="13584966" y="1319862"/>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YES</a:t>
            </a:r>
          </a:p>
        </p:txBody>
      </p:sp>
      <p:sp>
        <p:nvSpPr>
          <p:cNvPr name="TextBox 82" id="82"/>
          <p:cNvSpPr txBox="true"/>
          <p:nvPr/>
        </p:nvSpPr>
        <p:spPr>
          <a:xfrm rot="0">
            <a:off x="10211218" y="1319862"/>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NO</a:t>
            </a:r>
          </a:p>
        </p:txBody>
      </p:sp>
      <p:sp>
        <p:nvSpPr>
          <p:cNvPr name="TextBox 83" id="83"/>
          <p:cNvSpPr txBox="true"/>
          <p:nvPr/>
        </p:nvSpPr>
        <p:spPr>
          <a:xfrm rot="0">
            <a:off x="13177096" y="4330376"/>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NO</a:t>
            </a:r>
          </a:p>
        </p:txBody>
      </p:sp>
      <p:sp>
        <p:nvSpPr>
          <p:cNvPr name="TextBox 84" id="84"/>
          <p:cNvSpPr txBox="true"/>
          <p:nvPr/>
        </p:nvSpPr>
        <p:spPr>
          <a:xfrm rot="0">
            <a:off x="11263273" y="5095677"/>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YES</a:t>
            </a:r>
          </a:p>
        </p:txBody>
      </p:sp>
      <p:sp>
        <p:nvSpPr>
          <p:cNvPr name="TextBox 85" id="85"/>
          <p:cNvSpPr txBox="true"/>
          <p:nvPr/>
        </p:nvSpPr>
        <p:spPr>
          <a:xfrm rot="0">
            <a:off x="11169334" y="6281294"/>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YES</a:t>
            </a:r>
          </a:p>
        </p:txBody>
      </p:sp>
      <p:sp>
        <p:nvSpPr>
          <p:cNvPr name="TextBox 86" id="86"/>
          <p:cNvSpPr txBox="true"/>
          <p:nvPr/>
        </p:nvSpPr>
        <p:spPr>
          <a:xfrm rot="0">
            <a:off x="11263273" y="7326133"/>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YES</a:t>
            </a:r>
          </a:p>
        </p:txBody>
      </p:sp>
      <p:sp>
        <p:nvSpPr>
          <p:cNvPr name="TextBox 87" id="87"/>
          <p:cNvSpPr txBox="true"/>
          <p:nvPr/>
        </p:nvSpPr>
        <p:spPr>
          <a:xfrm rot="0">
            <a:off x="10119528" y="6711353"/>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YES</a:t>
            </a:r>
          </a:p>
        </p:txBody>
      </p:sp>
      <p:sp>
        <p:nvSpPr>
          <p:cNvPr name="TextBox 88" id="88"/>
          <p:cNvSpPr txBox="true"/>
          <p:nvPr/>
        </p:nvSpPr>
        <p:spPr>
          <a:xfrm rot="0">
            <a:off x="4695640" y="1964787"/>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YES</a:t>
            </a:r>
          </a:p>
        </p:txBody>
      </p:sp>
      <p:sp>
        <p:nvSpPr>
          <p:cNvPr name="TextBox 89" id="89"/>
          <p:cNvSpPr txBox="true"/>
          <p:nvPr/>
        </p:nvSpPr>
        <p:spPr>
          <a:xfrm rot="0">
            <a:off x="12960136" y="6581608"/>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NO</a:t>
            </a:r>
          </a:p>
        </p:txBody>
      </p:sp>
      <p:sp>
        <p:nvSpPr>
          <p:cNvPr name="TextBox 90" id="90"/>
          <p:cNvSpPr txBox="true"/>
          <p:nvPr/>
        </p:nvSpPr>
        <p:spPr>
          <a:xfrm rot="0">
            <a:off x="8165972" y="6711353"/>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NO</a:t>
            </a:r>
          </a:p>
        </p:txBody>
      </p:sp>
      <p:sp>
        <p:nvSpPr>
          <p:cNvPr name="TextBox 91" id="91"/>
          <p:cNvSpPr txBox="true"/>
          <p:nvPr/>
        </p:nvSpPr>
        <p:spPr>
          <a:xfrm rot="0">
            <a:off x="4001649" y="1038225"/>
            <a:ext cx="692753" cy="233639"/>
          </a:xfrm>
          <a:prstGeom prst="rect">
            <a:avLst/>
          </a:prstGeom>
        </p:spPr>
        <p:txBody>
          <a:bodyPr anchor="t" rtlCol="false" tIns="0" lIns="0" bIns="0" rIns="0">
            <a:spAutoFit/>
          </a:bodyPr>
          <a:lstStyle/>
          <a:p>
            <a:pPr algn="ctr" marL="0" indent="0" lvl="0">
              <a:lnSpc>
                <a:spcPts val="1757"/>
              </a:lnSpc>
              <a:spcBef>
                <a:spcPct val="0"/>
              </a:spcBef>
            </a:pPr>
            <a:r>
              <a:rPr lang="en-US" b="true" sz="1597">
                <a:gradFill>
                  <a:gsLst>
                    <a:gs pos="0">
                      <a:srgbClr val="888888">
                        <a:alpha val="100000"/>
                      </a:srgbClr>
                    </a:gs>
                    <a:gs pos="100000">
                      <a:srgbClr val="FFFFFF">
                        <a:alpha val="100000"/>
                      </a:srgbClr>
                    </a:gs>
                  </a:gsLst>
                  <a:lin ang="16200000"/>
                </a:gradFill>
                <a:latin typeface="Space Mono Bold"/>
                <a:ea typeface="Space Mono Bold"/>
                <a:cs typeface="Space Mono Bold"/>
                <a:sym typeface="Space Mono Bold"/>
              </a:rPr>
              <a:t>NO</a:t>
            </a:r>
          </a:p>
        </p:txBody>
      </p:sp>
      <p:grpSp>
        <p:nvGrpSpPr>
          <p:cNvPr name="Group 92" id="92"/>
          <p:cNvGrpSpPr/>
          <p:nvPr/>
        </p:nvGrpSpPr>
        <p:grpSpPr>
          <a:xfrm rot="0">
            <a:off x="4483417" y="4164264"/>
            <a:ext cx="2051398" cy="663228"/>
            <a:chOff x="0" y="0"/>
            <a:chExt cx="786996" cy="254440"/>
          </a:xfrm>
        </p:grpSpPr>
        <p:sp>
          <p:nvSpPr>
            <p:cNvPr name="Freeform 93" id="93"/>
            <p:cNvSpPr/>
            <p:nvPr/>
          </p:nvSpPr>
          <p:spPr>
            <a:xfrm flipH="false" flipV="false" rot="0">
              <a:off x="0" y="0"/>
              <a:ext cx="786996" cy="254440"/>
            </a:xfrm>
            <a:custGeom>
              <a:avLst/>
              <a:gdLst/>
              <a:ahLst/>
              <a:cxnLst/>
              <a:rect r="r" b="b" t="t" l="l"/>
              <a:pathLst>
                <a:path h="254440" w="786996">
                  <a:moveTo>
                    <a:pt x="73710" y="0"/>
                  </a:moveTo>
                  <a:lnTo>
                    <a:pt x="713286" y="0"/>
                  </a:lnTo>
                  <a:cubicBezTo>
                    <a:pt x="732835" y="0"/>
                    <a:pt x="751584" y="7766"/>
                    <a:pt x="765407" y="21589"/>
                  </a:cubicBezTo>
                  <a:cubicBezTo>
                    <a:pt x="779231" y="35413"/>
                    <a:pt x="786996" y="54161"/>
                    <a:pt x="786996" y="73710"/>
                  </a:cubicBezTo>
                  <a:lnTo>
                    <a:pt x="786996" y="180730"/>
                  </a:lnTo>
                  <a:cubicBezTo>
                    <a:pt x="786996" y="221439"/>
                    <a:pt x="753995" y="254440"/>
                    <a:pt x="713286" y="254440"/>
                  </a:cubicBezTo>
                  <a:lnTo>
                    <a:pt x="73710" y="254440"/>
                  </a:lnTo>
                  <a:cubicBezTo>
                    <a:pt x="33001" y="254440"/>
                    <a:pt x="0" y="221439"/>
                    <a:pt x="0" y="180730"/>
                  </a:cubicBezTo>
                  <a:lnTo>
                    <a:pt x="0" y="73710"/>
                  </a:lnTo>
                  <a:cubicBezTo>
                    <a:pt x="0" y="33001"/>
                    <a:pt x="33001" y="0"/>
                    <a:pt x="73710" y="0"/>
                  </a:cubicBezTo>
                  <a:close/>
                </a:path>
              </a:pathLst>
            </a:custGeom>
            <a:solidFill>
              <a:srgbClr val="F7C215"/>
            </a:solidFill>
          </p:spPr>
        </p:sp>
        <p:sp>
          <p:nvSpPr>
            <p:cNvPr name="TextBox 94" id="94"/>
            <p:cNvSpPr txBox="true"/>
            <p:nvPr/>
          </p:nvSpPr>
          <p:spPr>
            <a:xfrm>
              <a:off x="0" y="9525"/>
              <a:ext cx="786996" cy="244915"/>
            </a:xfrm>
            <a:prstGeom prst="rect">
              <a:avLst/>
            </a:prstGeom>
          </p:spPr>
          <p:txBody>
            <a:bodyPr anchor="ctr" rtlCol="false" tIns="50800" lIns="50800" bIns="50800" rIns="50800"/>
            <a:lstStyle/>
            <a:p>
              <a:pPr algn="ctr">
                <a:lnSpc>
                  <a:spcPts val="1760"/>
                </a:lnSpc>
              </a:pPr>
            </a:p>
          </p:txBody>
        </p:sp>
      </p:grpSp>
      <p:grpSp>
        <p:nvGrpSpPr>
          <p:cNvPr name="Group 95" id="95"/>
          <p:cNvGrpSpPr/>
          <p:nvPr/>
        </p:nvGrpSpPr>
        <p:grpSpPr>
          <a:xfrm rot="0">
            <a:off x="4291990" y="2640416"/>
            <a:ext cx="2421724" cy="871973"/>
            <a:chOff x="0" y="0"/>
            <a:chExt cx="1203372" cy="433290"/>
          </a:xfrm>
        </p:grpSpPr>
        <p:sp>
          <p:nvSpPr>
            <p:cNvPr name="Freeform 96" id="96"/>
            <p:cNvSpPr/>
            <p:nvPr/>
          </p:nvSpPr>
          <p:spPr>
            <a:xfrm flipH="false" flipV="false" rot="0">
              <a:off x="35807" y="8893"/>
              <a:ext cx="1131758" cy="415503"/>
            </a:xfrm>
            <a:custGeom>
              <a:avLst/>
              <a:gdLst/>
              <a:ahLst/>
              <a:cxnLst/>
              <a:rect r="r" b="b" t="t" l="l"/>
              <a:pathLst>
                <a:path h="415503" w="1131758">
                  <a:moveTo>
                    <a:pt x="613816" y="8367"/>
                  </a:moveTo>
                  <a:lnTo>
                    <a:pt x="1119628" y="190491"/>
                  </a:lnTo>
                  <a:cubicBezTo>
                    <a:pt x="1126906" y="193112"/>
                    <a:pt x="1131758" y="200016"/>
                    <a:pt x="1131758" y="207752"/>
                  </a:cubicBezTo>
                  <a:cubicBezTo>
                    <a:pt x="1131758" y="215487"/>
                    <a:pt x="1126906" y="222392"/>
                    <a:pt x="1119628" y="225012"/>
                  </a:cubicBezTo>
                  <a:lnTo>
                    <a:pt x="613816" y="407136"/>
                  </a:lnTo>
                  <a:cubicBezTo>
                    <a:pt x="582832" y="418293"/>
                    <a:pt x="548926" y="418293"/>
                    <a:pt x="517942" y="407136"/>
                  </a:cubicBezTo>
                  <a:lnTo>
                    <a:pt x="12130" y="225012"/>
                  </a:lnTo>
                  <a:cubicBezTo>
                    <a:pt x="4852" y="222392"/>
                    <a:pt x="0" y="215487"/>
                    <a:pt x="0" y="207752"/>
                  </a:cubicBezTo>
                  <a:cubicBezTo>
                    <a:pt x="0" y="200016"/>
                    <a:pt x="4852" y="193112"/>
                    <a:pt x="12130" y="190491"/>
                  </a:cubicBezTo>
                  <a:lnTo>
                    <a:pt x="517942" y="8367"/>
                  </a:lnTo>
                  <a:cubicBezTo>
                    <a:pt x="548926" y="-2789"/>
                    <a:pt x="582832" y="-2789"/>
                    <a:pt x="613816" y="8367"/>
                  </a:cubicBezTo>
                  <a:close/>
                </a:path>
              </a:pathLst>
            </a:custGeom>
            <a:solidFill>
              <a:srgbClr val="F7C215"/>
            </a:solidFill>
          </p:spPr>
        </p:sp>
        <p:sp>
          <p:nvSpPr>
            <p:cNvPr name="TextBox 97" id="97"/>
            <p:cNvSpPr txBox="true"/>
            <p:nvPr/>
          </p:nvSpPr>
          <p:spPr>
            <a:xfrm>
              <a:off x="283146" y="104637"/>
              <a:ext cx="637079" cy="233540"/>
            </a:xfrm>
            <a:prstGeom prst="rect">
              <a:avLst/>
            </a:prstGeom>
          </p:spPr>
          <p:txBody>
            <a:bodyPr anchor="ctr" rtlCol="false" tIns="50800" lIns="50800" bIns="50800" rIns="50800"/>
            <a:lstStyle/>
            <a:p>
              <a:pPr algn="ctr">
                <a:lnSpc>
                  <a:spcPts val="1760"/>
                </a:lnSpc>
              </a:pPr>
            </a:p>
          </p:txBody>
        </p:sp>
      </p:grpSp>
      <p:sp>
        <p:nvSpPr>
          <p:cNvPr name="TextBox 98" id="98"/>
          <p:cNvSpPr txBox="true"/>
          <p:nvPr/>
        </p:nvSpPr>
        <p:spPr>
          <a:xfrm rot="0">
            <a:off x="4318118" y="2966432"/>
            <a:ext cx="2292844" cy="373453"/>
          </a:xfrm>
          <a:prstGeom prst="rect">
            <a:avLst/>
          </a:prstGeom>
        </p:spPr>
        <p:txBody>
          <a:bodyPr anchor="t" rtlCol="false" tIns="0" lIns="0" bIns="0" rIns="0">
            <a:spAutoFit/>
          </a:bodyPr>
          <a:lstStyle/>
          <a:p>
            <a:pPr algn="ctr" marL="0" indent="0" lvl="0">
              <a:lnSpc>
                <a:spcPts val="1444"/>
              </a:lnSpc>
              <a:spcBef>
                <a:spcPct val="0"/>
              </a:spcBef>
            </a:pPr>
            <a:r>
              <a:rPr lang="en-US" b="true" sz="1313">
                <a:solidFill>
                  <a:srgbClr val="000000"/>
                </a:solidFill>
                <a:latin typeface="Space Mono Bold"/>
                <a:ea typeface="Space Mono Bold"/>
                <a:cs typeface="Space Mono Bold"/>
                <a:sym typeface="Space Mono Bold"/>
              </a:rPr>
              <a:t>VERCEL CLI DEPLOY SUCCEEDED?</a:t>
            </a:r>
          </a:p>
        </p:txBody>
      </p:sp>
      <p:sp>
        <p:nvSpPr>
          <p:cNvPr name="TextBox 99" id="99"/>
          <p:cNvSpPr txBox="true"/>
          <p:nvPr/>
        </p:nvSpPr>
        <p:spPr>
          <a:xfrm rot="0">
            <a:off x="4407270" y="4369982"/>
            <a:ext cx="2203692" cy="349037"/>
          </a:xfrm>
          <a:prstGeom prst="rect">
            <a:avLst/>
          </a:prstGeom>
        </p:spPr>
        <p:txBody>
          <a:bodyPr anchor="t" rtlCol="false" tIns="0" lIns="0" bIns="0" rIns="0">
            <a:spAutoFit/>
          </a:bodyPr>
          <a:lstStyle/>
          <a:p>
            <a:pPr algn="ctr" marL="0" indent="0" lvl="0">
              <a:lnSpc>
                <a:spcPts val="1388"/>
              </a:lnSpc>
              <a:spcBef>
                <a:spcPct val="0"/>
              </a:spcBef>
            </a:pPr>
            <a:r>
              <a:rPr lang="en-US" b="true" sz="1262">
                <a:solidFill>
                  <a:srgbClr val="000000"/>
                </a:solidFill>
                <a:latin typeface="Space Mono Bold"/>
                <a:ea typeface="Space Mono Bold"/>
                <a:cs typeface="Space Mono Bold"/>
                <a:sym typeface="Space Mono Bold"/>
              </a:rPr>
              <a:t>SUCCESS: LIVE URL RETURNED</a:t>
            </a:r>
          </a:p>
        </p:txBody>
      </p:sp>
      <p:sp>
        <p:nvSpPr>
          <p:cNvPr name="Freeform 100" id="100"/>
          <p:cNvSpPr/>
          <p:nvPr/>
        </p:nvSpPr>
        <p:spPr>
          <a:xfrm>
            <a:off x="5461881" y="1847732"/>
            <a:ext cx="40971" cy="820733"/>
          </a:xfrm>
          <a:custGeom>
            <a:avLst/>
            <a:gdLst/>
            <a:ahLst/>
            <a:cxnLst/>
            <a:rect r="r" b="b" t="t" l="l"/>
            <a:pathLst>
              <a:path h="820733" w="40971">
                <a:moveTo>
                  <a:pt x="0" y="0"/>
                </a:moveTo>
                <a:lnTo>
                  <a:pt x="0" y="389882"/>
                </a:lnTo>
                <a:cubicBezTo>
                  <a:pt x="0" y="395315"/>
                  <a:pt x="2158" y="400525"/>
                  <a:pt x="6000" y="404367"/>
                </a:cubicBezTo>
                <a:cubicBezTo>
                  <a:pt x="9842" y="408209"/>
                  <a:pt x="15052" y="410367"/>
                  <a:pt x="20486" y="410367"/>
                </a:cubicBezTo>
                <a:lnTo>
                  <a:pt x="20486" y="410367"/>
                </a:lnTo>
                <a:cubicBezTo>
                  <a:pt x="25919" y="410367"/>
                  <a:pt x="31129" y="412525"/>
                  <a:pt x="34971" y="416367"/>
                </a:cubicBezTo>
                <a:cubicBezTo>
                  <a:pt x="38812" y="420209"/>
                  <a:pt x="40971" y="425419"/>
                  <a:pt x="40971" y="430852"/>
                </a:cubicBezTo>
                <a:lnTo>
                  <a:pt x="40971" y="820734"/>
                </a:lnTo>
              </a:path>
            </a:pathLst>
          </a:custGeom>
          <a:ln cap="rnd" w="38100">
            <a:solidFill>
              <a:srgbClr val="ACB8C0"/>
            </a:solidFill>
            <a:prstDash val="solid"/>
            <a:headEnd type="none" len="sm" w="sm"/>
            <a:tailEnd type="arrow" len="sm" w="med"/>
          </a:ln>
        </p:spPr>
      </p:sp>
      <p:sp>
        <p:nvSpPr>
          <p:cNvPr name="Freeform 101" id="101"/>
          <p:cNvSpPr/>
          <p:nvPr/>
        </p:nvSpPr>
        <p:spPr>
          <a:xfrm>
            <a:off x="5502852" y="3484340"/>
            <a:ext cx="6264" cy="679925"/>
          </a:xfrm>
          <a:custGeom>
            <a:avLst/>
            <a:gdLst/>
            <a:ahLst/>
            <a:cxnLst/>
            <a:rect r="r" b="b" t="t" l="l"/>
            <a:pathLst>
              <a:path h="679925" w="6264">
                <a:moveTo>
                  <a:pt x="0" y="0"/>
                </a:moveTo>
                <a:lnTo>
                  <a:pt x="0" y="148319"/>
                </a:lnTo>
                <a:cubicBezTo>
                  <a:pt x="0" y="150049"/>
                  <a:pt x="1402" y="151451"/>
                  <a:pt x="3132" y="151451"/>
                </a:cubicBezTo>
                <a:lnTo>
                  <a:pt x="3132" y="151451"/>
                </a:lnTo>
                <a:cubicBezTo>
                  <a:pt x="4862" y="151451"/>
                  <a:pt x="6264" y="152853"/>
                  <a:pt x="6264" y="154583"/>
                </a:cubicBezTo>
                <a:lnTo>
                  <a:pt x="6264" y="679924"/>
                </a:lnTo>
              </a:path>
            </a:pathLst>
          </a:custGeom>
          <a:ln cap="rnd" w="38100">
            <a:solidFill>
              <a:srgbClr val="ACB8C0"/>
            </a:solidFill>
            <a:prstDash val="solid"/>
            <a:headEnd type="none" len="sm" w="sm"/>
            <a:tailEnd type="arrow" len="sm" w="med"/>
          </a:ln>
        </p:spPr>
      </p:sp>
      <p:grpSp>
        <p:nvGrpSpPr>
          <p:cNvPr name="Group 102" id="102"/>
          <p:cNvGrpSpPr/>
          <p:nvPr/>
        </p:nvGrpSpPr>
        <p:grpSpPr>
          <a:xfrm rot="0">
            <a:off x="1822910" y="2745810"/>
            <a:ext cx="2159815" cy="663228"/>
            <a:chOff x="0" y="0"/>
            <a:chExt cx="828589" cy="254440"/>
          </a:xfrm>
        </p:grpSpPr>
        <p:sp>
          <p:nvSpPr>
            <p:cNvPr name="Freeform 103" id="103"/>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104" id="104"/>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sp>
        <p:nvSpPr>
          <p:cNvPr name="Freeform 105" id="105"/>
          <p:cNvSpPr/>
          <p:nvPr/>
        </p:nvSpPr>
        <p:spPr>
          <a:xfrm>
            <a:off x="3982725" y="3076403"/>
            <a:ext cx="422202" cy="1022"/>
          </a:xfrm>
          <a:custGeom>
            <a:avLst/>
            <a:gdLst/>
            <a:ahLst/>
            <a:cxnLst/>
            <a:rect r="r" b="b" t="t" l="l"/>
            <a:pathLst>
              <a:path h="1022" w="422202">
                <a:moveTo>
                  <a:pt x="422202" y="0"/>
                </a:moveTo>
                <a:lnTo>
                  <a:pt x="211612" y="0"/>
                </a:lnTo>
                <a:cubicBezTo>
                  <a:pt x="211329" y="0"/>
                  <a:pt x="211101" y="228"/>
                  <a:pt x="211101" y="511"/>
                </a:cubicBezTo>
                <a:lnTo>
                  <a:pt x="211101" y="511"/>
                </a:lnTo>
                <a:cubicBezTo>
                  <a:pt x="211101" y="793"/>
                  <a:pt x="210872" y="1022"/>
                  <a:pt x="210590" y="1022"/>
                </a:cubicBezTo>
                <a:lnTo>
                  <a:pt x="0" y="1022"/>
                </a:lnTo>
              </a:path>
            </a:pathLst>
          </a:custGeom>
          <a:ln cap="rnd" w="38100">
            <a:solidFill>
              <a:srgbClr val="ACB8C0"/>
            </a:solidFill>
            <a:prstDash val="solid"/>
            <a:headEnd type="none" len="sm" w="sm"/>
            <a:tailEnd type="arrow" len="sm" w="med"/>
          </a:ln>
        </p:spPr>
      </p:sp>
      <p:sp>
        <p:nvSpPr>
          <p:cNvPr name="TextBox 106" id="106"/>
          <p:cNvSpPr txBox="true"/>
          <p:nvPr/>
        </p:nvSpPr>
        <p:spPr>
          <a:xfrm rot="0">
            <a:off x="1756395" y="2966432"/>
            <a:ext cx="2292844" cy="373453"/>
          </a:xfrm>
          <a:prstGeom prst="rect">
            <a:avLst/>
          </a:prstGeom>
        </p:spPr>
        <p:txBody>
          <a:bodyPr anchor="t" rtlCol="false" tIns="0" lIns="0" bIns="0" rIns="0">
            <a:spAutoFit/>
          </a:bodyPr>
          <a:lstStyle/>
          <a:p>
            <a:pPr algn="ctr" marL="0" indent="0" lvl="0">
              <a:lnSpc>
                <a:spcPts val="1444"/>
              </a:lnSpc>
              <a:spcBef>
                <a:spcPct val="0"/>
              </a:spcBef>
            </a:pPr>
            <a:r>
              <a:rPr lang="en-US" b="true" sz="1313">
                <a:solidFill>
                  <a:srgbClr val="000000"/>
                </a:solidFill>
                <a:latin typeface="Space Mono Bold"/>
                <a:ea typeface="Space Mono Bold"/>
                <a:cs typeface="Space Mono Bold"/>
                <a:sym typeface="Space Mono Bold"/>
              </a:rPr>
              <a:t>DEPLOYMENT FAILED, EXIT</a:t>
            </a:r>
          </a:p>
        </p:txBody>
      </p:sp>
      <p:grpSp>
        <p:nvGrpSpPr>
          <p:cNvPr name="Group 107" id="107"/>
          <p:cNvGrpSpPr/>
          <p:nvPr/>
        </p:nvGrpSpPr>
        <p:grpSpPr>
          <a:xfrm rot="0">
            <a:off x="1120818" y="6182181"/>
            <a:ext cx="1950831" cy="467370"/>
            <a:chOff x="0" y="0"/>
            <a:chExt cx="1607439" cy="384951"/>
          </a:xfrm>
        </p:grpSpPr>
        <p:sp>
          <p:nvSpPr>
            <p:cNvPr name="Freeform 108" id="108"/>
            <p:cNvSpPr/>
            <p:nvPr/>
          </p:nvSpPr>
          <p:spPr>
            <a:xfrm flipH="false" flipV="false" rot="0">
              <a:off x="13116" y="0"/>
              <a:ext cx="1581207" cy="384340"/>
            </a:xfrm>
            <a:custGeom>
              <a:avLst/>
              <a:gdLst/>
              <a:ahLst/>
              <a:cxnLst/>
              <a:rect r="r" b="b" t="t" l="l"/>
              <a:pathLst>
                <a:path h="384340" w="1581207">
                  <a:moveTo>
                    <a:pt x="1061859" y="11591"/>
                  </a:moveTo>
                  <a:lnTo>
                    <a:pt x="1083971" y="13554"/>
                  </a:lnTo>
                  <a:cubicBezTo>
                    <a:pt x="1156243" y="19968"/>
                    <a:pt x="1228100" y="30413"/>
                    <a:pt x="1299207" y="44840"/>
                  </a:cubicBezTo>
                  <a:lnTo>
                    <a:pt x="1331178" y="51326"/>
                  </a:lnTo>
                  <a:cubicBezTo>
                    <a:pt x="1380905" y="61415"/>
                    <a:pt x="1429508" y="76408"/>
                    <a:pt x="1476277" y="96085"/>
                  </a:cubicBezTo>
                  <a:lnTo>
                    <a:pt x="1508881" y="109803"/>
                  </a:lnTo>
                  <a:cubicBezTo>
                    <a:pt x="1533547" y="120180"/>
                    <a:pt x="1554860" y="137181"/>
                    <a:pt x="1570463" y="158922"/>
                  </a:cubicBezTo>
                  <a:lnTo>
                    <a:pt x="1570463" y="158922"/>
                  </a:lnTo>
                  <a:cubicBezTo>
                    <a:pt x="1584736" y="178811"/>
                    <a:pt x="1584793" y="205571"/>
                    <a:pt x="1570606" y="225521"/>
                  </a:cubicBezTo>
                  <a:lnTo>
                    <a:pt x="1570463" y="225724"/>
                  </a:lnTo>
                  <a:cubicBezTo>
                    <a:pt x="1554869" y="247652"/>
                    <a:pt x="1533433" y="264761"/>
                    <a:pt x="1508593" y="275104"/>
                  </a:cubicBezTo>
                  <a:lnTo>
                    <a:pt x="1476277" y="288560"/>
                  </a:lnTo>
                  <a:cubicBezTo>
                    <a:pt x="1429504" y="308036"/>
                    <a:pt x="1380948" y="322916"/>
                    <a:pt x="1331294" y="332991"/>
                  </a:cubicBezTo>
                  <a:lnTo>
                    <a:pt x="1299207" y="339501"/>
                  </a:lnTo>
                  <a:cubicBezTo>
                    <a:pt x="1228100" y="353928"/>
                    <a:pt x="1156243" y="364373"/>
                    <a:pt x="1083971" y="370787"/>
                  </a:cubicBezTo>
                  <a:lnTo>
                    <a:pt x="1061859" y="372749"/>
                  </a:lnTo>
                  <a:cubicBezTo>
                    <a:pt x="974832" y="380473"/>
                    <a:pt x="887506" y="384340"/>
                    <a:pt x="800137" y="384340"/>
                  </a:cubicBezTo>
                  <a:lnTo>
                    <a:pt x="781070" y="384340"/>
                  </a:lnTo>
                  <a:cubicBezTo>
                    <a:pt x="693701" y="384340"/>
                    <a:pt x="606375" y="380473"/>
                    <a:pt x="519348" y="372749"/>
                  </a:cubicBezTo>
                  <a:lnTo>
                    <a:pt x="497236" y="370787"/>
                  </a:lnTo>
                  <a:cubicBezTo>
                    <a:pt x="424964" y="364373"/>
                    <a:pt x="353107" y="353928"/>
                    <a:pt x="282000" y="339501"/>
                  </a:cubicBezTo>
                  <a:lnTo>
                    <a:pt x="249913" y="332991"/>
                  </a:lnTo>
                  <a:cubicBezTo>
                    <a:pt x="200259" y="322916"/>
                    <a:pt x="151703" y="308036"/>
                    <a:pt x="104930" y="288560"/>
                  </a:cubicBezTo>
                  <a:lnTo>
                    <a:pt x="72614" y="275104"/>
                  </a:lnTo>
                  <a:cubicBezTo>
                    <a:pt x="47774" y="264761"/>
                    <a:pt x="26338" y="247652"/>
                    <a:pt x="10744" y="225724"/>
                  </a:cubicBezTo>
                  <a:lnTo>
                    <a:pt x="10601" y="225521"/>
                  </a:lnTo>
                  <a:cubicBezTo>
                    <a:pt x="-3586" y="205571"/>
                    <a:pt x="-3529" y="178811"/>
                    <a:pt x="10744" y="158922"/>
                  </a:cubicBezTo>
                  <a:lnTo>
                    <a:pt x="10744" y="158922"/>
                  </a:lnTo>
                  <a:cubicBezTo>
                    <a:pt x="26347" y="137181"/>
                    <a:pt x="47660" y="120180"/>
                    <a:pt x="72326" y="109803"/>
                  </a:cubicBezTo>
                  <a:lnTo>
                    <a:pt x="104930" y="96085"/>
                  </a:lnTo>
                  <a:cubicBezTo>
                    <a:pt x="151699" y="76408"/>
                    <a:pt x="200302" y="61415"/>
                    <a:pt x="250029" y="51326"/>
                  </a:cubicBezTo>
                  <a:lnTo>
                    <a:pt x="282000" y="44840"/>
                  </a:lnTo>
                  <a:cubicBezTo>
                    <a:pt x="353107" y="30413"/>
                    <a:pt x="424964" y="19968"/>
                    <a:pt x="497236" y="13554"/>
                  </a:cubicBezTo>
                  <a:lnTo>
                    <a:pt x="519348" y="11591"/>
                  </a:lnTo>
                  <a:cubicBezTo>
                    <a:pt x="606375" y="3868"/>
                    <a:pt x="693701" y="0"/>
                    <a:pt x="781070" y="0"/>
                  </a:cubicBezTo>
                  <a:lnTo>
                    <a:pt x="800137" y="0"/>
                  </a:lnTo>
                  <a:cubicBezTo>
                    <a:pt x="887506" y="0"/>
                    <a:pt x="974832" y="3868"/>
                    <a:pt x="1061859" y="11591"/>
                  </a:cubicBezTo>
                  <a:close/>
                </a:path>
              </a:pathLst>
            </a:custGeom>
            <a:solidFill>
              <a:srgbClr val="F7C215"/>
            </a:solidFill>
          </p:spPr>
        </p:sp>
        <p:sp>
          <p:nvSpPr>
            <p:cNvPr name="TextBox 109" id="109"/>
            <p:cNvSpPr txBox="true"/>
            <p:nvPr/>
          </p:nvSpPr>
          <p:spPr>
            <a:xfrm>
              <a:off x="241554" y="65232"/>
              <a:ext cx="1124331" cy="263479"/>
            </a:xfrm>
            <a:prstGeom prst="rect">
              <a:avLst/>
            </a:prstGeom>
          </p:spPr>
          <p:txBody>
            <a:bodyPr anchor="ctr" rtlCol="false" tIns="50800" lIns="50800" bIns="50800" rIns="50800"/>
            <a:lstStyle/>
            <a:p>
              <a:pPr algn="ctr">
                <a:lnSpc>
                  <a:spcPts val="1760"/>
                </a:lnSpc>
              </a:pPr>
            </a:p>
          </p:txBody>
        </p:sp>
      </p:grpSp>
      <p:sp>
        <p:nvSpPr>
          <p:cNvPr name="TextBox 110" id="110"/>
          <p:cNvSpPr txBox="true"/>
          <p:nvPr/>
        </p:nvSpPr>
        <p:spPr>
          <a:xfrm rot="0">
            <a:off x="149149" y="6281313"/>
            <a:ext cx="4102229" cy="233639"/>
          </a:xfrm>
          <a:prstGeom prst="rect">
            <a:avLst/>
          </a:prstGeom>
        </p:spPr>
        <p:txBody>
          <a:bodyPr anchor="t" rtlCol="false" tIns="0" lIns="0" bIns="0" rIns="0">
            <a:spAutoFit/>
          </a:bodyPr>
          <a:lstStyle/>
          <a:p>
            <a:pPr algn="ctr" marL="0" indent="0" lvl="0">
              <a:lnSpc>
                <a:spcPts val="1757"/>
              </a:lnSpc>
              <a:spcBef>
                <a:spcPct val="0"/>
              </a:spcBef>
            </a:pPr>
            <a:r>
              <a:rPr lang="en-US" b="true" sz="1597">
                <a:solidFill>
                  <a:srgbClr val="000000"/>
                </a:solidFill>
                <a:latin typeface="Space Mono Bold"/>
                <a:ea typeface="Space Mono Bold"/>
                <a:cs typeface="Space Mono Bold"/>
                <a:sym typeface="Space Mono Bold"/>
              </a:rPr>
              <a:t>END</a:t>
            </a:r>
          </a:p>
        </p:txBody>
      </p:sp>
      <p:sp>
        <p:nvSpPr>
          <p:cNvPr name="Freeform 111" id="111"/>
          <p:cNvSpPr/>
          <p:nvPr/>
        </p:nvSpPr>
        <p:spPr>
          <a:xfrm>
            <a:off x="2096233" y="4806148"/>
            <a:ext cx="3256537" cy="1376125"/>
          </a:xfrm>
          <a:custGeom>
            <a:avLst/>
            <a:gdLst/>
            <a:ahLst/>
            <a:cxnLst/>
            <a:rect r="r" b="b" t="t" l="l"/>
            <a:pathLst>
              <a:path h="1376125" w="3256537">
                <a:moveTo>
                  <a:pt x="3256537" y="0"/>
                </a:moveTo>
                <a:lnTo>
                  <a:pt x="3256537" y="569045"/>
                </a:lnTo>
                <a:cubicBezTo>
                  <a:pt x="3256537" y="679516"/>
                  <a:pt x="3166983" y="769070"/>
                  <a:pt x="3056512" y="769070"/>
                </a:cubicBezTo>
                <a:lnTo>
                  <a:pt x="200025" y="769070"/>
                </a:lnTo>
                <a:cubicBezTo>
                  <a:pt x="89555" y="769070"/>
                  <a:pt x="0" y="858624"/>
                  <a:pt x="0" y="969095"/>
                </a:cubicBezTo>
                <a:lnTo>
                  <a:pt x="0" y="1376125"/>
                </a:lnTo>
              </a:path>
            </a:pathLst>
          </a:custGeom>
          <a:ln cap="rnd" w="38100">
            <a:solidFill>
              <a:srgbClr val="ACB8C0"/>
            </a:solidFill>
            <a:prstDash val="solid"/>
            <a:headEnd type="none" len="sm" w="sm"/>
            <a:tailEnd type="arrow" len="sm" w="med"/>
          </a:ln>
        </p:spPr>
      </p:sp>
      <p:grpSp>
        <p:nvGrpSpPr>
          <p:cNvPr name="Group 112" id="112"/>
          <p:cNvGrpSpPr/>
          <p:nvPr/>
        </p:nvGrpSpPr>
        <p:grpSpPr>
          <a:xfrm rot="0">
            <a:off x="11235849" y="8927255"/>
            <a:ext cx="2159815" cy="663228"/>
            <a:chOff x="0" y="0"/>
            <a:chExt cx="828589" cy="254440"/>
          </a:xfrm>
        </p:grpSpPr>
        <p:sp>
          <p:nvSpPr>
            <p:cNvPr name="Freeform 113" id="113"/>
            <p:cNvSpPr/>
            <p:nvPr/>
          </p:nvSpPr>
          <p:spPr>
            <a:xfrm flipH="false" flipV="false" rot="0">
              <a:off x="0" y="0"/>
              <a:ext cx="828589" cy="254440"/>
            </a:xfrm>
            <a:custGeom>
              <a:avLst/>
              <a:gdLst/>
              <a:ahLst/>
              <a:cxnLst/>
              <a:rect r="r" b="b" t="t" l="l"/>
              <a:pathLst>
                <a:path h="254440" w="828589">
                  <a:moveTo>
                    <a:pt x="70010" y="0"/>
                  </a:moveTo>
                  <a:lnTo>
                    <a:pt x="758579" y="0"/>
                  </a:lnTo>
                  <a:cubicBezTo>
                    <a:pt x="797245" y="0"/>
                    <a:pt x="828589" y="31345"/>
                    <a:pt x="828589" y="70010"/>
                  </a:cubicBezTo>
                  <a:lnTo>
                    <a:pt x="828589" y="184430"/>
                  </a:lnTo>
                  <a:cubicBezTo>
                    <a:pt x="828589" y="202998"/>
                    <a:pt x="821213" y="220805"/>
                    <a:pt x="808084" y="233935"/>
                  </a:cubicBezTo>
                  <a:cubicBezTo>
                    <a:pt x="794954" y="247064"/>
                    <a:pt x="777147" y="254440"/>
                    <a:pt x="758579" y="254440"/>
                  </a:cubicBezTo>
                  <a:lnTo>
                    <a:pt x="70010" y="254440"/>
                  </a:lnTo>
                  <a:cubicBezTo>
                    <a:pt x="51442" y="254440"/>
                    <a:pt x="33635" y="247064"/>
                    <a:pt x="20506" y="233935"/>
                  </a:cubicBezTo>
                  <a:cubicBezTo>
                    <a:pt x="7376" y="220805"/>
                    <a:pt x="0" y="202998"/>
                    <a:pt x="0" y="184430"/>
                  </a:cubicBezTo>
                  <a:lnTo>
                    <a:pt x="0" y="70010"/>
                  </a:lnTo>
                  <a:cubicBezTo>
                    <a:pt x="0" y="51442"/>
                    <a:pt x="7376" y="33635"/>
                    <a:pt x="20506" y="20506"/>
                  </a:cubicBezTo>
                  <a:cubicBezTo>
                    <a:pt x="33635" y="7376"/>
                    <a:pt x="51442" y="0"/>
                    <a:pt x="70010" y="0"/>
                  </a:cubicBezTo>
                  <a:close/>
                </a:path>
              </a:pathLst>
            </a:custGeom>
            <a:solidFill>
              <a:srgbClr val="F7C215"/>
            </a:solidFill>
          </p:spPr>
        </p:sp>
        <p:sp>
          <p:nvSpPr>
            <p:cNvPr name="TextBox 114" id="114"/>
            <p:cNvSpPr txBox="true"/>
            <p:nvPr/>
          </p:nvSpPr>
          <p:spPr>
            <a:xfrm>
              <a:off x="0" y="9525"/>
              <a:ext cx="828589" cy="244915"/>
            </a:xfrm>
            <a:prstGeom prst="rect">
              <a:avLst/>
            </a:prstGeom>
          </p:spPr>
          <p:txBody>
            <a:bodyPr anchor="ctr" rtlCol="false" tIns="50800" lIns="50800" bIns="50800" rIns="50800"/>
            <a:lstStyle/>
            <a:p>
              <a:pPr algn="ctr">
                <a:lnSpc>
                  <a:spcPts val="1760"/>
                </a:lnSpc>
              </a:pPr>
            </a:p>
          </p:txBody>
        </p:sp>
      </p:grpSp>
      <p:sp>
        <p:nvSpPr>
          <p:cNvPr name="TextBox 115" id="115"/>
          <p:cNvSpPr txBox="true"/>
          <p:nvPr/>
        </p:nvSpPr>
        <p:spPr>
          <a:xfrm rot="0">
            <a:off x="11169334" y="9066505"/>
            <a:ext cx="2292844" cy="556604"/>
          </a:xfrm>
          <a:prstGeom prst="rect">
            <a:avLst/>
          </a:prstGeom>
        </p:spPr>
        <p:txBody>
          <a:bodyPr anchor="t" rtlCol="false" tIns="0" lIns="0" bIns="0" rIns="0">
            <a:spAutoFit/>
          </a:bodyPr>
          <a:lstStyle/>
          <a:p>
            <a:pPr algn="ctr">
              <a:lnSpc>
                <a:spcPts val="1444"/>
              </a:lnSpc>
            </a:pPr>
            <a:r>
              <a:rPr lang="en-US" b="true" sz="1313">
                <a:solidFill>
                  <a:srgbClr val="000000"/>
                </a:solidFill>
                <a:latin typeface="Space Mono Bold"/>
                <a:ea typeface="Space Mono Bold"/>
                <a:cs typeface="Space Mono Bold"/>
                <a:sym typeface="Space Mono Bold"/>
              </a:rPr>
              <a:t> GITLEAKS PRE-PUSH  CHECK</a:t>
            </a:r>
          </a:p>
          <a:p>
            <a:pPr algn="ctr" marL="0" indent="0" lvl="0">
              <a:lnSpc>
                <a:spcPts val="1444"/>
              </a:lnSpc>
              <a:spcBef>
                <a:spcPct val="0"/>
              </a:spcBef>
            </a:pPr>
          </a:p>
        </p:txBody>
      </p:sp>
      <p:sp>
        <p:nvSpPr>
          <p:cNvPr name="Freeform 116" id="116"/>
          <p:cNvSpPr/>
          <p:nvPr/>
        </p:nvSpPr>
        <p:spPr>
          <a:xfrm>
            <a:off x="12226605" y="8260505"/>
            <a:ext cx="89151" cy="666750"/>
          </a:xfrm>
          <a:custGeom>
            <a:avLst/>
            <a:gdLst/>
            <a:ahLst/>
            <a:cxnLst/>
            <a:rect r="r" b="b" t="t" l="l"/>
            <a:pathLst>
              <a:path h="666750" w="89151">
                <a:moveTo>
                  <a:pt x="0" y="0"/>
                </a:moveTo>
                <a:lnTo>
                  <a:pt x="0" y="288800"/>
                </a:lnTo>
                <a:cubicBezTo>
                  <a:pt x="0" y="313418"/>
                  <a:pt x="19957" y="333375"/>
                  <a:pt x="44575" y="333375"/>
                </a:cubicBezTo>
                <a:lnTo>
                  <a:pt x="44575" y="333375"/>
                </a:lnTo>
                <a:cubicBezTo>
                  <a:pt x="69194" y="333375"/>
                  <a:pt x="89151" y="353332"/>
                  <a:pt x="89151" y="377951"/>
                </a:cubicBezTo>
                <a:lnTo>
                  <a:pt x="89151" y="666750"/>
                </a:lnTo>
              </a:path>
            </a:pathLst>
          </a:custGeom>
          <a:ln cap="rnd" w="38100">
            <a:solidFill>
              <a:srgbClr val="ACB8C0"/>
            </a:solidFill>
            <a:prstDash val="solid"/>
            <a:headEnd type="none" len="sm" w="sm"/>
            <a:tailEnd type="arrow" len="sm" w="med"/>
          </a:ln>
        </p:spPr>
      </p:sp>
      <p:sp>
        <p:nvSpPr>
          <p:cNvPr name="Freeform 117" id="117"/>
          <p:cNvSpPr/>
          <p:nvPr/>
        </p:nvSpPr>
        <p:spPr>
          <a:xfrm>
            <a:off x="7657996" y="7424707"/>
            <a:ext cx="1023805" cy="84218"/>
          </a:xfrm>
          <a:custGeom>
            <a:avLst/>
            <a:gdLst/>
            <a:ahLst/>
            <a:cxnLst/>
            <a:rect r="r" b="b" t="t" l="l"/>
            <a:pathLst>
              <a:path h="84218" w="1023805">
                <a:moveTo>
                  <a:pt x="1023805" y="0"/>
                </a:moveTo>
                <a:lnTo>
                  <a:pt x="42109" y="0"/>
                </a:lnTo>
                <a:cubicBezTo>
                  <a:pt x="18853" y="0"/>
                  <a:pt x="0" y="18853"/>
                  <a:pt x="0" y="42109"/>
                </a:cubicBezTo>
                <a:lnTo>
                  <a:pt x="0" y="84218"/>
                </a:lnTo>
              </a:path>
            </a:pathLst>
          </a:custGeom>
          <a:ln cap="rnd" w="38100">
            <a:solidFill>
              <a:srgbClr val="ACB8C0"/>
            </a:solidFill>
            <a:prstDash val="solid"/>
            <a:headEnd type="none" len="sm" w="sm"/>
            <a:tailEnd type="arrow" len="sm" w="med"/>
          </a:ln>
        </p:spPr>
      </p:sp>
      <p:sp>
        <p:nvSpPr>
          <p:cNvPr name="Freeform 118" id="118"/>
          <p:cNvSpPr/>
          <p:nvPr/>
        </p:nvSpPr>
        <p:spPr>
          <a:xfrm>
            <a:off x="10537510" y="7424707"/>
            <a:ext cx="698339" cy="1834162"/>
          </a:xfrm>
          <a:custGeom>
            <a:avLst/>
            <a:gdLst/>
            <a:ahLst/>
            <a:cxnLst/>
            <a:rect r="r" b="b" t="t" l="l"/>
            <a:pathLst>
              <a:path h="1834162" w="698339">
                <a:moveTo>
                  <a:pt x="698339" y="1834163"/>
                </a:moveTo>
                <a:lnTo>
                  <a:pt x="228600" y="1834163"/>
                </a:lnTo>
                <a:cubicBezTo>
                  <a:pt x="102348" y="1834163"/>
                  <a:pt x="0" y="1731815"/>
                  <a:pt x="0" y="1605563"/>
                </a:cubicBezTo>
                <a:lnTo>
                  <a:pt x="0" y="0"/>
                </a:lnTo>
              </a:path>
            </a:pathLst>
          </a:custGeom>
          <a:ln cap="rnd" w="38100">
            <a:solidFill>
              <a:srgbClr val="ACB8C0"/>
            </a:solidFill>
            <a:prstDash val="solid"/>
            <a:headEnd type="none" len="sm" w="sm"/>
            <a:tailEnd type="arrow" len="sm" w="med"/>
          </a:ln>
        </p:spPr>
      </p:sp>
      <p:sp>
        <p:nvSpPr>
          <p:cNvPr name="Freeform 119" id="119"/>
          <p:cNvSpPr/>
          <p:nvPr/>
        </p:nvSpPr>
        <p:spPr>
          <a:xfrm>
            <a:off x="5461881" y="1842042"/>
            <a:ext cx="4147774" cy="5200015"/>
          </a:xfrm>
          <a:custGeom>
            <a:avLst/>
            <a:gdLst/>
            <a:ahLst/>
            <a:cxnLst/>
            <a:rect r="r" b="b" t="t" l="l"/>
            <a:pathLst>
              <a:path h="5200015" w="4147774">
                <a:moveTo>
                  <a:pt x="4147774" y="5200015"/>
                </a:moveTo>
                <a:lnTo>
                  <a:pt x="4147774" y="2828607"/>
                </a:lnTo>
                <a:cubicBezTo>
                  <a:pt x="4147774" y="2767979"/>
                  <a:pt x="4123690" y="2709834"/>
                  <a:pt x="4080819" y="2666963"/>
                </a:cubicBezTo>
                <a:cubicBezTo>
                  <a:pt x="4037948" y="2624092"/>
                  <a:pt x="3979803" y="2600007"/>
                  <a:pt x="3919174" y="2600007"/>
                </a:cubicBezTo>
                <a:lnTo>
                  <a:pt x="228600" y="2600007"/>
                </a:lnTo>
                <a:cubicBezTo>
                  <a:pt x="102348" y="2600007"/>
                  <a:pt x="0" y="2497660"/>
                  <a:pt x="0" y="2371407"/>
                </a:cubicBezTo>
                <a:lnTo>
                  <a:pt x="0" y="0"/>
                </a:lnTo>
              </a:path>
            </a:pathLst>
          </a:custGeom>
          <a:ln cap="rnd" w="38100">
            <a:solidFill>
              <a:srgbClr val="ACB8C0"/>
            </a:solidFill>
            <a:prstDash val="solid"/>
            <a:headEnd type="none" len="sm" w="sm"/>
            <a:tailEnd type="arrow" len="sm" w="med"/>
          </a:ln>
        </p:spPr>
      </p:sp>
      <p:sp>
        <p:nvSpPr>
          <p:cNvPr name="Freeform 120" id="120"/>
          <p:cNvSpPr/>
          <p:nvPr/>
        </p:nvSpPr>
        <p:spPr>
          <a:xfrm>
            <a:off x="12191127" y="583168"/>
            <a:ext cx="4964872" cy="2140146"/>
          </a:xfrm>
          <a:custGeom>
            <a:avLst/>
            <a:gdLst/>
            <a:ahLst/>
            <a:cxnLst/>
            <a:rect r="r" b="b" t="t" l="l"/>
            <a:pathLst>
              <a:path h="2140146" w="4964872">
                <a:moveTo>
                  <a:pt x="4964872" y="2140146"/>
                </a:moveTo>
                <a:lnTo>
                  <a:pt x="4964872" y="228600"/>
                </a:lnTo>
                <a:cubicBezTo>
                  <a:pt x="4964872" y="102347"/>
                  <a:pt x="4862525" y="0"/>
                  <a:pt x="4736272" y="0"/>
                </a:cubicBezTo>
                <a:lnTo>
                  <a:pt x="228600" y="0"/>
                </a:lnTo>
                <a:cubicBezTo>
                  <a:pt x="167971" y="0"/>
                  <a:pt x="109826" y="24084"/>
                  <a:pt x="66956" y="66955"/>
                </a:cubicBezTo>
                <a:cubicBezTo>
                  <a:pt x="24085" y="109826"/>
                  <a:pt x="0" y="167971"/>
                  <a:pt x="0" y="228600"/>
                </a:cubicBezTo>
                <a:lnTo>
                  <a:pt x="0" y="1139354"/>
                </a:lnTo>
              </a:path>
            </a:pathLst>
          </a:custGeom>
          <a:ln cap="rnd" w="38100">
            <a:solidFill>
              <a:srgbClr val="ACB8C0"/>
            </a:solidFill>
            <a:prstDash val="solid"/>
            <a:headEnd type="none" len="sm" w="sm"/>
            <a:tailEnd type="arrow" len="sm" w="med"/>
          </a:ln>
        </p:spPr>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DAHT3RB2mQk</dc:identifier>
  <dcterms:modified xsi:type="dcterms:W3CDTF">2011-08-01T06:04:30Z</dcterms:modified>
  <cp:revision>1</cp:revision>
  <dc:title>GROUP PROJECT</dc:title>
</cp:coreProperties>
</file>